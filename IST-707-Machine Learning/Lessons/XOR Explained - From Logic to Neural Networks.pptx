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sv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sv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sv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sv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sv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1165399"/>
            <a:ext cx="228600" cy="13841"/>
          </a:xfrm>
          <a:prstGeom prst="roundRect">
            <a:avLst>
              <a:gd name="adj" fmla="val 100932"/>
            </a:avLst>
          </a:prstGeom>
          <a:solidFill>
            <a:srgbClr val="58A6FF">
              <a:alpha val="4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940647"/>
            <a:ext cx="43160" cy="43160"/>
          </a:xfrm>
          <a:prstGeom prst="ellipse">
            <a:avLst/>
          </a:prstGeom>
          <a:solidFill>
            <a:srgbClr val="58A6FF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58A6FF">
                  <a:alpha val="1000"/>
                </a:srgbClr>
              </a:gs>
              <a:gs pos="100000">
                <a:srgbClr val="58A6FF">
                  <a:alpha val="100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0" y="428625"/>
            <a:ext cx="4143970" cy="4286250"/>
          </a:xfrm>
          <a:prstGeom prst="rect">
            <a:avLst/>
          </a:prstGeom>
          <a:gradFill rotWithShape="1">
            <a:gsLst>
              <a:gs pos="0">
                <a:srgbClr val="58A6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285780" y="857250"/>
            <a:ext cx="3429000" cy="3429000"/>
          </a:xfrm>
          <a:prstGeom prst="rect">
            <a:avLst/>
          </a:prstGeom>
          <a:gradFill rotWithShape="1">
            <a:gsLst>
              <a:gs pos="0">
                <a:srgbClr val="58A6FF">
                  <a:alpha val="12000"/>
                </a:srgbClr>
              </a:gs>
              <a:gs pos="68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13941" y="1102816"/>
            <a:ext cx="344005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46" kern="0" dirty="0">
                <a:solidFill>
                  <a:srgbClr val="58A6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LOGIC · NEURAL NETWORKS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514350" y="1385292"/>
            <a:ext cx="4975702" cy="1198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4"/>
              </a:lnSpc>
              <a:spcAft>
                <a:spcPts val="340"/>
              </a:spcAft>
              <a:buNone/>
            </a:pPr>
            <a:r>
              <a:rPr lang="en-US" sz="4280" b="1" spc="-86" kern="0" dirty="0">
                <a:gradFill rotWithShape="1">
                  <a:gsLst>
                    <a:gs pos="0">
                      <a:srgbClr val="79C0FF"/>
                    </a:gs>
                    <a:gs pos="50000">
                      <a:srgbClr val="58A6FF"/>
                    </a:gs>
                    <a:gs pos="100000">
                      <a:srgbClr val="388BFD"/>
                    </a:gs>
                  </a:gsLst>
                  <a:lin ang="2700000" scaled="1"/>
                </a:gradFill>
                <a:effectLst>
                  <a:glow rad="1428750">
                    <a:srgbClr val="58A6FF">
                      <a:alpha val="54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Understanding</a:t>
            </a:r>
            <a:br/>
            <a:pPr algn="l" indent="0" marL="0">
              <a:lnSpc>
                <a:spcPts val="4494"/>
              </a:lnSpc>
              <a:spcAft>
                <a:spcPts val="340"/>
              </a:spcAft>
              <a:buNone/>
            </a:pPr>
            <a:r>
              <a:rPr lang="en-US" sz="4280" spc="-86" kern="0" dirty="0">
                <a:solidFill>
                  <a:srgbClr val="58A6FF"/>
                </a:solidFill>
                <a:effectLst>
                  <a:glow rad="1428750">
                    <a:srgbClr val="58A6FF">
                      <a:alpha val="54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pPr algn="l" indent="0" marL="0">
              <a:lnSpc>
                <a:spcPts val="4494"/>
              </a:lnSpc>
              <a:spcAft>
                <a:spcPts val="340"/>
              </a:spcAft>
              <a:buNone/>
            </a:pPr>
            <a:r>
              <a:rPr lang="en-US" sz="4280" b="1" spc="-86" kern="0" dirty="0">
                <a:gradFill rotWithShape="1">
                  <a:gsLst>
                    <a:gs pos="0">
                      <a:srgbClr val="79C0FF"/>
                    </a:gs>
                    <a:gs pos="50000">
                      <a:srgbClr val="58A6FF"/>
                    </a:gs>
                    <a:gs pos="100000">
                      <a:srgbClr val="388BFD"/>
                    </a:gs>
                  </a:gsLst>
                  <a:lin ang="2700000" scaled="1"/>
                </a:gradFill>
                <a:effectLst>
                  <a:glow rad="1428750">
                    <a:srgbClr val="58A6FF">
                      <a:alpha val="54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XOR</a:t>
            </a:r>
            <a:endParaRPr lang="en-US" sz="4280" dirty="0"/>
          </a:p>
        </p:txBody>
      </p:sp>
      <p:sp>
        <p:nvSpPr>
          <p:cNvPr id="10" name="Text 7"/>
          <p:cNvSpPr/>
          <p:nvPr/>
        </p:nvSpPr>
        <p:spPr>
          <a:xfrm>
            <a:off x="514350" y="2770287"/>
            <a:ext cx="5715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14350" y="3135957"/>
            <a:ext cx="3789045" cy="479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8"/>
              </a:lnSpc>
              <a:spcBef>
                <a:spcPts val="1130"/>
              </a:spcBef>
              <a:buNone/>
            </a:pPr>
            <a:r>
              <a:rPr lang="en-US" sz="124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</a:t>
            </a:r>
            <a:pPr algn="l" indent="0" marL="0">
              <a:lnSpc>
                <a:spcPts val="1798"/>
              </a:lnSpc>
              <a:spcBef>
                <a:spcPts val="1130"/>
              </a:spcBef>
              <a:buNone/>
            </a:pPr>
            <a:r>
              <a:rPr lang="en-US" sz="124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Logic Gates</a:t>
            </a:r>
            <a:pPr algn="l" indent="0" marL="0">
              <a:lnSpc>
                <a:spcPts val="1798"/>
              </a:lnSpc>
              <a:spcBef>
                <a:spcPts val="1130"/>
              </a:spcBef>
              <a:buNone/>
            </a:pPr>
            <a:r>
              <a:rPr lang="en-US" sz="124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to </a:t>
            </a:r>
            <a:pPr algn="l" indent="0" marL="0">
              <a:lnSpc>
                <a:spcPts val="1798"/>
              </a:lnSpc>
              <a:spcBef>
                <a:spcPts val="1130"/>
              </a:spcBef>
              <a:buNone/>
            </a:pPr>
            <a:r>
              <a:rPr lang="en-US" sz="124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Neural Networks</a:t>
            </a:r>
            <a:pPr algn="l" indent="0" marL="0">
              <a:lnSpc>
                <a:spcPts val="1798"/>
              </a:lnSpc>
              <a:spcBef>
                <a:spcPts val="1130"/>
              </a:spcBef>
              <a:buNone/>
            </a:pPr>
            <a:r>
              <a:rPr lang="en-US" sz="124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</a:t>
            </a:r>
            <a:br/>
            <a:pPr algn="l" indent="0" marL="0">
              <a:lnSpc>
                <a:spcPts val="1798"/>
              </a:lnSpc>
              <a:spcBef>
                <a:spcPts val="1130"/>
              </a:spcBef>
              <a:buNone/>
            </a:pPr>
            <a:r>
              <a:rPr lang="en-US" sz="124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 Visual Deep Dive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514350" y="3821162"/>
            <a:ext cx="902047" cy="241310"/>
          </a:xfrm>
          <a:prstGeom prst="roundRect">
            <a:avLst>
              <a:gd name="adj" fmla="val 2957246"/>
            </a:avLst>
          </a:prstGeom>
          <a:solidFill>
            <a:srgbClr val="58A6FF">
              <a:alpha val="6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A6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1487388" y="3821162"/>
            <a:ext cx="970657" cy="241310"/>
          </a:xfrm>
          <a:prstGeom prst="roundRect">
            <a:avLst>
              <a:gd name="adj" fmla="val 2957246"/>
            </a:avLst>
          </a:prstGeom>
          <a:solidFill>
            <a:srgbClr val="58A6FF">
              <a:alpha val="6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A6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PERCEPTRONS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2529036" y="3821162"/>
            <a:ext cx="1039118" cy="241310"/>
          </a:xfrm>
          <a:prstGeom prst="roundRect">
            <a:avLst>
              <a:gd name="adj" fmla="val 2957246"/>
            </a:avLst>
          </a:prstGeom>
          <a:solidFill>
            <a:srgbClr val="58A6FF">
              <a:alpha val="6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8A6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5849689" y="457200"/>
            <a:ext cx="7590" cy="4229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58A6FF">
                  <a:alpha val="18000"/>
                </a:srgbClr>
              </a:gs>
              <a:gs pos="70000">
                <a:srgbClr val="58A6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857702" y="1698724"/>
            <a:ext cx="113206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31" kern="0" dirty="0">
                <a:solidFill>
                  <a:srgbClr val="58A6FF">
                    <a:alpha val="5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XOR LOGIC GATE</a:t>
            </a:r>
            <a:endParaRPr lang="en-US" sz="73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9264" y="1981200"/>
            <a:ext cx="1285875" cy="107156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54948" y="3225403"/>
            <a:ext cx="711509" cy="219373"/>
          </a:xfrm>
          <a:prstGeom prst="roundRect">
            <a:avLst>
              <a:gd name="adj" fmla="val 19683"/>
            </a:avLst>
          </a:prstGeom>
          <a:solidFill>
            <a:srgbClr val="58A6FF">
              <a:alpha val="6000"/>
            </a:srgbClr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none" lIns="86360" tIns="35560" rIns="86360" bIns="35560" rtlCol="0" anchor="t"/>
          <a:lstStyle/>
          <a:p>
            <a:pPr algn="l" indent="0" marL="0">
              <a:buNone/>
            </a:pPr>
            <a:r>
              <a:rPr lang="en-US" sz="680" spc="34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⊕ 0 = </a:t>
            </a:r>
            <a:pPr algn="l" indent="0" marL="0">
              <a:buNone/>
            </a:pPr>
            <a:r>
              <a:rPr lang="en-US" sz="680" spc="34" kern="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680" dirty="0"/>
          </a:p>
        </p:txBody>
      </p:sp>
      <p:sp>
        <p:nvSpPr>
          <p:cNvPr id="19" name="Text 15"/>
          <p:cNvSpPr/>
          <p:nvPr/>
        </p:nvSpPr>
        <p:spPr>
          <a:xfrm>
            <a:off x="7023497" y="3225403"/>
            <a:ext cx="711509" cy="219373"/>
          </a:xfrm>
          <a:prstGeom prst="roundRect">
            <a:avLst>
              <a:gd name="adj" fmla="val 19683"/>
            </a:avLst>
          </a:prstGeom>
          <a:solidFill>
            <a:srgbClr val="58A6FF">
              <a:alpha val="6000"/>
            </a:srgbClr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none" lIns="86360" tIns="35560" rIns="86360" bIns="35560" rtlCol="0" anchor="t"/>
          <a:lstStyle/>
          <a:p>
            <a:pPr algn="l" indent="0" marL="0">
              <a:buNone/>
            </a:pPr>
            <a:r>
              <a:rPr lang="en-US" sz="680" spc="34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⊕ 1 = </a:t>
            </a:r>
            <a:pPr algn="l" indent="0" marL="0">
              <a:buNone/>
            </a:pPr>
            <a:r>
              <a:rPr lang="en-US" sz="680" spc="34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680" dirty="0"/>
          </a:p>
        </p:txBody>
      </p:sp>
      <p:sp>
        <p:nvSpPr>
          <p:cNvPr id="20" name="Text 16"/>
          <p:cNvSpPr/>
          <p:nvPr/>
        </p:nvSpPr>
        <p:spPr>
          <a:xfrm>
            <a:off x="7792045" y="3225403"/>
            <a:ext cx="711509" cy="219373"/>
          </a:xfrm>
          <a:prstGeom prst="roundRect">
            <a:avLst>
              <a:gd name="adj" fmla="val 19683"/>
            </a:avLst>
          </a:prstGeom>
          <a:solidFill>
            <a:srgbClr val="58A6FF">
              <a:alpha val="6000"/>
            </a:srgbClr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none" lIns="86360" tIns="35560" rIns="86360" bIns="35560" rtlCol="0" anchor="t"/>
          <a:lstStyle/>
          <a:p>
            <a:pPr algn="l" indent="0" marL="0">
              <a:buNone/>
            </a:pPr>
            <a:r>
              <a:rPr lang="en-US" sz="680" spc="34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⊕ 1 = </a:t>
            </a:r>
            <a:pPr algn="l" indent="0" marL="0">
              <a:buNone/>
            </a:pPr>
            <a:r>
              <a:rPr lang="en-US" sz="680" spc="34" kern="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680" dirty="0"/>
          </a:p>
        </p:txBody>
      </p:sp>
      <p:sp>
        <p:nvSpPr>
          <p:cNvPr id="21" name="Text 17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gradFill rotWithShape="1">
            <a:gsLst>
              <a:gs pos="0">
                <a:srgbClr val="0D111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58A6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28501" y="4892725"/>
            <a:ext cx="231863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02" kern="0" dirty="0">
                <a:solidFill>
                  <a:srgbClr val="58A6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FUNDAMENTALS</a:t>
            </a:r>
            <a:endParaRPr lang="en-US" sz="730" dirty="0"/>
          </a:p>
        </p:txBody>
      </p:sp>
      <p:sp>
        <p:nvSpPr>
          <p:cNvPr id="24" name="Text 20"/>
          <p:cNvSpPr/>
          <p:nvPr/>
        </p:nvSpPr>
        <p:spPr>
          <a:xfrm>
            <a:off x="7582793" y="4897487"/>
            <a:ext cx="115154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spc="41" kern="0" dirty="0">
                <a:solidFill>
                  <a:srgbClr val="8B949E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Deep Dive Series</a:t>
            </a:r>
            <a:endParaRPr lang="en-US" sz="680" dirty="0"/>
          </a:p>
        </p:txBody>
      </p:sp>
      <p:sp>
        <p:nvSpPr>
          <p:cNvPr id="25" name="Text 21"/>
          <p:cNvSpPr/>
          <p:nvPr/>
        </p:nvSpPr>
        <p:spPr>
          <a:xfrm>
            <a:off x="0" y="0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">
                <a:srgbClr val="58A6FF">
                  <a:alpha val="0"/>
                </a:srgbClr>
              </a:gs>
              <a:gs pos="40000">
                <a:srgbClr val="58A6FF">
                  <a:alpha val="50000"/>
                </a:srgbClr>
              </a:gs>
              <a:gs pos="60000">
                <a:srgbClr val="58A6FF">
                  <a:alpha val="50000"/>
                </a:srgbClr>
              </a:gs>
              <a:gs pos="90000">
                <a:srgbClr val="58A6FF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469" y="0"/>
            <a:ext cx="3859531" cy="371725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69" y="2141219"/>
            <a:ext cx="4719282" cy="300228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257770"/>
            <a:ext cx="2944743" cy="34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sz="2480" spc="-30" kern="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XOR: </a:t>
            </a:r>
            <a:pPr algn="l" indent="0" marL="0">
              <a:lnSpc>
                <a:spcPts val="2728"/>
              </a:lnSpc>
              <a:buNone/>
            </a:pPr>
            <a:r>
              <a:rPr lang="en-US" sz="2480" b="1" spc="-30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Exclusive OR</a:t>
            </a:r>
            <a:endParaRPr lang="en-US" sz="2480" dirty="0"/>
          </a:p>
        </p:txBody>
      </p:sp>
      <p:sp>
        <p:nvSpPr>
          <p:cNvPr id="6" name="Text 1"/>
          <p:cNvSpPr/>
          <p:nvPr/>
        </p:nvSpPr>
        <p:spPr>
          <a:xfrm>
            <a:off x="3377208" y="314920"/>
            <a:ext cx="129149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70"/>
              </a:lnSpc>
              <a:buNone/>
            </a:pPr>
            <a:r>
              <a:rPr lang="en-US" sz="15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⊕</a:t>
            </a:r>
            <a:endParaRPr lang="en-US" sz="1580" dirty="0"/>
          </a:p>
        </p:txBody>
      </p:sp>
      <p:sp>
        <p:nvSpPr>
          <p:cNvPr id="7" name="Text 2"/>
          <p:cNvSpPr/>
          <p:nvPr/>
        </p:nvSpPr>
        <p:spPr>
          <a:xfrm>
            <a:off x="457200" y="686842"/>
            <a:ext cx="4572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457200" y="751582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340"/>
              </a:spcBef>
              <a:buNone/>
            </a:pPr>
            <a:r>
              <a:rPr lang="en-US" sz="960" spc="1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logic operation that challenged early AI</a:t>
            </a:r>
            <a:endParaRPr lang="en-US" sz="960" dirty="0"/>
          </a:p>
        </p:txBody>
      </p:sp>
      <p:sp>
        <p:nvSpPr>
          <p:cNvPr id="9" name="Text 4"/>
          <p:cNvSpPr/>
          <p:nvPr/>
        </p:nvSpPr>
        <p:spPr>
          <a:xfrm>
            <a:off x="457200" y="1134963"/>
            <a:ext cx="1961257" cy="2014091"/>
          </a:xfrm>
          <a:prstGeom prst="roundRect">
            <a:avLst>
              <a:gd name="adj" fmla="val 4403"/>
            </a:avLst>
          </a:prstGeom>
          <a:solidFill>
            <a:srgbClr val="0D1117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466725" y="1144488"/>
            <a:ext cx="21580" cy="1995041"/>
          </a:xfrm>
          <a:prstGeom prst="roundRect">
            <a:avLst>
              <a:gd name="adj" fmla="val 400186"/>
            </a:avLst>
          </a:prstGeom>
          <a:solidFill>
            <a:srgbClr val="F0C0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38175" y="1345109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F0C040">
              <a:alpha val="13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8903" y="1455837"/>
            <a:ext cx="150465" cy="15046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8175" y="1831479"/>
            <a:ext cx="1007805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6"/>
              </a:lnSpc>
              <a:spcAft>
                <a:spcPts val="560"/>
              </a:spcAft>
              <a:buNone/>
            </a:pPr>
            <a:r>
              <a:rPr lang="en-US" sz="113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Exclusive OR</a:t>
            </a:r>
            <a:endParaRPr lang="en-US" sz="1130" dirty="0"/>
          </a:p>
        </p:txBody>
      </p:sp>
      <p:sp>
        <p:nvSpPr>
          <p:cNvPr id="14" name="Text 8"/>
          <p:cNvSpPr/>
          <p:nvPr/>
        </p:nvSpPr>
        <p:spPr>
          <a:xfrm>
            <a:off x="638175" y="2074515"/>
            <a:ext cx="1631293" cy="52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</a:t>
            </a:r>
            <a:pPr algn="l" indent="0" marL="0">
              <a:lnSpc>
                <a:spcPts val="1302"/>
              </a:lnSpc>
              <a:buNone/>
            </a:pPr>
            <a:r>
              <a:rPr lang="en-US" sz="84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when inputs </a:t>
            </a:r>
            <a:pPr algn="l" indent="0" marL="0">
              <a:lnSpc>
                <a:spcPts val="1302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</a:t>
            </a:r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both on, not both off.</a:t>
            </a:r>
            <a:endParaRPr lang="en-US" sz="840" dirty="0"/>
          </a:p>
        </p:txBody>
      </p:sp>
      <p:sp>
        <p:nvSpPr>
          <p:cNvPr id="15" name="Text 9"/>
          <p:cNvSpPr/>
          <p:nvPr/>
        </p:nvSpPr>
        <p:spPr>
          <a:xfrm>
            <a:off x="638175" y="2670870"/>
            <a:ext cx="496639" cy="193834"/>
          </a:xfrm>
          <a:prstGeom prst="roundRect">
            <a:avLst>
              <a:gd name="adj" fmla="val 15070"/>
            </a:avLst>
          </a:prstGeom>
          <a:solidFill>
            <a:srgbClr val="F0C040">
              <a:alpha val="10000"/>
            </a:srgbClr>
          </a:solidFill>
          <a:ln w="9525">
            <a:solidFill>
              <a:srgbClr val="F0C040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0⊕1 = 1</a:t>
            </a:r>
            <a:endParaRPr lang="en-US" sz="680" dirty="0"/>
          </a:p>
        </p:txBody>
      </p:sp>
      <p:sp>
        <p:nvSpPr>
          <p:cNvPr id="16" name="Text 10"/>
          <p:cNvSpPr/>
          <p:nvPr/>
        </p:nvSpPr>
        <p:spPr>
          <a:xfrm>
            <a:off x="1191964" y="2670870"/>
            <a:ext cx="496639" cy="193834"/>
          </a:xfrm>
          <a:prstGeom prst="roundRect">
            <a:avLst>
              <a:gd name="adj" fmla="val 15070"/>
            </a:avLst>
          </a:prstGeom>
          <a:solidFill>
            <a:srgbClr val="58A6FF">
              <a:alpha val="8000"/>
            </a:srgbClr>
          </a:solidFill>
          <a:ln w="9525">
            <a:solidFill>
              <a:srgbClr val="58A6FF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1⊕1 = 0</a:t>
            </a:r>
            <a:endParaRPr lang="en-US" sz="680" dirty="0"/>
          </a:p>
        </p:txBody>
      </p:sp>
      <p:sp>
        <p:nvSpPr>
          <p:cNvPr id="17" name="Text 11"/>
          <p:cNvSpPr/>
          <p:nvPr/>
        </p:nvSpPr>
        <p:spPr>
          <a:xfrm>
            <a:off x="2546598" y="1134963"/>
            <a:ext cx="1961257" cy="2014091"/>
          </a:xfrm>
          <a:prstGeom prst="roundRect">
            <a:avLst>
              <a:gd name="adj" fmla="val 4403"/>
            </a:avLst>
          </a:prstGeom>
          <a:solidFill>
            <a:srgbClr val="0D1117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2556123" y="1144488"/>
            <a:ext cx="21580" cy="1995041"/>
          </a:xfrm>
          <a:prstGeom prst="roundRect">
            <a:avLst>
              <a:gd name="adj" fmla="val 400186"/>
            </a:avLst>
          </a:pr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2727573" y="1345109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58A6FF">
              <a:alpha val="13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7883" y="1455837"/>
            <a:ext cx="171450" cy="15046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727573" y="1831479"/>
            <a:ext cx="814789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6"/>
              </a:lnSpc>
              <a:spcAft>
                <a:spcPts val="560"/>
              </a:spcAft>
              <a:buNone/>
            </a:pPr>
            <a:r>
              <a:rPr lang="en-US" sz="113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Logic Gate</a:t>
            </a:r>
            <a:endParaRPr lang="en-US" sz="1130" dirty="0"/>
          </a:p>
        </p:txBody>
      </p:sp>
      <p:sp>
        <p:nvSpPr>
          <p:cNvPr id="22" name="Text 15"/>
          <p:cNvSpPr/>
          <p:nvPr/>
        </p:nvSpPr>
        <p:spPr>
          <a:xfrm>
            <a:off x="2727573" y="2074515"/>
            <a:ext cx="1631293" cy="52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fundamental digital logic gates used in </a:t>
            </a:r>
            <a:pPr algn="l" indent="0" marL="0">
              <a:lnSpc>
                <a:spcPts val="1302"/>
              </a:lnSpc>
              <a:buNone/>
            </a:pPr>
            <a:r>
              <a:rPr lang="en-US" sz="84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electronic circuits worldwide.</a:t>
            </a:r>
            <a:endParaRPr lang="en-US" sz="840" dirty="0"/>
          </a:p>
        </p:txBody>
      </p:sp>
      <p:sp>
        <p:nvSpPr>
          <p:cNvPr id="23" name="Text 16"/>
          <p:cNvSpPr/>
          <p:nvPr/>
        </p:nvSpPr>
        <p:spPr>
          <a:xfrm>
            <a:off x="2723645" y="2657029"/>
            <a:ext cx="400613" cy="141982"/>
          </a:xfrm>
          <a:prstGeom prst="roundRect">
            <a:avLst>
              <a:gd name="adj" fmla="val 20573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⊕ B</a:t>
            </a:r>
            <a:endParaRPr lang="en-US" sz="680" dirty="0"/>
          </a:p>
        </p:txBody>
      </p:sp>
      <p:sp>
        <p:nvSpPr>
          <p:cNvPr id="24" name="Text 17"/>
          <p:cNvSpPr/>
          <p:nvPr/>
        </p:nvSpPr>
        <p:spPr>
          <a:xfrm>
            <a:off x="4635996" y="1134963"/>
            <a:ext cx="1961257" cy="2014091"/>
          </a:xfrm>
          <a:prstGeom prst="roundRect">
            <a:avLst>
              <a:gd name="adj" fmla="val 4403"/>
            </a:avLst>
          </a:prstGeom>
          <a:solidFill>
            <a:srgbClr val="0D1117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4645521" y="1144488"/>
            <a:ext cx="21580" cy="1995041"/>
          </a:xfrm>
          <a:prstGeom prst="roundRect">
            <a:avLst>
              <a:gd name="adj" fmla="val 400186"/>
            </a:avLst>
          </a:prstGeom>
          <a:solidFill>
            <a:srgbClr val="BC8C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4816971" y="1345109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BC8CFF">
              <a:alpha val="13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7699" y="1455837"/>
            <a:ext cx="150465" cy="15046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816971" y="1831479"/>
            <a:ext cx="92856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6"/>
              </a:lnSpc>
              <a:spcAft>
                <a:spcPts val="560"/>
              </a:spcAft>
              <a:buNone/>
            </a:pPr>
            <a:r>
              <a:rPr lang="en-US" sz="113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Milestone</a:t>
            </a:r>
            <a:endParaRPr lang="en-US" sz="1130" dirty="0"/>
          </a:p>
        </p:txBody>
      </p:sp>
      <p:sp>
        <p:nvSpPr>
          <p:cNvPr id="29" name="Text 21"/>
          <p:cNvSpPr/>
          <p:nvPr/>
        </p:nvSpPr>
        <p:spPr>
          <a:xfrm>
            <a:off x="4816971" y="2074515"/>
            <a:ext cx="1631293" cy="694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proved that single-layer perceptrons were </a:t>
            </a:r>
            <a:pPr algn="l" indent="0" marL="0">
              <a:lnSpc>
                <a:spcPts val="1302"/>
              </a:lnSpc>
              <a:buNone/>
            </a:pPr>
            <a:r>
              <a:rPr lang="en-US" sz="84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fundamentally limited</a:t>
            </a:r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sparking the hidden layer revolution.</a:t>
            </a:r>
            <a:endParaRPr lang="en-US" sz="840" dirty="0"/>
          </a:p>
        </p:txBody>
      </p:sp>
      <p:sp>
        <p:nvSpPr>
          <p:cNvPr id="30" name="Text 22"/>
          <p:cNvSpPr/>
          <p:nvPr/>
        </p:nvSpPr>
        <p:spPr>
          <a:xfrm>
            <a:off x="4807198" y="2822377"/>
            <a:ext cx="996901" cy="132457"/>
          </a:xfrm>
          <a:prstGeom prst="roundRect">
            <a:avLst>
              <a:gd name="adj" fmla="val 22052"/>
            </a:avLst>
          </a:prstGeom>
          <a:solidFill>
            <a:srgbClr val="BC8CFF">
              <a:alpha val="10000"/>
            </a:srgbClr>
          </a:solidFill>
          <a:ln w="9525">
            <a:solidFill>
              <a:srgbClr val="BC8CFF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Minsky &amp; Papert, 1969</a:t>
            </a:r>
            <a:endParaRPr lang="en-US" sz="620" dirty="0"/>
          </a:p>
        </p:txBody>
      </p:sp>
      <p:sp>
        <p:nvSpPr>
          <p:cNvPr id="31" name="Text 23"/>
          <p:cNvSpPr/>
          <p:nvPr/>
        </p:nvSpPr>
        <p:spPr>
          <a:xfrm>
            <a:off x="6725394" y="1134963"/>
            <a:ext cx="1961406" cy="2014091"/>
          </a:xfrm>
          <a:prstGeom prst="roundRect">
            <a:avLst>
              <a:gd name="adj" fmla="val 4403"/>
            </a:avLst>
          </a:prstGeom>
          <a:solidFill>
            <a:srgbClr val="0D1117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6734919" y="1144488"/>
            <a:ext cx="21580" cy="1995041"/>
          </a:xfrm>
          <a:prstGeom prst="roundRect">
            <a:avLst>
              <a:gd name="adj" fmla="val 400186"/>
            </a:avLst>
          </a:prstGeom>
          <a:solidFill>
            <a:srgbClr val="3FB95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6906369" y="1345109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3FB950">
              <a:alpha val="13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11888" y="1450628"/>
            <a:ext cx="160883" cy="16088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06369" y="1831479"/>
            <a:ext cx="1708487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6"/>
              </a:lnSpc>
              <a:spcAft>
                <a:spcPts val="560"/>
              </a:spcAft>
              <a:buNone/>
            </a:pPr>
            <a:r>
              <a:rPr lang="en-US" sz="113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Linearly Separable</a:t>
            </a:r>
            <a:endParaRPr lang="en-US" sz="1130" dirty="0"/>
          </a:p>
        </p:txBody>
      </p:sp>
      <p:sp>
        <p:nvSpPr>
          <p:cNvPr id="36" name="Text 27"/>
          <p:cNvSpPr/>
          <p:nvPr/>
        </p:nvSpPr>
        <p:spPr>
          <a:xfrm>
            <a:off x="6906369" y="2074515"/>
            <a:ext cx="1631445" cy="694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straight line can correctly classify all XOR outputs — the </a:t>
            </a:r>
            <a:pPr algn="l" indent="0" marL="0">
              <a:lnSpc>
                <a:spcPts val="1302"/>
              </a:lnSpc>
              <a:buNone/>
            </a:pPr>
            <a:r>
              <a:rPr lang="en-US" sz="84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geometric challenge</a:t>
            </a:r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problem.</a:t>
            </a:r>
            <a:endParaRPr lang="en-US" sz="840" dirty="0"/>
          </a:p>
        </p:txBody>
      </p:sp>
      <p:sp>
        <p:nvSpPr>
          <p:cNvPr id="37" name="Text 28"/>
          <p:cNvSpPr/>
          <p:nvPr/>
        </p:nvSpPr>
        <p:spPr>
          <a:xfrm>
            <a:off x="6897414" y="2822377"/>
            <a:ext cx="913409" cy="132457"/>
          </a:xfrm>
          <a:prstGeom prst="roundRect">
            <a:avLst>
              <a:gd name="adj" fmla="val 22052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Hidden Layer</a:t>
            </a:r>
            <a:endParaRPr lang="en-US" sz="620" dirty="0"/>
          </a:p>
        </p:txBody>
      </p:sp>
      <p:sp>
        <p:nvSpPr>
          <p:cNvPr id="38" name="Text 29"/>
          <p:cNvSpPr/>
          <p:nvPr/>
        </p:nvSpPr>
        <p:spPr>
          <a:xfrm>
            <a:off x="5565577" y="4757142"/>
            <a:ext cx="3121223" cy="228898"/>
          </a:xfrm>
          <a:prstGeom prst="roundRect">
            <a:avLst>
              <a:gd name="adj" fmla="val 62696"/>
            </a:avLst>
          </a:prstGeom>
          <a:solidFill>
            <a:srgbClr val="58A6FF">
              <a:alpha val="7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17378" y="4805223"/>
            <a:ext cx="132588" cy="13258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778401" y="4802088"/>
            <a:ext cx="307842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Learning Fundamentals  ·  XOR Deep Dive</a:t>
            </a:r>
            <a:endParaRPr lang="en-US" sz="730" dirty="0"/>
          </a:p>
        </p:txBody>
      </p:sp>
      <p:sp>
        <p:nvSpPr>
          <p:cNvPr id="41" name="Text 31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58A6FF"/>
              </a:gs>
              <a:gs pos="50000">
                <a:srgbClr val="BC8CFF"/>
              </a:gs>
              <a:gs pos="100000">
                <a:srgbClr val="3FB95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58A6FF"/>
              </a:gs>
              <a:gs pos="50000">
                <a:srgbClr val="3FB950"/>
              </a:gs>
              <a:gs pos="100000">
                <a:srgbClr val="F8514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0"/>
            <a:ext cx="4000500" cy="25717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780" y="2571750"/>
            <a:ext cx="2715220" cy="257175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470" y="2714030"/>
            <a:ext cx="2857500" cy="24294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200" y="598140"/>
            <a:ext cx="1485712" cy="191691"/>
          </a:xfrm>
          <a:prstGeom prst="roundRect">
            <a:avLst>
              <a:gd name="adj" fmla="val 74865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none" lIns="182820" tIns="21590" rIns="86360" bIns="21590" rtlCol="0" anchor="ctr"/>
          <a:lstStyle/>
          <a:p>
            <a:pPr algn="l" indent="0" marL="0">
              <a:buNone/>
            </a:pPr>
            <a:r>
              <a:rPr lang="en-US" sz="680" b="1" spc="7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FUNDAMENTALS</a:t>
            </a:r>
            <a:endParaRPr lang="en-US" sz="68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392" y="627692"/>
            <a:ext cx="132588" cy="132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7200" y="860822"/>
            <a:ext cx="6511891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6"/>
              </a:lnSpc>
              <a:spcBef>
                <a:spcPts val="560"/>
              </a:spcBef>
              <a:buNone/>
            </a:pPr>
            <a:r>
              <a:rPr lang="en-US" sz="2360" b="1" spc="-30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XOR Truth Table</a:t>
            </a:r>
            <a:endParaRPr lang="en-US" sz="2360" dirty="0"/>
          </a:p>
        </p:txBody>
      </p:sp>
      <p:sp>
        <p:nvSpPr>
          <p:cNvPr id="11" name="Text 5"/>
          <p:cNvSpPr/>
          <p:nvPr/>
        </p:nvSpPr>
        <p:spPr>
          <a:xfrm>
            <a:off x="457200" y="1233636"/>
            <a:ext cx="66944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INPUT COMBINATIONS AND THEIR OUTPUTS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440729" y="1548557"/>
            <a:ext cx="1680022" cy="381000"/>
          </a:xfrm>
          <a:prstGeom prst="roundRect">
            <a:avLst>
              <a:gd name="adj" fmla="val 22667"/>
            </a:avLst>
          </a:prstGeom>
          <a:solidFill>
            <a:srgbClr val="58A6FF"/>
          </a:solidFill>
          <a:ln/>
        </p:spPr>
        <p:txBody>
          <a:bodyPr wrap="none" lIns="257810" tIns="114300" rIns="257810" bIns="114300" rtlCol="0" anchor="t"/>
          <a:lstStyle/>
          <a:p>
            <a:pPr algn="ctr" indent="0" marL="0">
              <a:buNone/>
            </a:pPr>
            <a:r>
              <a:rPr lang="en-US" sz="1010" b="1" spc="3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 A</a:t>
            </a:r>
            <a:endParaRPr lang="en-US" sz="1010" dirty="0"/>
          </a:p>
        </p:txBody>
      </p:sp>
      <p:sp>
        <p:nvSpPr>
          <p:cNvPr id="13" name="Text 7"/>
          <p:cNvSpPr/>
          <p:nvPr/>
        </p:nvSpPr>
        <p:spPr>
          <a:xfrm>
            <a:off x="457200" y="1920032"/>
            <a:ext cx="1647081" cy="9525"/>
          </a:xfrm>
          <a:custGeom>
            <a:avLst/>
            <a:gdLst/>
            <a:ahLst/>
            <a:cxnLst/>
            <a:rect l="l" t="t" r="r" b="b"/>
            <a:pathLst>
              <a:path w="1647081" h="9525">
                <a:moveTo>
                  <a:pt x="46934" y="0"/>
                </a:moveTo>
                <a:lnTo>
                  <a:pt x="49346" y="1191"/>
                </a:lnTo>
                <a:lnTo>
                  <a:pt x="51968" y="2381"/>
                </a:lnTo>
                <a:lnTo>
                  <a:pt x="54852" y="3572"/>
                </a:lnTo>
                <a:lnTo>
                  <a:pt x="58078" y="4763"/>
                </a:lnTo>
                <a:lnTo>
                  <a:pt x="61780" y="5953"/>
                </a:lnTo>
                <a:lnTo>
                  <a:pt x="66220" y="7144"/>
                </a:lnTo>
                <a:lnTo>
                  <a:pt x="72069" y="8334"/>
                </a:lnTo>
                <a:lnTo>
                  <a:pt x="86360" y="9525"/>
                </a:lnTo>
                <a:lnTo>
                  <a:pt x="1560721" y="9525"/>
                </a:lnTo>
                <a:lnTo>
                  <a:pt x="1575012" y="8334"/>
                </a:lnTo>
                <a:lnTo>
                  <a:pt x="1580861" y="7144"/>
                </a:lnTo>
                <a:lnTo>
                  <a:pt x="1585301" y="5953"/>
                </a:lnTo>
                <a:lnTo>
                  <a:pt x="1589003" y="4763"/>
                </a:lnTo>
                <a:lnTo>
                  <a:pt x="1592229" y="3572"/>
                </a:lnTo>
                <a:lnTo>
                  <a:pt x="1595113" y="2381"/>
                </a:lnTo>
                <a:lnTo>
                  <a:pt x="1597735" y="1191"/>
                </a:lnTo>
                <a:lnTo>
                  <a:pt x="1600147" y="0"/>
                </a:lnTo>
                <a:close/>
              </a:path>
            </a:pathLst>
          </a:cu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2087730" y="1548557"/>
            <a:ext cx="1688220" cy="381000"/>
          </a:xfrm>
          <a:prstGeom prst="rect">
            <a:avLst/>
          </a:prstGeom>
          <a:solidFill>
            <a:srgbClr val="58A6FF"/>
          </a:solidFill>
          <a:ln/>
        </p:spPr>
        <p:txBody>
          <a:bodyPr wrap="none" lIns="257810" tIns="114300" rIns="257810" bIns="114300" rtlCol="0" anchor="t"/>
          <a:lstStyle/>
          <a:p>
            <a:pPr algn="ctr" indent="0" marL="0">
              <a:buNone/>
            </a:pPr>
            <a:r>
              <a:rPr lang="en-US" sz="1010" b="1" spc="3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 B</a:t>
            </a:r>
            <a:endParaRPr lang="en-US" sz="1010" dirty="0"/>
          </a:p>
        </p:txBody>
      </p:sp>
      <p:sp>
        <p:nvSpPr>
          <p:cNvPr id="15" name="Text 9"/>
          <p:cNvSpPr/>
          <p:nvPr/>
        </p:nvSpPr>
        <p:spPr>
          <a:xfrm>
            <a:off x="2104281" y="1920032"/>
            <a:ext cx="1655118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3731562" y="1548557"/>
            <a:ext cx="2839355" cy="381000"/>
          </a:xfrm>
          <a:prstGeom prst="rect">
            <a:avLst/>
          </a:prstGeom>
          <a:solidFill>
            <a:srgbClr val="58A6FF"/>
          </a:solidFill>
          <a:ln/>
        </p:spPr>
        <p:txBody>
          <a:bodyPr wrap="none" lIns="257810" tIns="114300" rIns="257810" bIns="114300" rtlCol="0" anchor="t"/>
          <a:lstStyle/>
          <a:p>
            <a:pPr algn="ctr" indent="0" marL="0">
              <a:buNone/>
            </a:pPr>
            <a:r>
              <a:rPr lang="en-US" sz="1010" b="1" spc="3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⊕ B</a:t>
            </a:r>
            <a:endParaRPr lang="en-US" sz="1010" dirty="0"/>
          </a:p>
        </p:txBody>
      </p:sp>
      <p:sp>
        <p:nvSpPr>
          <p:cNvPr id="17" name="Text 11"/>
          <p:cNvSpPr/>
          <p:nvPr/>
        </p:nvSpPr>
        <p:spPr>
          <a:xfrm>
            <a:off x="3759398" y="1920032"/>
            <a:ext cx="2783681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440729" y="1929557"/>
            <a:ext cx="1680022" cy="442913"/>
          </a:xfrm>
          <a:prstGeom prst="rect">
            <a:avLst/>
          </a:prstGeom>
          <a:solidFill>
            <a:srgbClr val="F85149">
              <a:alpha val="4000"/>
            </a:srgbClr>
          </a:solidFill>
          <a:ln/>
        </p:spPr>
        <p:txBody>
          <a:bodyPr wrap="none" lIns="257810" tIns="106680" rIns="257810" bIns="10668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40" dirty="0"/>
          </a:p>
        </p:txBody>
      </p:sp>
      <p:sp>
        <p:nvSpPr>
          <p:cNvPr id="19" name="Text 13"/>
          <p:cNvSpPr/>
          <p:nvPr/>
        </p:nvSpPr>
        <p:spPr>
          <a:xfrm>
            <a:off x="457200" y="1929557"/>
            <a:ext cx="28575" cy="442913"/>
          </a:xfrm>
          <a:prstGeom prst="rect">
            <a:avLst/>
          </a:prstGeom>
          <a:solidFill>
            <a:srgbClr val="F8514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2087730" y="1929557"/>
            <a:ext cx="1688220" cy="442913"/>
          </a:xfrm>
          <a:prstGeom prst="rect">
            <a:avLst/>
          </a:prstGeom>
          <a:solidFill>
            <a:srgbClr val="F85149">
              <a:alpha val="4000"/>
            </a:srgbClr>
          </a:solidFill>
          <a:ln/>
        </p:spPr>
        <p:txBody>
          <a:bodyPr wrap="none" lIns="257810" tIns="106680" rIns="257810" bIns="10668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40" dirty="0"/>
          </a:p>
        </p:txBody>
      </p:sp>
      <p:sp>
        <p:nvSpPr>
          <p:cNvPr id="21" name="Text 15"/>
          <p:cNvSpPr/>
          <p:nvPr/>
        </p:nvSpPr>
        <p:spPr>
          <a:xfrm>
            <a:off x="2104281" y="2362944"/>
            <a:ext cx="1655118" cy="9525"/>
          </a:xfrm>
          <a:prstGeom prst="rect">
            <a:avLst/>
          </a:prstGeom>
          <a:solidFill>
            <a:srgbClr val="8B949E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3759398" y="1929557"/>
            <a:ext cx="2783681" cy="442913"/>
          </a:xfrm>
          <a:prstGeom prst="rect">
            <a:avLst/>
          </a:prstGeom>
          <a:solidFill>
            <a:srgbClr val="F85149">
              <a:alpha val="4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3759398" y="2362944"/>
            <a:ext cx="2783681" cy="9525"/>
          </a:xfrm>
          <a:prstGeom prst="rect">
            <a:avLst/>
          </a:prstGeom>
          <a:solidFill>
            <a:srgbClr val="8B949E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440729" y="2372469"/>
            <a:ext cx="1680022" cy="442913"/>
          </a:xfrm>
          <a:prstGeom prst="rect">
            <a:avLst/>
          </a:prstGeom>
          <a:solidFill>
            <a:srgbClr val="3FB950">
              <a:alpha val="4000"/>
            </a:srgbClr>
          </a:solidFill>
          <a:ln/>
        </p:spPr>
        <p:txBody>
          <a:bodyPr wrap="none" lIns="257810" tIns="106680" rIns="257810" bIns="10668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40" dirty="0"/>
          </a:p>
        </p:txBody>
      </p:sp>
      <p:sp>
        <p:nvSpPr>
          <p:cNvPr id="25" name="Text 19"/>
          <p:cNvSpPr/>
          <p:nvPr/>
        </p:nvSpPr>
        <p:spPr>
          <a:xfrm>
            <a:off x="457200" y="2372469"/>
            <a:ext cx="28575" cy="442913"/>
          </a:xfrm>
          <a:prstGeom prst="rect">
            <a:avLst/>
          </a:prstGeom>
          <a:solidFill>
            <a:srgbClr val="3FB95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2087730" y="2372469"/>
            <a:ext cx="1688220" cy="442913"/>
          </a:xfrm>
          <a:prstGeom prst="rect">
            <a:avLst/>
          </a:prstGeom>
          <a:solidFill>
            <a:srgbClr val="3FB950">
              <a:alpha val="4000"/>
            </a:srgbClr>
          </a:solidFill>
          <a:ln/>
        </p:spPr>
        <p:txBody>
          <a:bodyPr wrap="none" lIns="257810" tIns="106680" rIns="257810" bIns="10668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40" dirty="0"/>
          </a:p>
        </p:txBody>
      </p:sp>
      <p:sp>
        <p:nvSpPr>
          <p:cNvPr id="27" name="Text 21"/>
          <p:cNvSpPr/>
          <p:nvPr/>
        </p:nvSpPr>
        <p:spPr>
          <a:xfrm>
            <a:off x="2104281" y="2805857"/>
            <a:ext cx="1655118" cy="9525"/>
          </a:xfrm>
          <a:prstGeom prst="rect">
            <a:avLst/>
          </a:prstGeom>
          <a:solidFill>
            <a:srgbClr val="8B949E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3759398" y="2372469"/>
            <a:ext cx="2783681" cy="442913"/>
          </a:xfrm>
          <a:prstGeom prst="rect">
            <a:avLst/>
          </a:prstGeom>
          <a:solidFill>
            <a:srgbClr val="3FB950">
              <a:alpha val="4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3759398" y="2805857"/>
            <a:ext cx="2783681" cy="9525"/>
          </a:xfrm>
          <a:prstGeom prst="rect">
            <a:avLst/>
          </a:prstGeom>
          <a:solidFill>
            <a:srgbClr val="8B949E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40729" y="2815382"/>
            <a:ext cx="1680022" cy="442913"/>
          </a:xfrm>
          <a:prstGeom prst="rect">
            <a:avLst/>
          </a:prstGeom>
          <a:solidFill>
            <a:srgbClr val="3FB950">
              <a:alpha val="4000"/>
            </a:srgbClr>
          </a:solidFill>
          <a:ln/>
        </p:spPr>
        <p:txBody>
          <a:bodyPr wrap="none" lIns="257810" tIns="106680" rIns="257810" bIns="10668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40" dirty="0"/>
          </a:p>
        </p:txBody>
      </p:sp>
      <p:sp>
        <p:nvSpPr>
          <p:cNvPr id="31" name="Text 25"/>
          <p:cNvSpPr/>
          <p:nvPr/>
        </p:nvSpPr>
        <p:spPr>
          <a:xfrm>
            <a:off x="457200" y="2815382"/>
            <a:ext cx="28575" cy="442913"/>
          </a:xfrm>
          <a:prstGeom prst="rect">
            <a:avLst/>
          </a:prstGeom>
          <a:solidFill>
            <a:srgbClr val="3FB95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2087730" y="2815382"/>
            <a:ext cx="1688220" cy="442913"/>
          </a:xfrm>
          <a:prstGeom prst="rect">
            <a:avLst/>
          </a:prstGeom>
          <a:solidFill>
            <a:srgbClr val="3FB950">
              <a:alpha val="4000"/>
            </a:srgbClr>
          </a:solidFill>
          <a:ln/>
        </p:spPr>
        <p:txBody>
          <a:bodyPr wrap="none" lIns="257810" tIns="106680" rIns="257810" bIns="10668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40" dirty="0"/>
          </a:p>
        </p:txBody>
      </p:sp>
      <p:sp>
        <p:nvSpPr>
          <p:cNvPr id="33" name="Text 27"/>
          <p:cNvSpPr/>
          <p:nvPr/>
        </p:nvSpPr>
        <p:spPr>
          <a:xfrm>
            <a:off x="2104281" y="3248769"/>
            <a:ext cx="1655118" cy="9525"/>
          </a:xfrm>
          <a:prstGeom prst="rect">
            <a:avLst/>
          </a:prstGeom>
          <a:solidFill>
            <a:srgbClr val="8B949E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3759398" y="2815382"/>
            <a:ext cx="2783681" cy="442913"/>
          </a:xfrm>
          <a:prstGeom prst="rect">
            <a:avLst/>
          </a:prstGeom>
          <a:solidFill>
            <a:srgbClr val="3FB950">
              <a:alpha val="4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3759398" y="3248769"/>
            <a:ext cx="2783681" cy="9525"/>
          </a:xfrm>
          <a:prstGeom prst="rect">
            <a:avLst/>
          </a:prstGeom>
          <a:solidFill>
            <a:srgbClr val="8B949E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440729" y="3258294"/>
            <a:ext cx="1680022" cy="433388"/>
          </a:xfrm>
          <a:prstGeom prst="rect">
            <a:avLst/>
          </a:prstGeom>
          <a:solidFill>
            <a:srgbClr val="F85149">
              <a:alpha val="4000"/>
            </a:srgbClr>
          </a:solidFill>
          <a:ln/>
        </p:spPr>
        <p:txBody>
          <a:bodyPr wrap="none" lIns="257810" tIns="106680" rIns="257810" bIns="10668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40" dirty="0"/>
          </a:p>
        </p:txBody>
      </p:sp>
      <p:sp>
        <p:nvSpPr>
          <p:cNvPr id="37" name="Text 31"/>
          <p:cNvSpPr/>
          <p:nvPr/>
        </p:nvSpPr>
        <p:spPr>
          <a:xfrm>
            <a:off x="457200" y="3258294"/>
            <a:ext cx="28575" cy="433388"/>
          </a:xfrm>
          <a:prstGeom prst="rect">
            <a:avLst/>
          </a:prstGeom>
          <a:solidFill>
            <a:srgbClr val="F8514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2087730" y="3258294"/>
            <a:ext cx="1688220" cy="433388"/>
          </a:xfrm>
          <a:prstGeom prst="rect">
            <a:avLst/>
          </a:prstGeom>
          <a:solidFill>
            <a:srgbClr val="F85149">
              <a:alpha val="4000"/>
            </a:srgbClr>
          </a:solidFill>
          <a:ln/>
        </p:spPr>
        <p:txBody>
          <a:bodyPr wrap="none" lIns="257810" tIns="106680" rIns="257810" bIns="10668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40" dirty="0"/>
          </a:p>
        </p:txBody>
      </p:sp>
      <p:sp>
        <p:nvSpPr>
          <p:cNvPr id="39" name="Text 33"/>
          <p:cNvSpPr/>
          <p:nvPr/>
        </p:nvSpPr>
        <p:spPr>
          <a:xfrm>
            <a:off x="3759398" y="3258294"/>
            <a:ext cx="2783681" cy="433388"/>
          </a:xfrm>
          <a:prstGeom prst="rect">
            <a:avLst/>
          </a:prstGeom>
          <a:solidFill>
            <a:srgbClr val="F85149">
              <a:alpha val="4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457200" y="3835152"/>
            <a:ext cx="6085880" cy="761559"/>
          </a:xfrm>
          <a:prstGeom prst="rect">
            <a:avLst/>
          </a:prstGeom>
          <a:gradFill rotWithShape="1">
            <a:gsLst>
              <a:gs pos="0">
                <a:srgbClr val="58A6FF">
                  <a:alpha val="8000"/>
                </a:srgbClr>
              </a:gs>
              <a:gs pos="100000">
                <a:srgbClr val="58A6FF">
                  <a:alpha val="4000"/>
                </a:srgbClr>
              </a:gs>
            </a:gsLst>
            <a:lin ang="2700000" scaled="1"/>
          </a:gradFill>
          <a:ln/>
        </p:spPr>
        <p:txBody>
          <a:bodyPr wrap="square" lIns="157480" tIns="100330" rIns="157480" bIns="100330" rtlCol="0" anchor="t"/>
          <a:lstStyle/>
          <a:p>
            <a:pPr algn="l" indent="0" marL="0">
              <a:buNone/>
            </a:pPr>
            <a:r>
              <a:rPr lang="en-US" sz="790" b="1" spc="6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79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</a:t>
            </a:r>
            <a:pPr algn="l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ONLY when inputs are DIFFERENT</a:t>
            </a:r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simple rule creates a surprisingly complex geometric pattern.</a:t>
            </a:r>
            <a:endParaRPr lang="en-US" sz="790" dirty="0"/>
          </a:p>
        </p:txBody>
      </p:sp>
      <p:sp>
        <p:nvSpPr>
          <p:cNvPr id="41" name="Text 35"/>
          <p:cNvSpPr/>
          <p:nvPr/>
        </p:nvSpPr>
        <p:spPr>
          <a:xfrm>
            <a:off x="457200" y="3835152"/>
            <a:ext cx="28575" cy="739378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6885980" y="760661"/>
            <a:ext cx="1857970" cy="1124248"/>
          </a:xfrm>
          <a:prstGeom prst="roundRect">
            <a:avLst>
              <a:gd name="adj" fmla="val 8924"/>
            </a:avLst>
          </a:prstGeom>
          <a:solidFill>
            <a:srgbClr val="58A6FF">
              <a:alpha val="7000"/>
            </a:srgbClr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7383066" y="898327"/>
            <a:ext cx="95017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6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OPERATION</a:t>
            </a:r>
            <a:endParaRPr lang="en-US" sz="730" dirty="0"/>
          </a:p>
        </p:txBody>
      </p:sp>
      <p:sp>
        <p:nvSpPr>
          <p:cNvPr id="44" name="Text 38"/>
          <p:cNvSpPr/>
          <p:nvPr/>
        </p:nvSpPr>
        <p:spPr>
          <a:xfrm>
            <a:off x="7357467" y="1080492"/>
            <a:ext cx="96058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58A6FF"/>
                </a:solidFill>
                <a:effectLst>
                  <a:glow rad="358776">
                    <a:srgbClr val="58A6FF">
                      <a:alpha val="15000"/>
                    </a:srgbClr>
                  </a:glow>
                </a:effectLst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⊕ B</a:t>
            </a:r>
            <a:endParaRPr lang="en-US" sz="2700" dirty="0"/>
          </a:p>
        </p:txBody>
      </p:sp>
      <p:sp>
        <p:nvSpPr>
          <p:cNvPr id="45" name="Text 39"/>
          <p:cNvSpPr/>
          <p:nvPr/>
        </p:nvSpPr>
        <p:spPr>
          <a:xfrm>
            <a:off x="7442286" y="1466552"/>
            <a:ext cx="745209" cy="29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"Exclusive OR"</a:t>
            </a:r>
            <a:br/>
            <a:pPr algn="ctr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when A ≠ B</a:t>
            </a:r>
            <a:endParaRPr lang="en-US" sz="790" dirty="0"/>
          </a:p>
        </p:txBody>
      </p:sp>
      <p:sp>
        <p:nvSpPr>
          <p:cNvPr id="46" name="Text 40"/>
          <p:cNvSpPr/>
          <p:nvPr/>
        </p:nvSpPr>
        <p:spPr>
          <a:xfrm>
            <a:off x="6885980" y="2056358"/>
            <a:ext cx="1857970" cy="1497955"/>
          </a:xfrm>
          <a:prstGeom prst="roundRect">
            <a:avLst>
              <a:gd name="adj" fmla="val 5765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8B949E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7038975" y="2194024"/>
            <a:ext cx="170717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7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LEGEND</a:t>
            </a:r>
            <a:endParaRPr lang="en-US" sz="680" dirty="0"/>
          </a:p>
        </p:txBody>
      </p:sp>
      <p:sp>
        <p:nvSpPr>
          <p:cNvPr id="48" name="Text 42"/>
          <p:cNvSpPr/>
          <p:nvPr/>
        </p:nvSpPr>
        <p:spPr>
          <a:xfrm>
            <a:off x="7038975" y="2500908"/>
            <a:ext cx="257770" cy="283547"/>
          </a:xfrm>
          <a:prstGeom prst="ellipse">
            <a:avLst/>
          </a:prstGeom>
          <a:solidFill>
            <a:srgbClr val="3FB950">
              <a:alpha val="15000"/>
            </a:srgbClr>
          </a:solidFill>
          <a:ln w="9525">
            <a:solidFill>
              <a:srgbClr val="3FB95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7383066" y="2437656"/>
            <a:ext cx="53189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840" dirty="0"/>
          </a:p>
        </p:txBody>
      </p:sp>
      <p:sp>
        <p:nvSpPr>
          <p:cNvPr id="50" name="Text 44"/>
          <p:cNvSpPr/>
          <p:nvPr/>
        </p:nvSpPr>
        <p:spPr>
          <a:xfrm>
            <a:off x="7383066" y="2597646"/>
            <a:ext cx="493213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84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</a:t>
            </a:r>
            <a:br/>
            <a:pPr algn="l" indent="0" marL="0">
              <a:lnSpc>
                <a:spcPts val="884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endParaRPr lang="en-US" sz="680" dirty="0"/>
          </a:p>
        </p:txBody>
      </p:sp>
      <p:sp>
        <p:nvSpPr>
          <p:cNvPr id="51" name="Text 45"/>
          <p:cNvSpPr/>
          <p:nvPr/>
        </p:nvSpPr>
        <p:spPr>
          <a:xfrm>
            <a:off x="7038975" y="2922389"/>
            <a:ext cx="1551980" cy="9525"/>
          </a:xfrm>
          <a:prstGeom prst="rect">
            <a:avLst/>
          </a:prstGeom>
          <a:solidFill>
            <a:srgbClr val="8B949E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7038975" y="3095476"/>
            <a:ext cx="257770" cy="283547"/>
          </a:xfrm>
          <a:prstGeom prst="ellipse">
            <a:avLst/>
          </a:prstGeom>
          <a:solidFill>
            <a:srgbClr val="F85149">
              <a:alpha val="15000"/>
            </a:srgbClr>
          </a:solidFill>
          <a:ln w="9525">
            <a:solidFill>
              <a:srgbClr val="F85149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40" dirty="0"/>
          </a:p>
        </p:txBody>
      </p:sp>
      <p:sp>
        <p:nvSpPr>
          <p:cNvPr id="53" name="Text 47"/>
          <p:cNvSpPr/>
          <p:nvPr/>
        </p:nvSpPr>
        <p:spPr>
          <a:xfrm>
            <a:off x="7383066" y="3032224"/>
            <a:ext cx="48458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840" dirty="0"/>
          </a:p>
        </p:txBody>
      </p:sp>
      <p:sp>
        <p:nvSpPr>
          <p:cNvPr id="54" name="Text 48"/>
          <p:cNvSpPr/>
          <p:nvPr/>
        </p:nvSpPr>
        <p:spPr>
          <a:xfrm>
            <a:off x="7383066" y="3192214"/>
            <a:ext cx="449342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84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</a:t>
            </a:r>
            <a:br/>
            <a:pPr algn="l" indent="0" marL="0">
              <a:lnSpc>
                <a:spcPts val="884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</a:t>
            </a:r>
            <a:endParaRPr lang="en-US" sz="680" dirty="0"/>
          </a:p>
        </p:txBody>
      </p:sp>
      <p:sp>
        <p:nvSpPr>
          <p:cNvPr id="55" name="Text 49"/>
          <p:cNvSpPr/>
          <p:nvPr/>
        </p:nvSpPr>
        <p:spPr>
          <a:xfrm>
            <a:off x="6885980" y="3725763"/>
            <a:ext cx="1857970" cy="686246"/>
          </a:xfrm>
          <a:prstGeom prst="roundRect">
            <a:avLst>
              <a:gd name="adj" fmla="val 10364"/>
            </a:avLst>
          </a:prstGeom>
          <a:solidFill>
            <a:srgbClr val="58A6FF">
              <a:alpha val="6000"/>
            </a:srgbClr>
          </a:solidFill>
          <a:ln w="9525">
            <a:solidFill>
              <a:srgbClr val="58A6FF">
                <a:alpha val="1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39658" y="3835598"/>
            <a:ext cx="150465" cy="150465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6993701" y="4043214"/>
            <a:ext cx="1642527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TRUE</a:t>
            </a:r>
            <a:pPr algn="ctr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rows &amp; </a:t>
            </a:r>
            <a:pPr algn="ctr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FALSE</a:t>
            </a:r>
            <a:pPr algn="ctr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rows —</a:t>
            </a:r>
            <a:br/>
            <a:pPr algn="ctr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always alternating diagonally</a:t>
            </a:r>
            <a:endParaRPr lang="en-US" sz="680" dirty="0"/>
          </a:p>
        </p:txBody>
      </p:sp>
      <p:sp>
        <p:nvSpPr>
          <p:cNvPr id="58" name="Text 51"/>
          <p:cNvSpPr/>
          <p:nvPr/>
        </p:nvSpPr>
        <p:spPr>
          <a:xfrm>
            <a:off x="35421" y="5121920"/>
            <a:ext cx="9108579" cy="21580"/>
          </a:xfrm>
          <a:prstGeom prst="rect">
            <a:avLst/>
          </a:prstGeom>
          <a:gradFill rotWithShape="1">
            <a:gsLst>
              <a:gs pos="0">
                <a:srgbClr val="58A6FF">
                  <a:alpha val="40000"/>
                </a:srgbClr>
              </a:gs>
              <a:gs pos="50000">
                <a:srgbClr val="3FB950">
                  <a:alpha val="24000"/>
                </a:srgbClr>
              </a:gs>
              <a:gs pos="100000">
                <a:srgbClr val="F85149">
                  <a:alpha val="16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58A6FF"/>
              </a:gs>
              <a:gs pos="50000">
                <a:srgbClr val="BC8CFF"/>
              </a:gs>
              <a:gs pos="100000">
                <a:srgbClr val="3FB95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97701" y="228600"/>
            <a:ext cx="1081760" cy="195411"/>
          </a:xfrm>
          <a:prstGeom prst="roundRect">
            <a:avLst>
              <a:gd name="adj" fmla="val 73440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none" lIns="100330" tIns="29210" rIns="100330" bIns="29210" rtlCol="0" anchor="t"/>
          <a:lstStyle/>
          <a:p>
            <a:pPr algn="l" indent="0" marL="0">
              <a:buNone/>
            </a:pPr>
            <a:r>
              <a:rPr lang="en-US" sz="620" spc="8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VIEW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400050" y="200620"/>
            <a:ext cx="8927973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spc="30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Plotting XOR: A Geometric View</a:t>
            </a:r>
            <a:endParaRPr lang="en-US" sz="2030" dirty="0"/>
          </a:p>
        </p:txBody>
      </p:sp>
      <p:sp>
        <p:nvSpPr>
          <p:cNvPr id="7" name="Text 5"/>
          <p:cNvSpPr/>
          <p:nvPr/>
        </p:nvSpPr>
        <p:spPr>
          <a:xfrm>
            <a:off x="400050" y="527298"/>
            <a:ext cx="457200" cy="13841"/>
          </a:xfrm>
          <a:prstGeom prst="rect">
            <a:avLst/>
          </a:prstGeom>
          <a:gradFill rotWithShape="1">
            <a:gsLst>
              <a:gs pos="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547" y="1445865"/>
            <a:ext cx="2390775" cy="2390775"/>
          </a:xfrm>
          <a:prstGeom prst="roundRect">
            <a:avLst>
              <a:gd name="adj" fmla="val 4781"/>
            </a:avLst>
          </a:prstGeom>
          <a:solidFill>
            <a:srgbClr val="0D1117"/>
          </a:solidFill>
          <a:ln w="9525">
            <a:solidFill>
              <a:srgbClr val="58A6FF">
                <a:alpha val="15000"/>
              </a:srgbClr>
            </a:solidFill>
          </a:ln>
          <a:effectLst>
            <a:outerShdw sx="100000" sy="100000" kx="0" ky="0" algn="bl" rotWithShape="0" blurRad="228600" dist="57150" dir="540000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4372" y="1569690"/>
            <a:ext cx="2143125" cy="2143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85750" y="3936950"/>
            <a:ext cx="2480518" cy="272355"/>
          </a:xfrm>
          <a:prstGeom prst="roundRect">
            <a:avLst>
              <a:gd name="adj" fmla="val 26113"/>
            </a:avLst>
          </a:prstGeom>
          <a:solidFill>
            <a:srgbClr val="0D1117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38745" y="4022973"/>
            <a:ext cx="100310" cy="100310"/>
          </a:xfrm>
          <a:prstGeom prst="ellipse">
            <a:avLst/>
          </a:prstGeom>
          <a:solidFill>
            <a:srgbClr val="F85149"/>
          </a:solidFill>
          <a:ln/>
          <a:effectLst>
            <a:outerShdw sx="100000" sy="100000" kx="0" ky="0" algn="bl" rotWithShape="0" blurRad="43180" dist="50800" dir="16200000">
              <a:srgbClr val="f85149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96205" y="4003625"/>
            <a:ext cx="8661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0 — FALSE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1541115" y="4008983"/>
            <a:ext cx="7590" cy="12814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706166" y="4022973"/>
            <a:ext cx="100310" cy="100310"/>
          </a:xfrm>
          <a:prstGeom prst="ellipse">
            <a:avLst/>
          </a:prstGeom>
          <a:solidFill>
            <a:srgbClr val="3FB950"/>
          </a:solidFill>
          <a:ln/>
          <a:effectLst>
            <a:outerShdw sx="100000" sy="100000" kx="0" ky="0" algn="bl" rotWithShape="0" blurRad="43180" dist="50800" dir="16200000">
              <a:srgbClr val="3fb950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863626" y="4003625"/>
            <a:ext cx="82461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1 — TRUE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2994868" y="1279922"/>
            <a:ext cx="5863382" cy="949523"/>
          </a:xfrm>
          <a:prstGeom prst="roundRect">
            <a:avLst>
              <a:gd name="adj" fmla="val 909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143510" dist="29210" dir="5400000">
              <a:srgbClr val="000000">
                <a:alpha val="3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994868" y="1279922"/>
            <a:ext cx="19050" cy="949523"/>
          </a:xfrm>
          <a:custGeom>
            <a:avLst/>
            <a:gdLst/>
            <a:ahLst/>
            <a:cxnLst/>
            <a:rect l="l" t="t" r="r" b="b"/>
            <a:pathLst>
              <a:path w="19050" h="949523">
                <a:moveTo>
                  <a:pt x="0" y="86360"/>
                </a:moveTo>
                <a:lnTo>
                  <a:pt x="2381" y="66220"/>
                </a:lnTo>
                <a:lnTo>
                  <a:pt x="4763" y="58078"/>
                </a:lnTo>
                <a:lnTo>
                  <a:pt x="7144" y="51968"/>
                </a:lnTo>
                <a:lnTo>
                  <a:pt x="9525" y="46934"/>
                </a:lnTo>
                <a:lnTo>
                  <a:pt x="11906" y="42603"/>
                </a:lnTo>
                <a:lnTo>
                  <a:pt x="14288" y="38783"/>
                </a:lnTo>
                <a:lnTo>
                  <a:pt x="16669" y="35358"/>
                </a:lnTo>
                <a:lnTo>
                  <a:pt x="19050" y="32254"/>
                </a:lnTo>
                <a:lnTo>
                  <a:pt x="19050" y="917269"/>
                </a:lnTo>
                <a:lnTo>
                  <a:pt x="16669" y="914165"/>
                </a:lnTo>
                <a:lnTo>
                  <a:pt x="14288" y="910741"/>
                </a:lnTo>
                <a:lnTo>
                  <a:pt x="11906" y="906921"/>
                </a:lnTo>
                <a:lnTo>
                  <a:pt x="9525" y="902590"/>
                </a:lnTo>
                <a:lnTo>
                  <a:pt x="7144" y="897556"/>
                </a:lnTo>
                <a:lnTo>
                  <a:pt x="4763" y="891446"/>
                </a:lnTo>
                <a:lnTo>
                  <a:pt x="2381" y="883303"/>
                </a:lnTo>
                <a:lnTo>
                  <a:pt x="0" y="863163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338661" y="1446907"/>
            <a:ext cx="1128296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Notice the Pattern</a:t>
            </a:r>
            <a:endParaRPr lang="en-US" sz="101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7146" y="1476756"/>
            <a:ext cx="132588" cy="132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185368" y="1710333"/>
            <a:ext cx="5601745" cy="36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84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XOR outputs are not randomly scattered — they reveal a striking </a:t>
            </a:r>
            <a:pPr algn="l" indent="0" marL="0">
              <a:lnSpc>
                <a:spcPts val="1386"/>
              </a:lnSpc>
              <a:buNone/>
            </a:pPr>
            <a:r>
              <a:rPr lang="en-US" sz="84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symmetry</a:t>
            </a:r>
            <a:pPr algn="l" indent="0" marL="0">
              <a:lnSpc>
                <a:spcPts val="1386"/>
              </a:lnSpc>
              <a:buNone/>
            </a:pPr>
            <a:r>
              <a:rPr lang="en-US" sz="84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makes the problem geometrically unique.</a:t>
            </a:r>
            <a:endParaRPr lang="en-US" sz="840" dirty="0"/>
          </a:p>
        </p:txBody>
      </p:sp>
      <p:sp>
        <p:nvSpPr>
          <p:cNvPr id="21" name="Text 17"/>
          <p:cNvSpPr/>
          <p:nvPr/>
        </p:nvSpPr>
        <p:spPr>
          <a:xfrm>
            <a:off x="2994868" y="2357586"/>
            <a:ext cx="5863382" cy="709613"/>
          </a:xfrm>
          <a:prstGeom prst="roundRect">
            <a:avLst>
              <a:gd name="adj" fmla="val 10022"/>
            </a:avLst>
          </a:prstGeom>
          <a:solidFill>
            <a:srgbClr val="0D1117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132534" y="2489002"/>
            <a:ext cx="86320" cy="86320"/>
          </a:xfrm>
          <a:prstGeom prst="ellipse">
            <a:avLst/>
          </a:prstGeom>
          <a:solidFill>
            <a:srgbClr val="3FB950"/>
          </a:solidFill>
          <a:ln/>
          <a:effectLst>
            <a:outerShdw sx="100000" sy="100000" kx="0" ky="0" algn="bl" rotWithShape="0" blurRad="43180" dist="50800" dir="16200000">
              <a:srgbClr val="3fb950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305175" y="2467421"/>
            <a:ext cx="5523717" cy="514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840" b="1" dirty="0">
                <a:solidFill>
                  <a:srgbClr val="3FB9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TRUE Points — Green Diagonal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TRUE outputs sit at </a:t>
            </a:r>
            <a:pPr algn="l" indent="0" marL="0">
              <a:lnSpc>
                <a:spcPts val="1225"/>
              </a:lnSpc>
              <a:buNone/>
            </a:pPr>
            <a:r>
              <a:rPr lang="en-US" sz="79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(0,1)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lnSpc>
                <a:spcPts val="1225"/>
              </a:lnSpc>
              <a:buNone/>
            </a:pPr>
            <a:r>
              <a:rPr lang="en-US" sz="79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(1,0)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diagonally opposite corners, connected by one diagonal axis.</a:t>
            </a:r>
            <a:endParaRPr lang="en-US" sz="790" dirty="0"/>
          </a:p>
        </p:txBody>
      </p:sp>
      <p:sp>
        <p:nvSpPr>
          <p:cNvPr id="24" name="Text 20"/>
          <p:cNvSpPr/>
          <p:nvPr/>
        </p:nvSpPr>
        <p:spPr>
          <a:xfrm>
            <a:off x="2994868" y="3195340"/>
            <a:ext cx="5863382" cy="554236"/>
          </a:xfrm>
          <a:prstGeom prst="roundRect">
            <a:avLst>
              <a:gd name="adj" fmla="val 12832"/>
            </a:avLst>
          </a:prstGeom>
          <a:solidFill>
            <a:srgbClr val="0D1117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132534" y="3326755"/>
            <a:ext cx="86320" cy="86320"/>
          </a:xfrm>
          <a:prstGeom prst="ellipse">
            <a:avLst/>
          </a:prstGeom>
          <a:solidFill>
            <a:srgbClr val="F85149"/>
          </a:solidFill>
          <a:ln/>
          <a:effectLst>
            <a:outerShdw sx="100000" sy="100000" kx="0" ky="0" algn="bl" rotWithShape="0" blurRad="43180" dist="50800" dir="16200000">
              <a:srgbClr val="f85149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305175" y="3305175"/>
            <a:ext cx="4502982" cy="351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840" b="1" dirty="0">
                <a:solidFill>
                  <a:srgbClr val="F8514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FALSE Points — Red Diagonal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FALSE outputs sit at </a:t>
            </a:r>
            <a:pPr algn="l" indent="0" marL="0">
              <a:lnSpc>
                <a:spcPts val="1225"/>
              </a:lnSpc>
              <a:buNone/>
            </a:pPr>
            <a:r>
              <a:rPr lang="en-US" sz="79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(1,1)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lnSpc>
                <a:spcPts val="1225"/>
              </a:lnSpc>
              <a:buNone/>
            </a:pPr>
            <a:r>
              <a:rPr lang="en-US" sz="79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 (0,0)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other diagonally opposite pair.</a:t>
            </a:r>
            <a:endParaRPr lang="en-US" sz="790" dirty="0"/>
          </a:p>
        </p:txBody>
      </p:sp>
      <p:sp>
        <p:nvSpPr>
          <p:cNvPr id="27" name="Text 23"/>
          <p:cNvSpPr/>
          <p:nvPr/>
        </p:nvSpPr>
        <p:spPr>
          <a:xfrm>
            <a:off x="2994868" y="3877717"/>
            <a:ext cx="5863382" cy="497681"/>
          </a:xfrm>
          <a:prstGeom prst="roundRect">
            <a:avLst>
              <a:gd name="adj" fmla="val 14290"/>
            </a:avLst>
          </a:prstGeom>
          <a:gradFill rotWithShape="1">
            <a:gsLst>
              <a:gs pos="0">
                <a:srgbClr val="58A6FF">
                  <a:alpha val="8000"/>
                </a:srgbClr>
              </a:gs>
              <a:gs pos="100000">
                <a:srgbClr val="BC8CFF">
                  <a:alpha val="6000"/>
                </a:srgbClr>
              </a:gs>
            </a:gsLst>
            <a:lin ang="2700000" scaled="1"/>
          </a:gradFill>
          <a:ln w="9525">
            <a:solidFill>
              <a:srgbClr val="58A6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132534" y="4026247"/>
            <a:ext cx="183452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dirty="0">
                <a:solidFill>
                  <a:srgbClr val="58A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⊕</a:t>
            </a:r>
            <a:endParaRPr lang="en-US" sz="1580" dirty="0"/>
          </a:p>
        </p:txBody>
      </p:sp>
      <p:sp>
        <p:nvSpPr>
          <p:cNvPr id="29" name="Text 25"/>
          <p:cNvSpPr/>
          <p:nvPr/>
        </p:nvSpPr>
        <p:spPr>
          <a:xfrm>
            <a:off x="3390305" y="3987552"/>
            <a:ext cx="5436885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</a:t>
            </a:r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interleaving</a:t>
            </a:r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geometric signature of XOR — and precisely why </a:t>
            </a:r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straight line</a:t>
            </a:r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ever separate all four points into the correct groups.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2070" y="314920"/>
            <a:ext cx="923984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88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FUNDAMENTALS · LINEAR SEPARABILITY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372070" y="497086"/>
            <a:ext cx="8987850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1"/>
              </a:lnSpc>
              <a:buNone/>
            </a:pPr>
            <a:r>
              <a:rPr lang="en-US" sz="214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pPr algn="l" indent="0" marL="0">
              <a:lnSpc>
                <a:spcPts val="2461"/>
              </a:lnSpc>
              <a:buNone/>
            </a:pPr>
            <a:r>
              <a:rPr lang="en-US" sz="2140" b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 Separability</a:t>
            </a:r>
            <a:pPr algn="l" indent="0" marL="0">
              <a:lnSpc>
                <a:spcPts val="2461"/>
              </a:lnSpc>
              <a:buNone/>
            </a:pPr>
            <a:r>
              <a:rPr lang="en-US" sz="214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Problem</a:t>
            </a:r>
            <a:endParaRPr lang="en-US" sz="2140" dirty="0"/>
          </a:p>
        </p:txBody>
      </p:sp>
      <p:sp>
        <p:nvSpPr>
          <p:cNvPr id="6" name="Text 4"/>
          <p:cNvSpPr/>
          <p:nvPr/>
        </p:nvSpPr>
        <p:spPr>
          <a:xfrm>
            <a:off x="372070" y="952946"/>
            <a:ext cx="4021485" cy="3390751"/>
          </a:xfrm>
          <a:prstGeom prst="roundRect">
            <a:avLst>
              <a:gd name="adj" fmla="val 2959"/>
            </a:avLst>
          </a:prstGeom>
          <a:solidFill>
            <a:srgbClr val="3FB950">
              <a:alpha val="6000"/>
            </a:srgbClr>
          </a:solidFill>
          <a:ln w="9525">
            <a:solidFill>
              <a:srgbClr val="3FB950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3045" y="1119932"/>
            <a:ext cx="200620" cy="220682"/>
          </a:xfrm>
          <a:prstGeom prst="ellipse">
            <a:avLst/>
          </a:prstGeom>
          <a:solidFill>
            <a:srgbClr val="3FB950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824657" y="1147167"/>
            <a:ext cx="2021830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3FB9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Linearly Separable — AND Gate</a:t>
            </a:r>
            <a:endParaRPr lang="en-US" sz="96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78918" y="1420862"/>
            <a:ext cx="1607790" cy="16077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9344" y="3114973"/>
            <a:ext cx="2286938" cy="244078"/>
          </a:xfrm>
          <a:prstGeom prst="roundRect">
            <a:avLst>
              <a:gd name="adj" fmla="val 2341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86360" tIns="57150" rIns="86360" bIns="5715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C3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One straight line separates all outputs perfectly.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1261765" y="3114973"/>
            <a:ext cx="19050" cy="244078"/>
          </a:xfrm>
          <a:custGeom>
            <a:avLst/>
            <a:gdLst/>
            <a:ahLst/>
            <a:cxnLst/>
            <a:rect l="l" t="t" r="r" b="b"/>
            <a:pathLst>
              <a:path w="19050" h="244078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29525"/>
                </a:lnTo>
                <a:lnTo>
                  <a:pt x="16669" y="227269"/>
                </a:lnTo>
                <a:lnTo>
                  <a:pt x="14288" y="224729"/>
                </a:lnTo>
                <a:lnTo>
                  <a:pt x="11906" y="221844"/>
                </a:lnTo>
                <a:lnTo>
                  <a:pt x="9525" y="218519"/>
                </a:lnTo>
                <a:lnTo>
                  <a:pt x="7144" y="214596"/>
                </a:lnTo>
                <a:lnTo>
                  <a:pt x="4763" y="209768"/>
                </a:lnTo>
                <a:lnTo>
                  <a:pt x="2381" y="203253"/>
                </a:lnTo>
                <a:lnTo>
                  <a:pt x="0" y="186928"/>
                </a:lnTo>
                <a:close/>
              </a:path>
            </a:pathLst>
          </a:custGeom>
          <a:solidFill>
            <a:srgbClr val="3FB95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565005" y="952946"/>
            <a:ext cx="13841" cy="339075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58A6FF">
                  <a:alpha val="30000"/>
                </a:srgbClr>
              </a:gs>
              <a:gs pos="80000">
                <a:srgbClr val="58A6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50296" y="952946"/>
            <a:ext cx="4021634" cy="3390751"/>
          </a:xfrm>
          <a:prstGeom prst="roundRect">
            <a:avLst>
              <a:gd name="adj" fmla="val 2959"/>
            </a:avLst>
          </a:prstGeom>
          <a:solidFill>
            <a:srgbClr val="F85149">
              <a:alpha val="6000"/>
            </a:srgbClr>
          </a:solidFill>
          <a:ln w="9525">
            <a:solidFill>
              <a:srgbClr val="F85149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31271" y="1119932"/>
            <a:ext cx="200620" cy="220682"/>
          </a:xfrm>
          <a:prstGeom prst="ellipse">
            <a:avLst/>
          </a:prstGeom>
          <a:solidFill>
            <a:srgbClr val="F85149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5202882" y="1147167"/>
            <a:ext cx="228753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8514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Linearly Separable — XOR Gate</a:t>
            </a:r>
            <a:endParaRPr lang="en-US" sz="96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7143" y="1420862"/>
            <a:ext cx="1607790" cy="16077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9765" y="3114973"/>
            <a:ext cx="3002697" cy="244078"/>
          </a:xfrm>
          <a:prstGeom prst="roundRect">
            <a:avLst>
              <a:gd name="adj" fmla="val 2341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86360" tIns="57150" rIns="86360" bIns="5715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FFC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single line separates all outputs — they interleave diagonally!</a:t>
            </a:r>
            <a:endParaRPr lang="en-US" sz="730" dirty="0"/>
          </a:p>
        </p:txBody>
      </p:sp>
      <p:sp>
        <p:nvSpPr>
          <p:cNvPr id="18" name="Text 14"/>
          <p:cNvSpPr/>
          <p:nvPr/>
        </p:nvSpPr>
        <p:spPr>
          <a:xfrm>
            <a:off x="5289203" y="3114973"/>
            <a:ext cx="19050" cy="244078"/>
          </a:xfrm>
          <a:custGeom>
            <a:avLst/>
            <a:gdLst/>
            <a:ahLst/>
            <a:cxnLst/>
            <a:rect l="l" t="t" r="r" b="b"/>
            <a:pathLst>
              <a:path w="19050" h="244078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29525"/>
                </a:lnTo>
                <a:lnTo>
                  <a:pt x="16669" y="227269"/>
                </a:lnTo>
                <a:lnTo>
                  <a:pt x="14288" y="224729"/>
                </a:lnTo>
                <a:lnTo>
                  <a:pt x="11906" y="221844"/>
                </a:lnTo>
                <a:lnTo>
                  <a:pt x="9525" y="218519"/>
                </a:lnTo>
                <a:lnTo>
                  <a:pt x="7144" y="214596"/>
                </a:lnTo>
                <a:lnTo>
                  <a:pt x="4763" y="209768"/>
                </a:lnTo>
                <a:lnTo>
                  <a:pt x="2381" y="203253"/>
                </a:lnTo>
                <a:lnTo>
                  <a:pt x="0" y="186928"/>
                </a:lnTo>
                <a:close/>
              </a:path>
            </a:pathLst>
          </a:custGeom>
          <a:solidFill>
            <a:srgbClr val="F8514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72070" y="4444008"/>
            <a:ext cx="8399859" cy="441722"/>
          </a:xfrm>
          <a:prstGeom prst="roundRect">
            <a:avLst>
              <a:gd name="adj" fmla="val 16101"/>
            </a:avLst>
          </a:prstGeom>
          <a:solidFill>
            <a:srgbClr val="58A6FF">
              <a:alpha val="7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573" y="4598500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2979" y="4524524"/>
            <a:ext cx="8043675" cy="29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gate's three 0s cluster together — one line slices them from the lone 1. XOR's TRUE points sit at </a:t>
            </a:r>
            <a:pPr algn="l" indent="0" marL="0">
              <a:lnSpc>
                <a:spcPts val="1106"/>
              </a:lnSpc>
              <a:buNone/>
            </a:pPr>
            <a:r>
              <a:rPr lang="en-US" sz="79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diagonal corners</a:t>
            </a:r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forcing any line to misclassify at least one point. This geometric impossibility demands a hidden layer.</a:t>
            </a:r>
            <a:endParaRPr lang="en-US" sz="7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58A6FF"/>
              </a:gs>
              <a:gs pos="100000">
                <a:srgbClr val="58A6FF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08579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1353592"/>
            <a:ext cx="21580" cy="633264"/>
          </a:xfrm>
          <a:custGeom>
            <a:avLst/>
            <a:gdLst/>
            <a:ahLst/>
            <a:cxnLst/>
            <a:rect l="l" t="t" r="r" b="b"/>
            <a:pathLst>
              <a:path w="21580" h="63326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613172"/>
                </a:lnTo>
                <a:lnTo>
                  <a:pt x="18883" y="610407"/>
                </a:lnTo>
                <a:lnTo>
                  <a:pt x="16185" y="607312"/>
                </a:lnTo>
                <a:lnTo>
                  <a:pt x="13488" y="603816"/>
                </a:lnTo>
                <a:lnTo>
                  <a:pt x="10790" y="599805"/>
                </a:lnTo>
                <a:lnTo>
                  <a:pt x="8093" y="595092"/>
                </a:lnTo>
                <a:lnTo>
                  <a:pt x="5395" y="589315"/>
                </a:lnTo>
                <a:lnTo>
                  <a:pt x="2698" y="581545"/>
                </a:lnTo>
                <a:lnTo>
                  <a:pt x="0" y="562144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81835" y="1353592"/>
            <a:ext cx="21580" cy="633264"/>
          </a:xfrm>
          <a:custGeom>
            <a:avLst/>
            <a:gdLst/>
            <a:ahLst/>
            <a:cxnLst/>
            <a:rect l="l" t="t" r="r" b="b"/>
            <a:pathLst>
              <a:path w="21580" h="63326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613172"/>
                </a:lnTo>
                <a:lnTo>
                  <a:pt x="18883" y="610407"/>
                </a:lnTo>
                <a:lnTo>
                  <a:pt x="16185" y="607312"/>
                </a:lnTo>
                <a:lnTo>
                  <a:pt x="13488" y="603816"/>
                </a:lnTo>
                <a:lnTo>
                  <a:pt x="10790" y="599805"/>
                </a:lnTo>
                <a:lnTo>
                  <a:pt x="8093" y="595092"/>
                </a:lnTo>
                <a:lnTo>
                  <a:pt x="5395" y="589315"/>
                </a:lnTo>
                <a:lnTo>
                  <a:pt x="2698" y="581545"/>
                </a:lnTo>
                <a:lnTo>
                  <a:pt x="0" y="562144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6725" y="2092226"/>
            <a:ext cx="21580" cy="633264"/>
          </a:xfrm>
          <a:custGeom>
            <a:avLst/>
            <a:gdLst/>
            <a:ahLst/>
            <a:cxnLst/>
            <a:rect l="l" t="t" r="r" b="b"/>
            <a:pathLst>
              <a:path w="21580" h="63326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613172"/>
                </a:lnTo>
                <a:lnTo>
                  <a:pt x="18883" y="610407"/>
                </a:lnTo>
                <a:lnTo>
                  <a:pt x="16185" y="607312"/>
                </a:lnTo>
                <a:lnTo>
                  <a:pt x="13488" y="603816"/>
                </a:lnTo>
                <a:lnTo>
                  <a:pt x="10790" y="599805"/>
                </a:lnTo>
                <a:lnTo>
                  <a:pt x="8093" y="595092"/>
                </a:lnTo>
                <a:lnTo>
                  <a:pt x="5395" y="589315"/>
                </a:lnTo>
                <a:lnTo>
                  <a:pt x="2698" y="581545"/>
                </a:lnTo>
                <a:lnTo>
                  <a:pt x="0" y="562144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81835" y="2092226"/>
            <a:ext cx="21580" cy="633264"/>
          </a:xfrm>
          <a:custGeom>
            <a:avLst/>
            <a:gdLst/>
            <a:ahLst/>
            <a:cxnLst/>
            <a:rect l="l" t="t" r="r" b="b"/>
            <a:pathLst>
              <a:path w="21580" h="63326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613172"/>
                </a:lnTo>
                <a:lnTo>
                  <a:pt x="18883" y="610407"/>
                </a:lnTo>
                <a:lnTo>
                  <a:pt x="16185" y="607312"/>
                </a:lnTo>
                <a:lnTo>
                  <a:pt x="13488" y="603816"/>
                </a:lnTo>
                <a:lnTo>
                  <a:pt x="10790" y="599805"/>
                </a:lnTo>
                <a:lnTo>
                  <a:pt x="8093" y="595092"/>
                </a:lnTo>
                <a:lnTo>
                  <a:pt x="5395" y="589315"/>
                </a:lnTo>
                <a:lnTo>
                  <a:pt x="2698" y="581545"/>
                </a:lnTo>
                <a:lnTo>
                  <a:pt x="0" y="562144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725" y="2830860"/>
            <a:ext cx="21580" cy="644575"/>
          </a:xfrm>
          <a:custGeom>
            <a:avLst/>
            <a:gdLst/>
            <a:ahLst/>
            <a:cxnLst/>
            <a:rect l="l" t="t" r="r" b="b"/>
            <a:pathLst>
              <a:path w="21580" h="644575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624483"/>
                </a:lnTo>
                <a:lnTo>
                  <a:pt x="18883" y="621718"/>
                </a:lnTo>
                <a:lnTo>
                  <a:pt x="16185" y="618623"/>
                </a:lnTo>
                <a:lnTo>
                  <a:pt x="13488" y="615127"/>
                </a:lnTo>
                <a:lnTo>
                  <a:pt x="10790" y="611116"/>
                </a:lnTo>
                <a:lnTo>
                  <a:pt x="8093" y="606403"/>
                </a:lnTo>
                <a:lnTo>
                  <a:pt x="5395" y="600626"/>
                </a:lnTo>
                <a:lnTo>
                  <a:pt x="2698" y="592856"/>
                </a:lnTo>
                <a:lnTo>
                  <a:pt x="0" y="573455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62045" y="257770"/>
            <a:ext cx="481905" cy="4819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314920"/>
            <a:ext cx="1943555" cy="191691"/>
          </a:xfrm>
          <a:prstGeom prst="roundRect">
            <a:avLst>
              <a:gd name="adj" fmla="val 74865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lIns="165070" tIns="21590" rIns="86360" bIns="21590" rtlCol="0" anchor="ctr"/>
          <a:lstStyle/>
          <a:p>
            <a:pPr algn="l" indent="0" marL="0">
              <a:buNone/>
            </a:pPr>
            <a:r>
              <a:rPr lang="en-US" sz="680" spc="3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FUNDAMENTALS</a:t>
            </a:r>
            <a:endParaRPr lang="en-US" sz="6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951" y="344397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563761"/>
            <a:ext cx="880567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spcAft>
                <a:spcPts val="110"/>
              </a:spcAft>
              <a:buNone/>
            </a:pPr>
            <a:r>
              <a:rPr lang="en-US" sz="2250" spc="-30" kern="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Perceptron's </a:t>
            </a:r>
            <a:pPr algn="l" indent="0" marL="0">
              <a:lnSpc>
                <a:spcPts val="2475"/>
              </a:lnSpc>
              <a:spcAft>
                <a:spcPts val="110"/>
              </a:spcAft>
              <a:buNone/>
            </a:pPr>
            <a:r>
              <a:rPr lang="en-US" sz="2250" b="1" spc="-30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Fatal Flaw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457200" y="921246"/>
            <a:ext cx="9052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i="1" spc="1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neuron can only draw one straight line — and that's not enough for XOR.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7200" y="1193006"/>
            <a:ext cx="8229600" cy="7590"/>
          </a:xfrm>
          <a:prstGeom prst="rect">
            <a:avLst/>
          </a:prstGeom>
          <a:gradFill rotWithShape="1">
            <a:gsLst>
              <a:gs pos="0">
                <a:srgbClr val="58A6FF"/>
              </a:gs>
              <a:gs pos="100000">
                <a:srgbClr val="58A6FF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57200" y="1344067"/>
            <a:ext cx="4014490" cy="652314"/>
          </a:xfrm>
          <a:prstGeom prst="roundRect">
            <a:avLst>
              <a:gd name="adj" fmla="val 10903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81025" y="145390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58A6FF">
              <a:alpha val="15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606" y="1530483"/>
            <a:ext cx="132588" cy="132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7085" y="1453902"/>
            <a:ext cx="371885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10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 Decision Boundary</a:t>
            </a:r>
            <a:endParaRPr lang="en-US" sz="840" dirty="0"/>
          </a:p>
        </p:txBody>
      </p:sp>
      <p:sp>
        <p:nvSpPr>
          <p:cNvPr id="21" name="Text 16"/>
          <p:cNvSpPr/>
          <p:nvPr/>
        </p:nvSpPr>
        <p:spPr>
          <a:xfrm>
            <a:off x="967085" y="1595735"/>
            <a:ext cx="3448395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neuron computes a 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+ threshold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defining 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hyperplane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line in 2D) to separate classes.</a:t>
            </a:r>
            <a:endParaRPr lang="en-US" sz="790" dirty="0"/>
          </a:p>
        </p:txBody>
      </p:sp>
      <p:sp>
        <p:nvSpPr>
          <p:cNvPr id="22" name="Text 17"/>
          <p:cNvSpPr/>
          <p:nvPr/>
        </p:nvSpPr>
        <p:spPr>
          <a:xfrm>
            <a:off x="4672310" y="1344067"/>
            <a:ext cx="4014490" cy="652314"/>
          </a:xfrm>
          <a:prstGeom prst="roundRect">
            <a:avLst>
              <a:gd name="adj" fmla="val 10903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796135" y="145390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58A6FF">
              <a:alpha val="15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2716" y="1530483"/>
            <a:ext cx="132588" cy="132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82195" y="1453902"/>
            <a:ext cx="371885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10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XOR Requires Curves or Combinations</a:t>
            </a:r>
            <a:endParaRPr lang="en-US" sz="840" dirty="0"/>
          </a:p>
        </p:txBody>
      </p:sp>
      <p:sp>
        <p:nvSpPr>
          <p:cNvPr id="26" name="Text 20"/>
          <p:cNvSpPr/>
          <p:nvPr/>
        </p:nvSpPr>
        <p:spPr>
          <a:xfrm>
            <a:off x="5182195" y="1595735"/>
            <a:ext cx="3448395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equation 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w₁·A + w₂·B + b = 0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separate XOR outputs for all four inputs — geometry makes it impossible.</a:t>
            </a:r>
            <a:endParaRPr lang="en-US" sz="790" dirty="0"/>
          </a:p>
        </p:txBody>
      </p:sp>
      <p:sp>
        <p:nvSpPr>
          <p:cNvPr id="27" name="Text 21"/>
          <p:cNvSpPr/>
          <p:nvPr/>
        </p:nvSpPr>
        <p:spPr>
          <a:xfrm>
            <a:off x="457200" y="2082701"/>
            <a:ext cx="4014490" cy="652314"/>
          </a:xfrm>
          <a:prstGeom prst="roundRect">
            <a:avLst>
              <a:gd name="adj" fmla="val 10903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581025" y="219253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58A6FF">
              <a:alpha val="15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7606" y="2269117"/>
            <a:ext cx="132588" cy="1325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67085" y="2192536"/>
            <a:ext cx="371885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10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Minsky &amp; Papert (1969)</a:t>
            </a:r>
            <a:endParaRPr lang="en-US" sz="840" dirty="0"/>
          </a:p>
        </p:txBody>
      </p:sp>
      <p:sp>
        <p:nvSpPr>
          <p:cNvPr id="31" name="Text 24"/>
          <p:cNvSpPr/>
          <p:nvPr/>
        </p:nvSpPr>
        <p:spPr>
          <a:xfrm>
            <a:off x="967085" y="2334369"/>
            <a:ext cx="3448395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proved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perceptrons cannot solve XOR — triggering the first 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years of stalled research funding.</a:t>
            </a:r>
            <a:endParaRPr lang="en-US" sz="790" dirty="0"/>
          </a:p>
        </p:txBody>
      </p:sp>
      <p:sp>
        <p:nvSpPr>
          <p:cNvPr id="32" name="Text 25"/>
          <p:cNvSpPr/>
          <p:nvPr/>
        </p:nvSpPr>
        <p:spPr>
          <a:xfrm>
            <a:off x="4672310" y="2082701"/>
            <a:ext cx="4014490" cy="652314"/>
          </a:xfrm>
          <a:prstGeom prst="roundRect">
            <a:avLst>
              <a:gd name="adj" fmla="val 10903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4796135" y="219253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58A6FF">
              <a:alpha val="15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72716" y="2269117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82195" y="2192536"/>
            <a:ext cx="371885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10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Solution: Add Depth</a:t>
            </a:r>
            <a:endParaRPr lang="en-US" sz="840" dirty="0"/>
          </a:p>
        </p:txBody>
      </p:sp>
      <p:sp>
        <p:nvSpPr>
          <p:cNvPr id="36" name="Text 28"/>
          <p:cNvSpPr/>
          <p:nvPr/>
        </p:nvSpPr>
        <p:spPr>
          <a:xfrm>
            <a:off x="5182195" y="2334369"/>
            <a:ext cx="3448395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layers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neurons compose non-linear boundaries by stacking linear transformations with 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90" dirty="0"/>
          </a:p>
        </p:txBody>
      </p:sp>
      <p:sp>
        <p:nvSpPr>
          <p:cNvPr id="37" name="Text 29"/>
          <p:cNvSpPr/>
          <p:nvPr/>
        </p:nvSpPr>
        <p:spPr>
          <a:xfrm>
            <a:off x="457200" y="2821335"/>
            <a:ext cx="8229600" cy="663625"/>
          </a:xfrm>
          <a:prstGeom prst="roundRect">
            <a:avLst>
              <a:gd name="adj" fmla="val 10717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581025" y="293117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58A6FF">
              <a:alpha val="15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7606" y="3007751"/>
            <a:ext cx="132588" cy="13258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67085" y="2931170"/>
            <a:ext cx="835547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10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Non-linear Activations</a:t>
            </a:r>
            <a:endParaRPr lang="en-US" sz="840" dirty="0"/>
          </a:p>
        </p:txBody>
      </p:sp>
      <p:sp>
        <p:nvSpPr>
          <p:cNvPr id="41" name="Text 32"/>
          <p:cNvSpPr/>
          <p:nvPr/>
        </p:nvSpPr>
        <p:spPr>
          <a:xfrm>
            <a:off x="967085" y="3073003"/>
            <a:ext cx="7747808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like </a:t>
            </a:r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allow neurons to "bend" the feature space, enabling the network to carve complex, non-linear decision boundaries — turning the impossible into the solved.</a:t>
            </a:r>
            <a:endParaRPr lang="en-US" sz="820" dirty="0"/>
          </a:p>
        </p:txBody>
      </p:sp>
      <p:sp>
        <p:nvSpPr>
          <p:cNvPr id="42" name="Text 33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gradFill rotWithShape="1">
            <a:gsLst>
              <a:gs pos="0">
                <a:srgbClr val="58A6FF">
                  <a:alpha val="12000"/>
                </a:srgbClr>
              </a:gs>
              <a:gs pos="5000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4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5"/>
          <p:cNvSpPr/>
          <p:nvPr/>
        </p:nvSpPr>
        <p:spPr>
          <a:xfrm>
            <a:off x="457200" y="4954637"/>
            <a:ext cx="194406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FUNDAMENTALS</a:t>
            </a:r>
            <a:endParaRPr lang="en-US" sz="680" dirty="0"/>
          </a:p>
        </p:txBody>
      </p:sp>
      <p:sp>
        <p:nvSpPr>
          <p:cNvPr id="45" name="Text 36"/>
          <p:cNvSpPr/>
          <p:nvPr/>
        </p:nvSpPr>
        <p:spPr>
          <a:xfrm>
            <a:off x="2295525" y="4905077"/>
            <a:ext cx="558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8A6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2417266" y="4954637"/>
            <a:ext cx="84835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58A6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XOR</a:t>
            </a:r>
            <a:endParaRPr lang="en-US" sz="680" dirty="0"/>
          </a:p>
        </p:txBody>
      </p:sp>
      <p:sp>
        <p:nvSpPr>
          <p:cNvPr id="47" name="Text 38"/>
          <p:cNvSpPr/>
          <p:nvPr/>
        </p:nvSpPr>
        <p:spPr>
          <a:xfrm>
            <a:off x="7747843" y="4954637"/>
            <a:ext cx="103285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Neuron Limitation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58A6FF"/>
              </a:gs>
              <a:gs pos="50000">
                <a:srgbClr val="BC8CFF"/>
              </a:gs>
              <a:gs pos="100000">
                <a:srgbClr val="3FB95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200620"/>
            <a:ext cx="8805672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3"/>
              </a:lnSpc>
              <a:spcAft>
                <a:spcPts val="340"/>
              </a:spcAft>
              <a:buNone/>
            </a:pPr>
            <a:r>
              <a:rPr lang="en-US" sz="2030" spc="30" kern="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 Space </a:t>
            </a:r>
            <a:pPr algn="l" indent="0" marL="0">
              <a:lnSpc>
                <a:spcPts val="2233"/>
              </a:lnSpc>
              <a:spcAft>
                <a:spcPts val="340"/>
              </a:spcAft>
              <a:buNone/>
            </a:pPr>
            <a:r>
              <a:rPr lang="en-US" sz="2030" spc="30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Transformation</a:t>
            </a:r>
            <a:endParaRPr lang="en-US" sz="2030" dirty="0"/>
          </a:p>
        </p:txBody>
      </p:sp>
      <p:sp>
        <p:nvSpPr>
          <p:cNvPr id="6" name="Text 4"/>
          <p:cNvSpPr/>
          <p:nvPr/>
        </p:nvSpPr>
        <p:spPr>
          <a:xfrm>
            <a:off x="457200" y="527298"/>
            <a:ext cx="612999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spc="1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layer remaps inputs into a new space where XOR becomes linearly separable.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342900" y="928241"/>
            <a:ext cx="2552700" cy="3643610"/>
          </a:xfrm>
          <a:prstGeom prst="roundRect">
            <a:avLst>
              <a:gd name="adj" fmla="val 4478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928241"/>
            <a:ext cx="2552700" cy="19050"/>
          </a:xfrm>
          <a:custGeom>
            <a:avLst/>
            <a:gdLst/>
            <a:ahLst/>
            <a:cxnLst/>
            <a:rect l="l" t="t" r="r" b="b"/>
            <a:pathLst>
              <a:path w="2552700" h="19050">
                <a:moveTo>
                  <a:pt x="114300" y="0"/>
                </a:moveTo>
                <a:lnTo>
                  <a:pt x="91090" y="2381"/>
                </a:lnTo>
                <a:lnTo>
                  <a:pt x="81650" y="4763"/>
                </a:lnTo>
                <a:lnTo>
                  <a:pt x="74525" y="7144"/>
                </a:lnTo>
                <a:lnTo>
                  <a:pt x="68620" y="9525"/>
                </a:lnTo>
                <a:lnTo>
                  <a:pt x="63506" y="11906"/>
                </a:lnTo>
                <a:lnTo>
                  <a:pt x="58965" y="14288"/>
                </a:lnTo>
                <a:lnTo>
                  <a:pt x="54864" y="16669"/>
                </a:lnTo>
                <a:lnTo>
                  <a:pt x="51118" y="19050"/>
                </a:lnTo>
                <a:lnTo>
                  <a:pt x="2501582" y="19050"/>
                </a:lnTo>
                <a:lnTo>
                  <a:pt x="2497836" y="16669"/>
                </a:lnTo>
                <a:lnTo>
                  <a:pt x="2493735" y="14288"/>
                </a:lnTo>
                <a:lnTo>
                  <a:pt x="2489194" y="11906"/>
                </a:lnTo>
                <a:lnTo>
                  <a:pt x="2484080" y="9525"/>
                </a:lnTo>
                <a:lnTo>
                  <a:pt x="2478175" y="7144"/>
                </a:lnTo>
                <a:lnTo>
                  <a:pt x="2471050" y="4763"/>
                </a:lnTo>
                <a:lnTo>
                  <a:pt x="2461610" y="2381"/>
                </a:lnTo>
                <a:lnTo>
                  <a:pt x="2438400" y="0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04950" y="832991"/>
            <a:ext cx="228600" cy="251460"/>
          </a:xfrm>
          <a:prstGeom prst="ellipse">
            <a:avLst/>
          </a:prstGeom>
          <a:solidFill>
            <a:srgbClr val="58A6FF"/>
          </a:solidFill>
          <a:ln w="9525">
            <a:solidFill>
              <a:srgbClr val="0D111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304925" y="1304032"/>
            <a:ext cx="628650" cy="628650"/>
          </a:xfrm>
          <a:prstGeom prst="roundRect">
            <a:avLst>
              <a:gd name="adj" fmla="val 22828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9649" y="1478756"/>
            <a:ext cx="279053" cy="27905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2428" y="2076152"/>
            <a:ext cx="1533644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6"/>
              </a:lnSpc>
              <a:spcAft>
                <a:spcPts val="900"/>
              </a:spcAft>
              <a:buNone/>
            </a:pPr>
            <a:r>
              <a:rPr lang="en-US" sz="113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 Space (Original)</a:t>
            </a:r>
            <a:endParaRPr lang="en-US" sz="1130" dirty="0"/>
          </a:p>
        </p:txBody>
      </p:sp>
      <p:sp>
        <p:nvSpPr>
          <p:cNvPr id="13" name="Text 10"/>
          <p:cNvSpPr/>
          <p:nvPr/>
        </p:nvSpPr>
        <p:spPr>
          <a:xfrm>
            <a:off x="522006" y="2362498"/>
            <a:ext cx="2194489" cy="124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3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XOR points scattered diagonally. Green at </a:t>
            </a:r>
            <a:pPr algn="ctr" indent="0" marL="0">
              <a:lnSpc>
                <a:spcPts val="1303"/>
              </a:lnSpc>
              <a:buNone/>
            </a:pPr>
            <a:r>
              <a:rPr lang="en-US" sz="79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</a:t>
            </a:r>
            <a:pPr algn="ctr" indent="0" marL="0">
              <a:lnSpc>
                <a:spcPts val="1303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ctr" indent="0" marL="0">
              <a:lnSpc>
                <a:spcPts val="1303"/>
              </a:lnSpc>
              <a:buNone/>
            </a:pPr>
            <a:r>
              <a:rPr lang="en-US" sz="79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(1,0)</a:t>
            </a:r>
            <a:pPr algn="ctr" indent="0" marL="0">
              <a:lnSpc>
                <a:spcPts val="1303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Red at </a:t>
            </a:r>
            <a:pPr algn="ctr" indent="0" marL="0">
              <a:lnSpc>
                <a:spcPts val="1303"/>
              </a:lnSpc>
              <a:buNone/>
            </a:pPr>
            <a:r>
              <a:rPr lang="en-US" sz="79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</a:t>
            </a:r>
            <a:pPr algn="ctr" indent="0" marL="0">
              <a:lnSpc>
                <a:spcPts val="1303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ctr" indent="0" marL="0">
              <a:lnSpc>
                <a:spcPts val="1303"/>
              </a:lnSpc>
              <a:buNone/>
            </a:pPr>
            <a:r>
              <a:rPr lang="en-US" sz="79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pPr algn="ctr" indent="0" marL="0">
              <a:lnSpc>
                <a:spcPts val="1303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straight line separates them in this raw input space.</a:t>
            </a:r>
            <a:endParaRPr lang="en-US" sz="79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749" y="3675013"/>
            <a:ext cx="964853" cy="696218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45606" y="2714030"/>
            <a:ext cx="300038" cy="4286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95650" y="928241"/>
            <a:ext cx="2552700" cy="3643610"/>
          </a:xfrm>
          <a:prstGeom prst="roundRect">
            <a:avLst>
              <a:gd name="adj" fmla="val 4478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295650" y="928241"/>
            <a:ext cx="2552700" cy="19050"/>
          </a:xfrm>
          <a:custGeom>
            <a:avLst/>
            <a:gdLst/>
            <a:ahLst/>
            <a:cxnLst/>
            <a:rect l="l" t="t" r="r" b="b"/>
            <a:pathLst>
              <a:path w="2552700" h="19050">
                <a:moveTo>
                  <a:pt x="114300" y="0"/>
                </a:moveTo>
                <a:lnTo>
                  <a:pt x="91090" y="2381"/>
                </a:lnTo>
                <a:lnTo>
                  <a:pt x="81650" y="4763"/>
                </a:lnTo>
                <a:lnTo>
                  <a:pt x="74525" y="7144"/>
                </a:lnTo>
                <a:lnTo>
                  <a:pt x="68620" y="9525"/>
                </a:lnTo>
                <a:lnTo>
                  <a:pt x="63506" y="11906"/>
                </a:lnTo>
                <a:lnTo>
                  <a:pt x="58965" y="14288"/>
                </a:lnTo>
                <a:lnTo>
                  <a:pt x="54864" y="16669"/>
                </a:lnTo>
                <a:lnTo>
                  <a:pt x="51118" y="19050"/>
                </a:lnTo>
                <a:lnTo>
                  <a:pt x="2501582" y="19050"/>
                </a:lnTo>
                <a:lnTo>
                  <a:pt x="2497836" y="16669"/>
                </a:lnTo>
                <a:lnTo>
                  <a:pt x="2493735" y="14288"/>
                </a:lnTo>
                <a:lnTo>
                  <a:pt x="2489194" y="11906"/>
                </a:lnTo>
                <a:lnTo>
                  <a:pt x="2484080" y="9525"/>
                </a:lnTo>
                <a:lnTo>
                  <a:pt x="2478175" y="7144"/>
                </a:lnTo>
                <a:lnTo>
                  <a:pt x="2471050" y="4763"/>
                </a:lnTo>
                <a:lnTo>
                  <a:pt x="2461610" y="2381"/>
                </a:lnTo>
                <a:lnTo>
                  <a:pt x="2438400" y="0"/>
                </a:lnTo>
                <a:close/>
              </a:path>
            </a:pathLst>
          </a:custGeom>
          <a:solidFill>
            <a:srgbClr val="BC8C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457700" y="832991"/>
            <a:ext cx="228600" cy="251460"/>
          </a:xfrm>
          <a:prstGeom prst="ellipse">
            <a:avLst/>
          </a:prstGeom>
          <a:solidFill>
            <a:srgbClr val="BC8CFF"/>
          </a:solidFill>
          <a:ln w="9525">
            <a:solidFill>
              <a:srgbClr val="0D111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19" name="Text 14"/>
          <p:cNvSpPr/>
          <p:nvPr/>
        </p:nvSpPr>
        <p:spPr>
          <a:xfrm>
            <a:off x="4257675" y="1304032"/>
            <a:ext cx="628650" cy="628650"/>
          </a:xfrm>
          <a:prstGeom prst="roundRect">
            <a:avLst>
              <a:gd name="adj" fmla="val 22828"/>
            </a:avLst>
          </a:prstGeom>
          <a:solidFill>
            <a:srgbClr val="BC8CFF">
              <a:alpha val="10000"/>
            </a:srgbClr>
          </a:solidFill>
          <a:ln w="9525">
            <a:solidFill>
              <a:srgbClr val="BC8C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32399" y="1478756"/>
            <a:ext cx="279053" cy="27905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43786" y="2076152"/>
            <a:ext cx="1656427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6"/>
              </a:lnSpc>
              <a:spcAft>
                <a:spcPts val="900"/>
              </a:spcAft>
              <a:buNone/>
            </a:pPr>
            <a:r>
              <a:rPr lang="en-US" sz="1130" dirty="0">
                <a:solidFill>
                  <a:srgbClr val="BC8C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Hidden Layer Activation</a:t>
            </a:r>
            <a:endParaRPr lang="en-US" sz="1130" dirty="0"/>
          </a:p>
        </p:txBody>
      </p:sp>
      <p:sp>
        <p:nvSpPr>
          <p:cNvPr id="22" name="Text 16"/>
          <p:cNvSpPr/>
          <p:nvPr/>
        </p:nvSpPr>
        <p:spPr>
          <a:xfrm>
            <a:off x="3474756" y="2362498"/>
            <a:ext cx="2194489" cy="124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3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hidden neurons apply different learned weights and </a:t>
            </a:r>
            <a:pPr algn="ctr" indent="0" marL="0">
              <a:lnSpc>
                <a:spcPts val="1303"/>
              </a:lnSpc>
              <a:buNone/>
            </a:pPr>
            <a:r>
              <a:rPr lang="en-US" sz="79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sigmoid/ReLU activations</a:t>
            </a:r>
            <a:pPr algn="ctr" indent="0" marL="0">
              <a:lnSpc>
                <a:spcPts val="1303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Each neuron draws its own linear boundary. Together they transform the coordinate system into a new feature space.</a:t>
            </a:r>
            <a:endParaRPr lang="en-US" sz="79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89499" y="3675013"/>
            <a:ext cx="964853" cy="696218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98356" y="2714030"/>
            <a:ext cx="300038" cy="4286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48400" y="928241"/>
            <a:ext cx="2552700" cy="3643610"/>
          </a:xfrm>
          <a:prstGeom prst="roundRect">
            <a:avLst>
              <a:gd name="adj" fmla="val 4478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6248400" y="928241"/>
            <a:ext cx="2552700" cy="19050"/>
          </a:xfrm>
          <a:custGeom>
            <a:avLst/>
            <a:gdLst/>
            <a:ahLst/>
            <a:cxnLst/>
            <a:rect l="l" t="t" r="r" b="b"/>
            <a:pathLst>
              <a:path w="2552700" h="19050">
                <a:moveTo>
                  <a:pt x="114300" y="0"/>
                </a:moveTo>
                <a:lnTo>
                  <a:pt x="91090" y="2381"/>
                </a:lnTo>
                <a:lnTo>
                  <a:pt x="81650" y="4763"/>
                </a:lnTo>
                <a:lnTo>
                  <a:pt x="74525" y="7144"/>
                </a:lnTo>
                <a:lnTo>
                  <a:pt x="68620" y="9525"/>
                </a:lnTo>
                <a:lnTo>
                  <a:pt x="63506" y="11906"/>
                </a:lnTo>
                <a:lnTo>
                  <a:pt x="58965" y="14288"/>
                </a:lnTo>
                <a:lnTo>
                  <a:pt x="54864" y="16669"/>
                </a:lnTo>
                <a:lnTo>
                  <a:pt x="51118" y="19050"/>
                </a:lnTo>
                <a:lnTo>
                  <a:pt x="2501582" y="19050"/>
                </a:lnTo>
                <a:lnTo>
                  <a:pt x="2497836" y="16669"/>
                </a:lnTo>
                <a:lnTo>
                  <a:pt x="2493735" y="14288"/>
                </a:lnTo>
                <a:lnTo>
                  <a:pt x="2489194" y="11906"/>
                </a:lnTo>
                <a:lnTo>
                  <a:pt x="2484080" y="9525"/>
                </a:lnTo>
                <a:lnTo>
                  <a:pt x="2478175" y="7144"/>
                </a:lnTo>
                <a:lnTo>
                  <a:pt x="2471050" y="4763"/>
                </a:lnTo>
                <a:lnTo>
                  <a:pt x="2461610" y="2381"/>
                </a:lnTo>
                <a:lnTo>
                  <a:pt x="2438400" y="0"/>
                </a:lnTo>
                <a:close/>
              </a:path>
            </a:pathLst>
          </a:custGeom>
          <a:solidFill>
            <a:srgbClr val="3FB95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7410450" y="832991"/>
            <a:ext cx="228600" cy="251460"/>
          </a:xfrm>
          <a:prstGeom prst="ellipse">
            <a:avLst/>
          </a:prstGeom>
          <a:solidFill>
            <a:srgbClr val="3FB950"/>
          </a:solidFill>
          <a:ln w="9525">
            <a:solidFill>
              <a:srgbClr val="0D111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28" name="Text 20"/>
          <p:cNvSpPr/>
          <p:nvPr/>
        </p:nvSpPr>
        <p:spPr>
          <a:xfrm>
            <a:off x="7210425" y="1304032"/>
            <a:ext cx="628650" cy="628650"/>
          </a:xfrm>
          <a:prstGeom prst="roundRect">
            <a:avLst>
              <a:gd name="adj" fmla="val 22828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85149" y="1478756"/>
            <a:ext cx="279053" cy="27905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35363" y="2076152"/>
            <a:ext cx="1378774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6"/>
              </a:lnSpc>
              <a:spcAft>
                <a:spcPts val="900"/>
              </a:spcAft>
              <a:buNone/>
            </a:pPr>
            <a:r>
              <a:rPr lang="en-US" sz="1130" dirty="0">
                <a:solidFill>
                  <a:srgbClr val="3FB9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Transformed Space</a:t>
            </a:r>
            <a:endParaRPr lang="en-US" sz="1130" dirty="0"/>
          </a:p>
        </p:txBody>
      </p:sp>
      <p:sp>
        <p:nvSpPr>
          <p:cNvPr id="31" name="Text 22"/>
          <p:cNvSpPr/>
          <p:nvPr/>
        </p:nvSpPr>
        <p:spPr>
          <a:xfrm>
            <a:off x="6427506" y="2362498"/>
            <a:ext cx="2194489" cy="124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3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new hidden-layer feature space, the XOR points are now </a:t>
            </a:r>
            <a:pPr algn="ctr" indent="0" marL="0">
              <a:lnSpc>
                <a:spcPts val="1303"/>
              </a:lnSpc>
              <a:buNone/>
            </a:pPr>
            <a:r>
              <a:rPr lang="en-US" sz="79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separable!</a:t>
            </a:r>
            <a:pPr algn="ctr" indent="0" marL="0">
              <a:lnSpc>
                <a:spcPts val="1303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single output neuron can now draw one line to correctly classify all four inputs.</a:t>
            </a:r>
            <a:endParaRPr lang="en-US" sz="79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42249" y="3675013"/>
            <a:ext cx="964853" cy="69621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405063" y="4795986"/>
            <a:ext cx="924967" cy="241310"/>
          </a:xfrm>
          <a:prstGeom prst="roundRect">
            <a:avLst>
              <a:gd name="adj" fmla="val 5947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XOR Inputs</a:t>
            </a:r>
            <a:endParaRPr lang="en-US" sz="680" dirty="0"/>
          </a:p>
        </p:txBody>
      </p:sp>
      <p:sp>
        <p:nvSpPr>
          <p:cNvPr id="34" name="Text 24"/>
          <p:cNvSpPr/>
          <p:nvPr/>
        </p:nvSpPr>
        <p:spPr>
          <a:xfrm>
            <a:off x="3387179" y="4830366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90" dirty="0"/>
          </a:p>
        </p:txBody>
      </p:sp>
      <p:sp>
        <p:nvSpPr>
          <p:cNvPr id="35" name="Text 25"/>
          <p:cNvSpPr/>
          <p:nvPr/>
        </p:nvSpPr>
        <p:spPr>
          <a:xfrm>
            <a:off x="3544491" y="4795986"/>
            <a:ext cx="1343174" cy="241310"/>
          </a:xfrm>
          <a:prstGeom prst="roundRect">
            <a:avLst>
              <a:gd name="adj" fmla="val 59471"/>
            </a:avLst>
          </a:prstGeom>
          <a:solidFill>
            <a:srgbClr val="BC8CFF">
              <a:alpha val="12000"/>
            </a:srgbClr>
          </a:solidFill>
          <a:ln w="9525">
            <a:solidFill>
              <a:srgbClr val="BC8C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Neuron Transforms</a:t>
            </a:r>
            <a:endParaRPr lang="en-US" sz="680" dirty="0"/>
          </a:p>
        </p:txBody>
      </p:sp>
      <p:sp>
        <p:nvSpPr>
          <p:cNvPr id="36" name="Text 26"/>
          <p:cNvSpPr/>
          <p:nvPr/>
        </p:nvSpPr>
        <p:spPr>
          <a:xfrm>
            <a:off x="4944814" y="4830366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90" dirty="0"/>
          </a:p>
        </p:txBody>
      </p:sp>
      <p:sp>
        <p:nvSpPr>
          <p:cNvPr id="37" name="Text 27"/>
          <p:cNvSpPr/>
          <p:nvPr/>
        </p:nvSpPr>
        <p:spPr>
          <a:xfrm>
            <a:off x="5102126" y="4795986"/>
            <a:ext cx="1636812" cy="241310"/>
          </a:xfrm>
          <a:prstGeom prst="roundRect">
            <a:avLst>
              <a:gd name="adj" fmla="val 59471"/>
            </a:avLst>
          </a:prstGeom>
          <a:solidFill>
            <a:srgbClr val="3FB950">
              <a:alpha val="12000"/>
            </a:srgbClr>
          </a:solidFill>
          <a:ln w="9525">
            <a:solidFill>
              <a:srgbClr val="3FB950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Separable Feature Space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57361"/>
            <a:ext cx="1268011" cy="1286466"/>
          </a:xfrm>
          <a:prstGeom prst="rect">
            <a:avLst/>
          </a:prstGeom>
          <a:gradFill rotWithShape="1">
            <a:gsLst>
              <a:gs pos="0">
                <a:srgbClr val="58A6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2070" y="200620"/>
            <a:ext cx="369086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spc="112" kern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ARCHITECTURE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372070" y="347811"/>
            <a:ext cx="3590203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7"/>
              </a:lnSpc>
              <a:buNone/>
            </a:pPr>
            <a:r>
              <a:rPr lang="en-US" sz="19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pPr algn="l" indent="0" marL="0">
              <a:lnSpc>
                <a:spcPts val="2197"/>
              </a:lnSpc>
              <a:buNone/>
            </a:pPr>
            <a:r>
              <a:rPr lang="en-US" sz="191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2-2-1</a:t>
            </a:r>
            <a:pPr algn="l" indent="0" marL="0">
              <a:lnSpc>
                <a:spcPts val="2197"/>
              </a:lnSpc>
              <a:buNone/>
            </a:pPr>
            <a:r>
              <a:rPr lang="en-US" sz="19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Network Architecture</a:t>
            </a:r>
            <a:endParaRPr lang="en-US" sz="1910" dirty="0"/>
          </a:p>
        </p:txBody>
      </p:sp>
      <p:sp>
        <p:nvSpPr>
          <p:cNvPr id="7" name="Text 5"/>
          <p:cNvSpPr/>
          <p:nvPr/>
        </p:nvSpPr>
        <p:spPr>
          <a:xfrm>
            <a:off x="372070" y="683865"/>
            <a:ext cx="42922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58A6FF"/>
              </a:gs>
              <a:gs pos="100000">
                <a:srgbClr val="BC8CF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7770" y="833586"/>
            <a:ext cx="3572470" cy="4152454"/>
          </a:xfrm>
          <a:prstGeom prst="roundRect">
            <a:avLst>
              <a:gd name="adj" fmla="val 2808"/>
            </a:avLst>
          </a:prstGeom>
          <a:solidFill>
            <a:srgbClr val="0D1117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232" y="1705868"/>
            <a:ext cx="641678" cy="216396"/>
          </a:xfrm>
          <a:prstGeom prst="roundRect">
            <a:avLst>
              <a:gd name="adj" fmla="val 66318"/>
            </a:avLst>
          </a:prstGeom>
          <a:solidFill>
            <a:srgbClr val="58A6FF">
              <a:alpha val="7000"/>
            </a:srgbClr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none" lIns="194280" tIns="29210" rIns="86360" bIns="2921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Inputs</a:t>
            </a:r>
            <a:endParaRPr lang="en-US" sz="73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0153" y="1747698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04479" y="1738759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1461790" y="1705868"/>
            <a:ext cx="1014207" cy="216396"/>
          </a:xfrm>
          <a:prstGeom prst="roundRect">
            <a:avLst>
              <a:gd name="adj" fmla="val 66318"/>
            </a:avLst>
          </a:prstGeom>
          <a:solidFill>
            <a:srgbClr val="BC8CFF">
              <a:alpha val="7000"/>
            </a:srgbClr>
          </a:solidFill>
          <a:ln w="9525">
            <a:solidFill>
              <a:srgbClr val="BC8CFF">
                <a:alpha val="30000"/>
              </a:srgbClr>
            </a:solidFill>
          </a:ln>
        </p:spPr>
        <p:txBody>
          <a:bodyPr wrap="none" lIns="194280" tIns="29210" rIns="86360" bIns="2921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BC8C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Hidden (ReLU)</a:t>
            </a:r>
            <a:endParaRPr lang="en-US" sz="73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3711" y="1747698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3261" y="1738759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90" dirty="0"/>
          </a:p>
        </p:txBody>
      </p:sp>
      <p:sp>
        <p:nvSpPr>
          <p:cNvPr id="15" name="Text 11"/>
          <p:cNvSpPr/>
          <p:nvPr/>
        </p:nvSpPr>
        <p:spPr>
          <a:xfrm>
            <a:off x="2670572" y="1705868"/>
            <a:ext cx="815191" cy="216396"/>
          </a:xfrm>
          <a:prstGeom prst="roundRect">
            <a:avLst>
              <a:gd name="adj" fmla="val 66318"/>
            </a:avLst>
          </a:prstGeom>
          <a:solidFill>
            <a:srgbClr val="3FB950">
              <a:alpha val="7000"/>
            </a:srgbClr>
          </a:solidFill>
          <a:ln w="9525">
            <a:solidFill>
              <a:srgbClr val="3FB950">
                <a:alpha val="30000"/>
              </a:srgbClr>
            </a:solidFill>
          </a:ln>
        </p:spPr>
        <p:txBody>
          <a:bodyPr wrap="none" lIns="194280" tIns="29210" rIns="86360" bIns="29210" rtlCol="0" anchor="ctr"/>
          <a:lstStyle/>
          <a:p>
            <a:pPr algn="l" indent="0" marL="0">
              <a:buNone/>
            </a:pPr>
            <a:r>
              <a:rPr lang="en-US" sz="730" dirty="0">
                <a:solidFill>
                  <a:srgbClr val="3FB9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Output (σ)</a:t>
            </a:r>
            <a:endParaRPr lang="en-US" sz="73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32493" y="1747698"/>
            <a:ext cx="132588" cy="132588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1411" y="2008584"/>
            <a:ext cx="2465040" cy="18221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669" y="3901678"/>
            <a:ext cx="453592" cy="251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 Layer</a:t>
            </a:r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neurons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2835604" y="3901678"/>
            <a:ext cx="715304" cy="251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3FB9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Layer</a:t>
            </a:r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neuron (Sigmoid)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4030861" y="1240334"/>
            <a:ext cx="4855369" cy="1549003"/>
          </a:xfrm>
          <a:prstGeom prst="roundRect">
            <a:avLst>
              <a:gd name="adj" fmla="val 5575"/>
            </a:avLst>
          </a:prstGeom>
          <a:solidFill>
            <a:srgbClr val="0D1117"/>
          </a:solidFill>
          <a:ln w="9525">
            <a:solidFill>
              <a:srgbClr val="58A6FF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4284018" y="1364159"/>
            <a:ext cx="128611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73" kern="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PARAMETER COUNTS</a:t>
            </a:r>
            <a:endParaRPr lang="en-US" sz="73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49932" y="1367367"/>
            <a:ext cx="132588" cy="132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83856" y="1770013"/>
            <a:ext cx="4549378" cy="9525"/>
          </a:xfrm>
          <a:prstGeom prst="rect">
            <a:avLst/>
          </a:prstGeom>
          <a:solidFill>
            <a:srgbClr val="8B949E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4183856" y="1657499"/>
            <a:ext cx="57150" cy="5715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8313494" y="1574155"/>
            <a:ext cx="419740" cy="215652"/>
          </a:xfrm>
          <a:prstGeom prst="rect">
            <a:avLst/>
          </a:prstGeom>
          <a:noFill/>
          <a:ln/>
        </p:spPr>
        <p:txBody>
          <a:bodyPr wrap="square" lIns="0" tIns="43180" rIns="57150" bIns="43180" rtlCol="0" anchor="t"/>
          <a:lstStyle/>
          <a:p>
            <a:pPr algn="r" indent="0" marL="0">
              <a:lnSpc>
                <a:spcPts val="730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30" dirty="0"/>
          </a:p>
        </p:txBody>
      </p:sp>
      <p:sp>
        <p:nvSpPr>
          <p:cNvPr id="26" name="Text 19"/>
          <p:cNvSpPr/>
          <p:nvPr/>
        </p:nvSpPr>
        <p:spPr>
          <a:xfrm>
            <a:off x="4183856" y="1980158"/>
            <a:ext cx="4549378" cy="9525"/>
          </a:xfrm>
          <a:prstGeom prst="rect">
            <a:avLst/>
          </a:prstGeom>
          <a:solidFill>
            <a:srgbClr val="8B949E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183856" y="1867644"/>
            <a:ext cx="57150" cy="57150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8313494" y="1779538"/>
            <a:ext cx="419740" cy="220653"/>
          </a:xfrm>
          <a:prstGeom prst="rect">
            <a:avLst/>
          </a:prstGeom>
          <a:noFill/>
          <a:ln/>
        </p:spPr>
        <p:txBody>
          <a:bodyPr wrap="square" lIns="0" tIns="43180" rIns="57150" bIns="43180" rtlCol="0" anchor="t"/>
          <a:lstStyle/>
          <a:p>
            <a:pPr algn="r" indent="0" marL="0">
              <a:lnSpc>
                <a:spcPts val="730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30" dirty="0"/>
          </a:p>
        </p:txBody>
      </p:sp>
      <p:sp>
        <p:nvSpPr>
          <p:cNvPr id="29" name="Text 22"/>
          <p:cNvSpPr/>
          <p:nvPr/>
        </p:nvSpPr>
        <p:spPr>
          <a:xfrm>
            <a:off x="4183856" y="2190304"/>
            <a:ext cx="4549378" cy="9525"/>
          </a:xfrm>
          <a:prstGeom prst="rect">
            <a:avLst/>
          </a:prstGeom>
          <a:solidFill>
            <a:srgbClr val="8B949E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4183856" y="2077789"/>
            <a:ext cx="57150" cy="57150"/>
          </a:xfrm>
          <a:prstGeom prst="ellipse">
            <a:avLst/>
          </a:prstGeom>
          <a:solidFill>
            <a:srgbClr val="BC8C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8313494" y="1989683"/>
            <a:ext cx="419740" cy="220653"/>
          </a:xfrm>
          <a:prstGeom prst="rect">
            <a:avLst/>
          </a:prstGeom>
          <a:noFill/>
          <a:ln/>
        </p:spPr>
        <p:txBody>
          <a:bodyPr wrap="square" lIns="0" tIns="43180" rIns="57150" bIns="43180" rtlCol="0" anchor="t"/>
          <a:lstStyle/>
          <a:p>
            <a:pPr algn="r" indent="0" marL="0">
              <a:lnSpc>
                <a:spcPts val="730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30" dirty="0"/>
          </a:p>
        </p:txBody>
      </p:sp>
      <p:sp>
        <p:nvSpPr>
          <p:cNvPr id="32" name="Text 25"/>
          <p:cNvSpPr/>
          <p:nvPr/>
        </p:nvSpPr>
        <p:spPr>
          <a:xfrm>
            <a:off x="4183856" y="2400449"/>
            <a:ext cx="4549378" cy="9525"/>
          </a:xfrm>
          <a:prstGeom prst="rect">
            <a:avLst/>
          </a:prstGeom>
          <a:solidFill>
            <a:srgbClr val="8B949E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4183856" y="2287935"/>
            <a:ext cx="57150" cy="57150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8313494" y="2199829"/>
            <a:ext cx="419740" cy="220653"/>
          </a:xfrm>
          <a:prstGeom prst="rect">
            <a:avLst/>
          </a:prstGeom>
          <a:noFill/>
          <a:ln/>
        </p:spPr>
        <p:txBody>
          <a:bodyPr wrap="square" lIns="0" tIns="43180" rIns="57150" bIns="43180" rtlCol="0" anchor="t"/>
          <a:lstStyle/>
          <a:p>
            <a:pPr algn="r" indent="0" marL="0">
              <a:lnSpc>
                <a:spcPts val="730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30" dirty="0"/>
          </a:p>
        </p:txBody>
      </p:sp>
      <p:sp>
        <p:nvSpPr>
          <p:cNvPr id="35" name="Text 28"/>
          <p:cNvSpPr/>
          <p:nvPr/>
        </p:nvSpPr>
        <p:spPr>
          <a:xfrm>
            <a:off x="4183856" y="2409974"/>
            <a:ext cx="4220626" cy="255538"/>
          </a:xfrm>
          <a:prstGeom prst="rect">
            <a:avLst/>
          </a:prstGeom>
          <a:noFill/>
          <a:ln/>
        </p:spPr>
        <p:txBody>
          <a:bodyPr wrap="none" lIns="118338" tIns="64770" rIns="57150" bIns="4318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840" dirty="0"/>
          </a:p>
        </p:txBody>
      </p:sp>
      <p:sp>
        <p:nvSpPr>
          <p:cNvPr id="36" name="Text 29"/>
          <p:cNvSpPr/>
          <p:nvPr/>
        </p:nvSpPr>
        <p:spPr>
          <a:xfrm>
            <a:off x="4183856" y="2409974"/>
            <a:ext cx="4137868" cy="9525"/>
          </a:xfrm>
          <a:prstGeom prst="rect">
            <a:avLst/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55141" y="2471449"/>
            <a:ext cx="132588" cy="1325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313494" y="2409974"/>
            <a:ext cx="419740" cy="255538"/>
          </a:xfrm>
          <a:prstGeom prst="rect">
            <a:avLst/>
          </a:prstGeom>
          <a:noFill/>
          <a:ln/>
        </p:spPr>
        <p:txBody>
          <a:bodyPr wrap="none" lIns="0" tIns="64770" rIns="57150" bIns="4318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60" dirty="0"/>
          </a:p>
        </p:txBody>
      </p:sp>
      <p:sp>
        <p:nvSpPr>
          <p:cNvPr id="39" name="Text 31"/>
          <p:cNvSpPr/>
          <p:nvPr/>
        </p:nvSpPr>
        <p:spPr>
          <a:xfrm>
            <a:off x="8321725" y="2409974"/>
            <a:ext cx="411510" cy="9525"/>
          </a:xfrm>
          <a:prstGeom prst="rect">
            <a:avLst/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4030861" y="2889647"/>
            <a:ext cx="4855369" cy="844302"/>
          </a:xfrm>
          <a:prstGeom prst="roundRect">
            <a:avLst>
              <a:gd name="adj" fmla="val 10229"/>
            </a:avLst>
          </a:prstGeom>
          <a:solidFill>
            <a:srgbClr val="0D1117"/>
          </a:solidFill>
          <a:ln w="9525">
            <a:solidFill>
              <a:srgbClr val="BC8C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4284018" y="3013472"/>
            <a:ext cx="145326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73" kern="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ACTIVATION EQUATIONS</a:t>
            </a:r>
            <a:endParaRPr lang="en-US" sz="73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49932" y="3016681"/>
            <a:ext cx="132588" cy="13258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183856" y="3223468"/>
            <a:ext cx="401389" cy="181228"/>
          </a:xfrm>
          <a:prstGeom prst="roundRect">
            <a:avLst>
              <a:gd name="adj" fmla="val 79188"/>
            </a:avLst>
          </a:prstGeom>
          <a:solidFill>
            <a:srgbClr val="BC8CFF">
              <a:alpha val="15000"/>
            </a:srgbClr>
          </a:solidFill>
          <a:ln w="9525">
            <a:solidFill>
              <a:srgbClr val="BC8C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BC8C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Hidden</a:t>
            </a:r>
            <a:endParaRPr lang="en-US" sz="620" dirty="0"/>
          </a:p>
        </p:txBody>
      </p:sp>
      <p:sp>
        <p:nvSpPr>
          <p:cNvPr id="44" name="Text 35"/>
          <p:cNvSpPr/>
          <p:nvPr/>
        </p:nvSpPr>
        <p:spPr>
          <a:xfrm>
            <a:off x="4656237" y="3230612"/>
            <a:ext cx="128152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ReLU(W₁·x + b₁)</a:t>
            </a:r>
            <a:endParaRPr lang="en-US" sz="790" dirty="0"/>
          </a:p>
        </p:txBody>
      </p:sp>
      <p:sp>
        <p:nvSpPr>
          <p:cNvPr id="45" name="Text 36"/>
          <p:cNvSpPr/>
          <p:nvPr/>
        </p:nvSpPr>
        <p:spPr>
          <a:xfrm>
            <a:off x="4183856" y="3445371"/>
            <a:ext cx="388293" cy="181228"/>
          </a:xfrm>
          <a:prstGeom prst="roundRect">
            <a:avLst>
              <a:gd name="adj" fmla="val 79188"/>
            </a:avLst>
          </a:prstGeom>
          <a:solidFill>
            <a:srgbClr val="3FB950">
              <a:alpha val="12000"/>
            </a:srgbClr>
          </a:solidFill>
          <a:ln w="9525">
            <a:solidFill>
              <a:srgbClr val="3FB950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3FB9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</a:t>
            </a:r>
            <a:endParaRPr lang="en-US" sz="620" dirty="0"/>
          </a:p>
        </p:txBody>
      </p:sp>
      <p:sp>
        <p:nvSpPr>
          <p:cNvPr id="46" name="Text 37"/>
          <p:cNvSpPr/>
          <p:nvPr/>
        </p:nvSpPr>
        <p:spPr>
          <a:xfrm>
            <a:off x="4643140" y="3452515"/>
            <a:ext cx="1079183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σ(W₂·H + b₂)</a:t>
            </a:r>
            <a:endParaRPr lang="en-US" sz="790" dirty="0"/>
          </a:p>
        </p:txBody>
      </p:sp>
      <p:sp>
        <p:nvSpPr>
          <p:cNvPr id="47" name="Text 38"/>
          <p:cNvSpPr/>
          <p:nvPr/>
        </p:nvSpPr>
        <p:spPr>
          <a:xfrm>
            <a:off x="4030861" y="3834259"/>
            <a:ext cx="4855369" cy="744885"/>
          </a:xfrm>
          <a:prstGeom prst="roundRect">
            <a:avLst>
              <a:gd name="adj" fmla="val 11594"/>
            </a:avLst>
          </a:prstGeom>
          <a:solidFill>
            <a:srgbClr val="0D1117"/>
          </a:solidFill>
          <a:ln w="9525">
            <a:solidFill>
              <a:srgbClr val="3FB950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9"/>
          <p:cNvSpPr/>
          <p:nvPr/>
        </p:nvSpPr>
        <p:spPr>
          <a:xfrm>
            <a:off x="4284018" y="3958084"/>
            <a:ext cx="164349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73" kern="0" dirty="0">
                <a:solidFill>
                  <a:srgbClr val="3FB950">
                    <a:alpha val="8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JUST 9 PARAMETERS?</a:t>
            </a:r>
            <a:endParaRPr lang="en-US" sz="73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49932" y="3961293"/>
            <a:ext cx="132588" cy="132588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4183856" y="4168080"/>
            <a:ext cx="4640366" cy="3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weights + 3 biases</a:t>
            </a:r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sufficient to represent the XOR function exactly. The hidden layer transforms the input space so the output neuron needs only </a:t>
            </a:r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linear boundary</a:t>
            </a:r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classify correctly.</a:t>
            </a:r>
            <a:endParaRPr lang="en-US" sz="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7460"/>
            <a:ext cx="721846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7"/>
              </a:lnSpc>
              <a:buNone/>
            </a:pPr>
            <a:r>
              <a:rPr lang="en-US" sz="1580" b="1" spc="-16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Two Decision Boundaries Solve XOR</a:t>
            </a:r>
            <a:endParaRPr lang="en-US" sz="1580" dirty="0"/>
          </a:p>
        </p:txBody>
      </p:sp>
      <p:sp>
        <p:nvSpPr>
          <p:cNvPr id="3" name="Text 1"/>
          <p:cNvSpPr/>
          <p:nvPr/>
        </p:nvSpPr>
        <p:spPr>
          <a:xfrm>
            <a:off x="228600" y="401985"/>
            <a:ext cx="7420853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hidden neuron creates </a:t>
            </a:r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linear boundary. The output neuron learns to combine them — classifying the region </a:t>
            </a:r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two boundaries as </a:t>
            </a:r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7229326" y="403473"/>
            <a:ext cx="79285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1 (TRUE)</a:t>
            </a:r>
            <a:endParaRPr lang="en-US" sz="68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0032" y="401845"/>
            <a:ext cx="132588" cy="132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60990" y="403473"/>
            <a:ext cx="82985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0 (FALSE)</a:t>
            </a:r>
            <a:endParaRPr lang="en-US" sz="68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1696" y="401845"/>
            <a:ext cx="132588" cy="132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" y="631627"/>
            <a:ext cx="2550021" cy="3911650"/>
          </a:xfrm>
          <a:prstGeom prst="roundRect">
            <a:avLst>
              <a:gd name="adj" fmla="val 33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63191" y="747415"/>
            <a:ext cx="70991" cy="70991"/>
          </a:xfrm>
          <a:prstGeom prst="ellipse">
            <a:avLst/>
          </a:prstGeom>
          <a:solidFill>
            <a:srgbClr val="BC8C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882" y="894308"/>
            <a:ext cx="1275308" cy="12753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5178" y="2198787"/>
            <a:ext cx="1056864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draws a diagonal splitting</a:t>
            </a:r>
            <a:br/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↔ bottom-right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2878931" y="631627"/>
            <a:ext cx="2550021" cy="3911650"/>
          </a:xfrm>
          <a:prstGeom prst="roundRect">
            <a:avLst>
              <a:gd name="adj" fmla="val 33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3412182" y="747415"/>
            <a:ext cx="70991" cy="70991"/>
          </a:xfrm>
          <a:prstGeom prst="ellipse">
            <a:avLst/>
          </a:prstGeom>
          <a:solidFill>
            <a:srgbClr val="F0883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16213" y="894308"/>
            <a:ext cx="1275308" cy="127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71772" y="2198787"/>
            <a:ext cx="1164190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draws the opposite diagonal</a:t>
            </a:r>
            <a:br/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 ↔ top-right</a:t>
            </a:r>
            <a:endParaRPr lang="en-US" sz="650" dirty="0"/>
          </a:p>
        </p:txBody>
      </p:sp>
      <p:sp>
        <p:nvSpPr>
          <p:cNvPr id="16" name="Text 10"/>
          <p:cNvSpPr/>
          <p:nvPr/>
        </p:nvSpPr>
        <p:spPr>
          <a:xfrm>
            <a:off x="5529263" y="631627"/>
            <a:ext cx="3386138" cy="3911650"/>
          </a:xfrm>
          <a:prstGeom prst="roundRect">
            <a:avLst>
              <a:gd name="adj" fmla="val 2550"/>
            </a:avLst>
          </a:prstGeom>
          <a:gradFill rotWithShape="1">
            <a:gsLst>
              <a:gs pos="80000">
                <a:srgbClr val="161B22"/>
              </a:gs>
              <a:gs pos="100000">
                <a:srgbClr val="3FB950">
                  <a:alpha val="5000"/>
                </a:srgbClr>
              </a:gs>
            </a:gsLst>
            <a:lin ang="2700000" scaled="1"/>
          </a:gradFill>
          <a:ln w="9525">
            <a:solidFill>
              <a:srgbClr val="3FB950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6296769" y="755898"/>
            <a:ext cx="70991" cy="70991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93669" y="900113"/>
            <a:ext cx="1457325" cy="123244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10367" y="2146399"/>
            <a:ext cx="1423928" cy="22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37"/>
              </a:lnSpc>
              <a:buNone/>
            </a:pPr>
            <a:r>
              <a:rPr lang="en-US" sz="62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boundaries carve out exactly the</a:t>
            </a:r>
            <a:br/>
            <a:pPr algn="ctr" indent="0" marL="0">
              <a:lnSpc>
                <a:spcPts val="837"/>
              </a:lnSpc>
              <a:buNone/>
            </a:pPr>
            <a:r>
              <a:rPr lang="en-US" sz="62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TRUE regions — </a:t>
            </a:r>
            <a:pPr algn="ctr" indent="0" marL="0">
              <a:lnSpc>
                <a:spcPts val="837"/>
              </a:lnSpc>
              <a:buNone/>
            </a:pPr>
            <a:r>
              <a:rPr lang="en-US" sz="62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solved!</a:t>
            </a:r>
            <a:endParaRPr lang="en-US" sz="620" dirty="0"/>
          </a:p>
        </p:txBody>
      </p:sp>
      <p:sp>
        <p:nvSpPr>
          <p:cNvPr id="20" name="Text 13"/>
          <p:cNvSpPr/>
          <p:nvPr/>
        </p:nvSpPr>
        <p:spPr>
          <a:xfrm>
            <a:off x="228600" y="4614267"/>
            <a:ext cx="8686800" cy="414933"/>
          </a:xfrm>
          <a:prstGeom prst="roundRect">
            <a:avLst>
              <a:gd name="adj" fmla="val 17140"/>
            </a:avLst>
          </a:prstGeom>
          <a:gradFill rotWithShape="1">
            <a:gsLst>
              <a:gs pos="0">
                <a:srgbClr val="58A6FF">
                  <a:alpha val="10000"/>
                </a:srgbClr>
              </a:gs>
              <a:gs pos="50000">
                <a:srgbClr val="BC8CFF">
                  <a:alpha val="10000"/>
                </a:srgbClr>
              </a:gs>
              <a:gs pos="100000">
                <a:srgbClr val="F0883E">
                  <a:alpha val="10000"/>
                </a:srgbClr>
              </a:gs>
            </a:gsLst>
            <a:lin ang="0" scaled="1"/>
          </a:gra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438745" y="4707434"/>
            <a:ext cx="228600" cy="228600"/>
          </a:xfrm>
          <a:prstGeom prst="ellipse">
            <a:avLst/>
          </a:prstGeom>
          <a:solidFill>
            <a:srgbClr val="58A6FF">
              <a:alpha val="15000"/>
            </a:srgbClr>
          </a:solidFill>
          <a:ln w="9525">
            <a:solidFill>
              <a:srgbClr val="58A6FF"/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6751" y="4755440"/>
            <a:ext cx="132588" cy="1325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38336" y="4688532"/>
            <a:ext cx="1049274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(A, B) fed to both H₁ and H₂</a:t>
            </a:r>
            <a:endParaRPr lang="en-US" sz="700" dirty="0"/>
          </a:p>
        </p:txBody>
      </p:sp>
      <p:sp>
        <p:nvSpPr>
          <p:cNvPr id="24" name="Text 16"/>
          <p:cNvSpPr/>
          <p:nvPr/>
        </p:nvSpPr>
        <p:spPr>
          <a:xfrm>
            <a:off x="1895177" y="4714131"/>
            <a:ext cx="15765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30" dirty="0"/>
          </a:p>
        </p:txBody>
      </p:sp>
      <p:sp>
        <p:nvSpPr>
          <p:cNvPr id="25" name="Text 17"/>
          <p:cNvSpPr/>
          <p:nvPr/>
        </p:nvSpPr>
        <p:spPr>
          <a:xfrm>
            <a:off x="2166640" y="4707434"/>
            <a:ext cx="228600" cy="228600"/>
          </a:xfrm>
          <a:prstGeom prst="ellipse">
            <a:avLst/>
          </a:prstGeom>
          <a:solidFill>
            <a:srgbClr val="BC8CFF">
              <a:alpha val="15000"/>
            </a:srgbClr>
          </a:solidFill>
          <a:ln w="9525">
            <a:solidFill>
              <a:srgbClr val="BC8CFF"/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14646" y="4755440"/>
            <a:ext cx="132588" cy="13258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466231" y="4688532"/>
            <a:ext cx="1525485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fires a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boundary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splits diagonally ↘</a:t>
            </a:r>
            <a:endParaRPr lang="en-US" sz="700" dirty="0"/>
          </a:p>
        </p:txBody>
      </p:sp>
      <p:sp>
        <p:nvSpPr>
          <p:cNvPr id="28" name="Text 19"/>
          <p:cNvSpPr/>
          <p:nvPr/>
        </p:nvSpPr>
        <p:spPr>
          <a:xfrm>
            <a:off x="4089946" y="4714131"/>
            <a:ext cx="92169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30" dirty="0"/>
          </a:p>
        </p:txBody>
      </p:sp>
      <p:sp>
        <p:nvSpPr>
          <p:cNvPr id="29" name="Text 20"/>
          <p:cNvSpPr/>
          <p:nvPr/>
        </p:nvSpPr>
        <p:spPr>
          <a:xfrm>
            <a:off x="4301877" y="4707434"/>
            <a:ext cx="228600" cy="228600"/>
          </a:xfrm>
          <a:prstGeom prst="ellipse">
            <a:avLst/>
          </a:prstGeom>
          <a:solidFill>
            <a:srgbClr val="F0883E">
              <a:alpha val="15000"/>
            </a:srgbClr>
          </a:solidFill>
          <a:ln w="9525">
            <a:solidFill>
              <a:srgbClr val="F0883E"/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49883" y="4755440"/>
            <a:ext cx="132588" cy="13258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601468" y="4688532"/>
            <a:ext cx="1593494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fires an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boundary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splits diagonally ↗</a:t>
            </a:r>
            <a:endParaRPr lang="en-US" sz="700" dirty="0"/>
          </a:p>
        </p:txBody>
      </p:sp>
      <p:sp>
        <p:nvSpPr>
          <p:cNvPr id="32" name="Text 22"/>
          <p:cNvSpPr/>
          <p:nvPr/>
        </p:nvSpPr>
        <p:spPr>
          <a:xfrm>
            <a:off x="6291858" y="4714131"/>
            <a:ext cx="15765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30" dirty="0"/>
          </a:p>
        </p:txBody>
      </p:sp>
      <p:sp>
        <p:nvSpPr>
          <p:cNvPr id="33" name="Text 23"/>
          <p:cNvSpPr/>
          <p:nvPr/>
        </p:nvSpPr>
        <p:spPr>
          <a:xfrm>
            <a:off x="6563320" y="4707434"/>
            <a:ext cx="228600" cy="228600"/>
          </a:xfrm>
          <a:prstGeom prst="ellipse">
            <a:avLst/>
          </a:prstGeom>
          <a:solidFill>
            <a:srgbClr val="3FB950">
              <a:alpha val="18000"/>
            </a:srgbClr>
          </a:solidFill>
          <a:ln w="9525">
            <a:solidFill>
              <a:srgbClr val="3FB950"/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1326" y="4755440"/>
            <a:ext cx="132588" cy="13258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862911" y="4688532"/>
            <a:ext cx="1879190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neuron combines both →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classified perfectly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571280" cy="3429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857970"/>
            <a:ext cx="4286250" cy="328553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857250"/>
            <a:ext cx="4857750" cy="42862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0"/>
            <a:ext cx="29170" cy="857250"/>
          </a:xfrm>
          <a:prstGeom prst="rect">
            <a:avLst/>
          </a:prstGeom>
          <a:gradFill rotWithShape="1">
            <a:gsLst>
              <a:gs pos="0">
                <a:srgbClr val="58A6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457200" y="411807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702" y="495309"/>
            <a:ext cx="132588" cy="132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7101" y="314920"/>
            <a:ext cx="6026191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97"/>
              </a:lnSpc>
              <a:buNone/>
            </a:pPr>
            <a:r>
              <a:rPr lang="en-US" sz="19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Tracing XOR: Input </a:t>
            </a:r>
            <a:pPr algn="l" indent="0" marL="0">
              <a:lnSpc>
                <a:spcPts val="2197"/>
              </a:lnSpc>
              <a:buNone/>
            </a:pPr>
            <a:r>
              <a:rPr lang="en-US" sz="169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(1, 0)</a:t>
            </a:r>
            <a:pPr algn="l" indent="0" marL="0">
              <a:lnSpc>
                <a:spcPts val="2197"/>
              </a:lnSpc>
              <a:buNone/>
            </a:pPr>
            <a:r>
              <a:rPr lang="en-US" sz="19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→ Expected Output: </a:t>
            </a:r>
            <a:pPr algn="l" indent="0" marL="0">
              <a:lnSpc>
                <a:spcPts val="2197"/>
              </a:lnSpc>
              <a:buNone/>
            </a:pPr>
            <a:r>
              <a:rPr lang="en-US" sz="169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910" dirty="0"/>
          </a:p>
        </p:txBody>
      </p:sp>
      <p:sp>
        <p:nvSpPr>
          <p:cNvPr id="11" name="Text 5"/>
          <p:cNvSpPr/>
          <p:nvPr/>
        </p:nvSpPr>
        <p:spPr>
          <a:xfrm>
            <a:off x="857101" y="636984"/>
            <a:ext cx="61951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math through the network — step by step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457200" y="879425"/>
            <a:ext cx="8229600" cy="7590"/>
          </a:xfrm>
          <a:prstGeom prst="rect">
            <a:avLst/>
          </a:prstGeom>
          <a:gradFill rotWithShape="1">
            <a:gsLst>
              <a:gs pos="0">
                <a:srgbClr val="58A6FF">
                  <a:alpha val="40000"/>
                </a:srgbClr>
              </a:gs>
              <a:gs pos="50000">
                <a:srgbClr val="58A6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4565079" y="1057870"/>
            <a:ext cx="13841" cy="3942159"/>
          </a:xfrm>
          <a:prstGeom prst="rect">
            <a:avLst/>
          </a:prstGeom>
          <a:gradFill rotWithShape="1">
            <a:gsLst>
              <a:gs pos="0">
                <a:srgbClr val="58A6FF">
                  <a:alpha val="15000"/>
                </a:srgbClr>
              </a:gs>
              <a:gs pos="20000">
                <a:srgbClr val="58A6FF">
                  <a:alpha val="35000"/>
                </a:srgbClr>
              </a:gs>
              <a:gs pos="45000">
                <a:srgbClr val="BC8CFF">
                  <a:alpha val="35000"/>
                </a:srgbClr>
              </a:gs>
              <a:gs pos="68000">
                <a:srgbClr val="F0883E">
                  <a:alpha val="35000"/>
                </a:srgbClr>
              </a:gs>
              <a:gs pos="90000">
                <a:srgbClr val="3FB950">
                  <a:alpha val="35000"/>
                </a:srgbClr>
              </a:gs>
              <a:gs pos="100000">
                <a:srgbClr val="3FB950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885230" y="1225153"/>
            <a:ext cx="3286720" cy="1035844"/>
          </a:xfrm>
          <a:prstGeom prst="roundRect">
            <a:avLst>
              <a:gd name="adj" fmla="val 8337"/>
            </a:avLst>
          </a:prstGeom>
          <a:solidFill>
            <a:srgbClr val="58A6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4152900" y="1225153"/>
            <a:ext cx="19050" cy="1035844"/>
          </a:xfrm>
          <a:custGeom>
            <a:avLst/>
            <a:gdLst/>
            <a:ahLst/>
            <a:cxnLst/>
            <a:rect l="l" t="t" r="r" b="b"/>
            <a:pathLst>
              <a:path w="19050" h="1035844">
                <a:moveTo>
                  <a:pt x="0" y="32254"/>
                </a:moveTo>
                <a:lnTo>
                  <a:pt x="2381" y="35358"/>
                </a:lnTo>
                <a:lnTo>
                  <a:pt x="4763" y="38783"/>
                </a:lnTo>
                <a:lnTo>
                  <a:pt x="7144" y="42603"/>
                </a:lnTo>
                <a:lnTo>
                  <a:pt x="9525" y="46934"/>
                </a:lnTo>
                <a:lnTo>
                  <a:pt x="11906" y="51968"/>
                </a:lnTo>
                <a:lnTo>
                  <a:pt x="14288" y="58078"/>
                </a:lnTo>
                <a:lnTo>
                  <a:pt x="16669" y="66220"/>
                </a:lnTo>
                <a:lnTo>
                  <a:pt x="19050" y="86360"/>
                </a:lnTo>
                <a:lnTo>
                  <a:pt x="19050" y="949484"/>
                </a:lnTo>
                <a:lnTo>
                  <a:pt x="16669" y="969624"/>
                </a:lnTo>
                <a:lnTo>
                  <a:pt x="14288" y="977766"/>
                </a:lnTo>
                <a:lnTo>
                  <a:pt x="11906" y="983876"/>
                </a:lnTo>
                <a:lnTo>
                  <a:pt x="9525" y="988910"/>
                </a:lnTo>
                <a:lnTo>
                  <a:pt x="7144" y="993241"/>
                </a:lnTo>
                <a:lnTo>
                  <a:pt x="4763" y="997061"/>
                </a:lnTo>
                <a:lnTo>
                  <a:pt x="2381" y="1000485"/>
                </a:lnTo>
                <a:lnTo>
                  <a:pt x="0" y="1003589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722709" y="1334988"/>
            <a:ext cx="330205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40"/>
              </a:lnSpc>
              <a:spcAft>
                <a:spcPts val="280"/>
              </a:spcAft>
              <a:buNone/>
            </a:pPr>
            <a:r>
              <a:rPr lang="en-US" sz="96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Received</a:t>
            </a:r>
            <a:endParaRPr lang="en-US" sz="96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1586" y="1360075"/>
            <a:ext cx="132588" cy="132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2858" y="1553170"/>
            <a:ext cx="30619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0"/>
              </a:lnSpc>
              <a:buNone/>
            </a:pPr>
            <a:r>
              <a:rPr lang="en-US" sz="650" dirty="0">
                <a:solidFill>
                  <a:srgbClr val="58A6FF"/>
                </a:solidFill>
                <a:highlight>
                  <a:srgbClr val="58A6FF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= 1</a:t>
            </a:r>
            <a:pPr algn="r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r" indent="0" marL="0">
              <a:lnSpc>
                <a:spcPts val="1140"/>
              </a:lnSpc>
              <a:buNone/>
            </a:pPr>
            <a:r>
              <a:rPr lang="en-US" sz="650" dirty="0">
                <a:solidFill>
                  <a:srgbClr val="58A6FF"/>
                </a:solidFill>
                <a:highlight>
                  <a:srgbClr val="58A6FF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= 0</a:t>
            </a:r>
            <a:pPr algn="r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fed simultaneously into both hidden neurons. Raw binary inputs — no transformation yet.</a:t>
            </a:r>
            <a:endParaRPr lang="en-US" sz="760" dirty="0"/>
          </a:p>
        </p:txBody>
      </p:sp>
      <p:sp>
        <p:nvSpPr>
          <p:cNvPr id="19" name="Text 12"/>
          <p:cNvSpPr/>
          <p:nvPr/>
        </p:nvSpPr>
        <p:spPr>
          <a:xfrm>
            <a:off x="3087484" y="1957536"/>
            <a:ext cx="6335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80" dirty="0"/>
          </a:p>
        </p:txBody>
      </p:sp>
      <p:sp>
        <p:nvSpPr>
          <p:cNvPr id="20" name="Text 13"/>
          <p:cNvSpPr/>
          <p:nvPr/>
        </p:nvSpPr>
        <p:spPr>
          <a:xfrm>
            <a:off x="3194000" y="1893391"/>
            <a:ext cx="257770" cy="283547"/>
          </a:xfrm>
          <a:prstGeom prst="ellipse">
            <a:avLst/>
          </a:prstGeom>
          <a:solidFill>
            <a:srgbClr val="58A6FF">
              <a:alpha val="18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3482117" y="1925985"/>
            <a:ext cx="14095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515"/>
              </a:lnSpc>
              <a:buNone/>
            </a:pPr>
            <a:r>
              <a:rPr lang="en-US" sz="101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10" dirty="0"/>
          </a:p>
        </p:txBody>
      </p:sp>
      <p:sp>
        <p:nvSpPr>
          <p:cNvPr id="22" name="Text 15"/>
          <p:cNvSpPr/>
          <p:nvPr/>
        </p:nvSpPr>
        <p:spPr>
          <a:xfrm>
            <a:off x="3666232" y="1893391"/>
            <a:ext cx="257770" cy="283547"/>
          </a:xfrm>
          <a:prstGeom prst="ellipse">
            <a:avLst/>
          </a:prstGeom>
          <a:solidFill>
            <a:srgbClr val="58A6FF">
              <a:alpha val="18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961403" y="1957536"/>
            <a:ext cx="6335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80" dirty="0"/>
          </a:p>
        </p:txBody>
      </p:sp>
      <p:sp>
        <p:nvSpPr>
          <p:cNvPr id="24" name="Text 17"/>
          <p:cNvSpPr/>
          <p:nvPr/>
        </p:nvSpPr>
        <p:spPr>
          <a:xfrm>
            <a:off x="4972050" y="2099072"/>
            <a:ext cx="3357860" cy="1002506"/>
          </a:xfrm>
          <a:prstGeom prst="roundRect">
            <a:avLst>
              <a:gd name="adj" fmla="val 8614"/>
            </a:avLst>
          </a:prstGeom>
          <a:solidFill>
            <a:srgbClr val="BC8C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4972050" y="2099072"/>
            <a:ext cx="19050" cy="1002506"/>
          </a:xfrm>
          <a:custGeom>
            <a:avLst/>
            <a:gdLst/>
            <a:ahLst/>
            <a:cxnLst/>
            <a:rect l="l" t="t" r="r" b="b"/>
            <a:pathLst>
              <a:path w="19050" h="1002506">
                <a:moveTo>
                  <a:pt x="0" y="86360"/>
                </a:moveTo>
                <a:lnTo>
                  <a:pt x="2381" y="66220"/>
                </a:lnTo>
                <a:lnTo>
                  <a:pt x="4763" y="58078"/>
                </a:lnTo>
                <a:lnTo>
                  <a:pt x="7144" y="51968"/>
                </a:lnTo>
                <a:lnTo>
                  <a:pt x="9525" y="46934"/>
                </a:lnTo>
                <a:lnTo>
                  <a:pt x="11906" y="42603"/>
                </a:lnTo>
                <a:lnTo>
                  <a:pt x="14288" y="38783"/>
                </a:lnTo>
                <a:lnTo>
                  <a:pt x="16669" y="35358"/>
                </a:lnTo>
                <a:lnTo>
                  <a:pt x="19050" y="32254"/>
                </a:lnTo>
                <a:lnTo>
                  <a:pt x="19050" y="970252"/>
                </a:lnTo>
                <a:lnTo>
                  <a:pt x="16669" y="967148"/>
                </a:lnTo>
                <a:lnTo>
                  <a:pt x="14288" y="963724"/>
                </a:lnTo>
                <a:lnTo>
                  <a:pt x="11906" y="959903"/>
                </a:lnTo>
                <a:lnTo>
                  <a:pt x="9525" y="955573"/>
                </a:lnTo>
                <a:lnTo>
                  <a:pt x="7144" y="950539"/>
                </a:lnTo>
                <a:lnTo>
                  <a:pt x="4763" y="944429"/>
                </a:lnTo>
                <a:lnTo>
                  <a:pt x="2381" y="936286"/>
                </a:lnTo>
                <a:lnTo>
                  <a:pt x="0" y="916146"/>
                </a:lnTo>
                <a:close/>
              </a:path>
            </a:pathLst>
          </a:custGeom>
          <a:solidFill>
            <a:srgbClr val="BC8C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5119241" y="2208907"/>
            <a:ext cx="338030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280"/>
              </a:spcAft>
              <a:buNone/>
            </a:pPr>
            <a:r>
              <a:rPr lang="en-US" sz="96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Computation</a:t>
            </a:r>
            <a:endParaRPr lang="en-US" sz="96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95810" y="2233994"/>
            <a:ext cx="132588" cy="132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19241" y="2427089"/>
            <a:ext cx="3134463" cy="33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650" dirty="0">
                <a:solidFill>
                  <a:srgbClr val="BC8CFF"/>
                </a:solidFill>
                <a:highlight>
                  <a:srgbClr val="BC8CFF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H₁ = ReLU(w₁·A + w₂·B + b₁)</a:t>
            </a:r>
            <a:br/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140"/>
              </a:lnSpc>
              <a:buNone/>
            </a:pPr>
            <a:r>
              <a:rPr lang="en-US" sz="650" dirty="0">
                <a:solidFill>
                  <a:srgbClr val="BC8CFF"/>
                </a:solidFill>
                <a:highlight>
                  <a:srgbClr val="BC8CFF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H₂ = ReLU(w₃·A + w₄·B + b₂)</a:t>
            </a:r>
            <a:endParaRPr lang="en-US" sz="760" dirty="0"/>
          </a:p>
        </p:txBody>
      </p:sp>
      <p:sp>
        <p:nvSpPr>
          <p:cNvPr id="29" name="Text 21"/>
          <p:cNvSpPr/>
          <p:nvPr/>
        </p:nvSpPr>
        <p:spPr>
          <a:xfrm>
            <a:off x="5119241" y="2815530"/>
            <a:ext cx="559400" cy="176213"/>
          </a:xfrm>
          <a:prstGeom prst="roundRect">
            <a:avLst>
              <a:gd name="adj" fmla="val 81441"/>
            </a:avLst>
          </a:prstGeom>
          <a:solidFill>
            <a:srgbClr val="BC8CFF">
              <a:alpha val="15000"/>
            </a:srgbClr>
          </a:solidFill>
          <a:ln w="9525">
            <a:solidFill>
              <a:srgbClr val="BC8CFF">
                <a:alpha val="3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H₁ ≈ 1.0</a:t>
            </a:r>
            <a:endParaRPr lang="en-US" sz="680" dirty="0"/>
          </a:p>
        </p:txBody>
      </p:sp>
      <p:sp>
        <p:nvSpPr>
          <p:cNvPr id="30" name="Text 22"/>
          <p:cNvSpPr/>
          <p:nvPr/>
        </p:nvSpPr>
        <p:spPr>
          <a:xfrm>
            <a:off x="5738664" y="2815530"/>
            <a:ext cx="559400" cy="176213"/>
          </a:xfrm>
          <a:prstGeom prst="roundRect">
            <a:avLst>
              <a:gd name="adj" fmla="val 81441"/>
            </a:avLst>
          </a:prstGeom>
          <a:solidFill>
            <a:srgbClr val="BC8CFF">
              <a:alpha val="10000"/>
            </a:srgbClr>
          </a:solidFill>
          <a:ln w="9525">
            <a:solidFill>
              <a:srgbClr val="BC8CFF">
                <a:alpha val="15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H₂ ≈ 0.0</a:t>
            </a:r>
            <a:endParaRPr lang="en-US" sz="680" dirty="0"/>
          </a:p>
        </p:txBody>
      </p:sp>
      <p:sp>
        <p:nvSpPr>
          <p:cNvPr id="31" name="Text 23"/>
          <p:cNvSpPr/>
          <p:nvPr/>
        </p:nvSpPr>
        <p:spPr>
          <a:xfrm>
            <a:off x="6358086" y="2824311"/>
            <a:ext cx="101648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pattern recognized ✓</a:t>
            </a:r>
            <a:endParaRPr lang="en-US" sz="680" dirty="0"/>
          </a:p>
        </p:txBody>
      </p:sp>
      <p:sp>
        <p:nvSpPr>
          <p:cNvPr id="32" name="Text 24"/>
          <p:cNvSpPr/>
          <p:nvPr/>
        </p:nvSpPr>
        <p:spPr>
          <a:xfrm>
            <a:off x="885230" y="2952452"/>
            <a:ext cx="3286720" cy="1010245"/>
          </a:xfrm>
          <a:prstGeom prst="roundRect">
            <a:avLst>
              <a:gd name="adj" fmla="val 8548"/>
            </a:avLst>
          </a:prstGeom>
          <a:solidFill>
            <a:srgbClr val="F0883E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4152900" y="2952452"/>
            <a:ext cx="19050" cy="1010245"/>
          </a:xfrm>
          <a:custGeom>
            <a:avLst/>
            <a:gdLst/>
            <a:ahLst/>
            <a:cxnLst/>
            <a:rect l="l" t="t" r="r" b="b"/>
            <a:pathLst>
              <a:path w="19050" h="1010245">
                <a:moveTo>
                  <a:pt x="0" y="32254"/>
                </a:moveTo>
                <a:lnTo>
                  <a:pt x="2381" y="35358"/>
                </a:lnTo>
                <a:lnTo>
                  <a:pt x="4763" y="38783"/>
                </a:lnTo>
                <a:lnTo>
                  <a:pt x="7144" y="42603"/>
                </a:lnTo>
                <a:lnTo>
                  <a:pt x="9525" y="46934"/>
                </a:lnTo>
                <a:lnTo>
                  <a:pt x="11906" y="51968"/>
                </a:lnTo>
                <a:lnTo>
                  <a:pt x="14288" y="58078"/>
                </a:lnTo>
                <a:lnTo>
                  <a:pt x="16669" y="66220"/>
                </a:lnTo>
                <a:lnTo>
                  <a:pt x="19050" y="86360"/>
                </a:lnTo>
                <a:lnTo>
                  <a:pt x="19050" y="923885"/>
                </a:lnTo>
                <a:lnTo>
                  <a:pt x="16669" y="944025"/>
                </a:lnTo>
                <a:lnTo>
                  <a:pt x="14288" y="952168"/>
                </a:lnTo>
                <a:lnTo>
                  <a:pt x="11906" y="958278"/>
                </a:lnTo>
                <a:lnTo>
                  <a:pt x="9525" y="963312"/>
                </a:lnTo>
                <a:lnTo>
                  <a:pt x="7144" y="967642"/>
                </a:lnTo>
                <a:lnTo>
                  <a:pt x="4763" y="971463"/>
                </a:lnTo>
                <a:lnTo>
                  <a:pt x="2381" y="974887"/>
                </a:lnTo>
                <a:lnTo>
                  <a:pt x="0" y="977991"/>
                </a:lnTo>
                <a:close/>
              </a:path>
            </a:pathLst>
          </a:custGeom>
          <a:solidFill>
            <a:srgbClr val="F0883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722709" y="3062288"/>
            <a:ext cx="330205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40"/>
              </a:lnSpc>
              <a:spcAft>
                <a:spcPts val="280"/>
              </a:spcAft>
              <a:buNone/>
            </a:pPr>
            <a:r>
              <a:rPr lang="en-US" sz="96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Neuron Fires</a:t>
            </a:r>
            <a:endParaRPr lang="en-US" sz="96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53391" y="3087374"/>
            <a:ext cx="132588" cy="132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62858" y="3280470"/>
            <a:ext cx="3061901" cy="31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0"/>
              </a:lnSpc>
              <a:buNone/>
            </a:pPr>
            <a:r>
              <a:rPr lang="en-US" sz="650" dirty="0">
                <a:solidFill>
                  <a:srgbClr val="F0883E"/>
                </a:solidFill>
                <a:highlight>
                  <a:srgbClr val="F0883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 = σ(w₅·H₁ + w₆·H₂ + b₃)</a:t>
            </a:r>
            <a:br/>
            <a:pPr algn="r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Sigmoid squashes the large positive weighted sum to near 1.</a:t>
            </a:r>
            <a:endParaRPr lang="en-US" sz="760" dirty="0"/>
          </a:p>
        </p:txBody>
      </p:sp>
      <p:sp>
        <p:nvSpPr>
          <p:cNvPr id="37" name="Text 28"/>
          <p:cNvSpPr/>
          <p:nvPr/>
        </p:nvSpPr>
        <p:spPr>
          <a:xfrm>
            <a:off x="2536552" y="3674864"/>
            <a:ext cx="80136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σ(large positive) →</a:t>
            </a:r>
            <a:endParaRPr lang="en-US" sz="680" dirty="0"/>
          </a:p>
        </p:txBody>
      </p:sp>
      <p:sp>
        <p:nvSpPr>
          <p:cNvPr id="38" name="Text 29"/>
          <p:cNvSpPr/>
          <p:nvPr/>
        </p:nvSpPr>
        <p:spPr>
          <a:xfrm>
            <a:off x="3396591" y="3655665"/>
            <a:ext cx="628168" cy="197197"/>
          </a:xfrm>
          <a:prstGeom prst="roundRect">
            <a:avLst>
              <a:gd name="adj" fmla="val 72775"/>
            </a:avLst>
          </a:prstGeom>
          <a:solidFill>
            <a:srgbClr val="F0883E">
              <a:alpha val="18000"/>
            </a:srgbClr>
          </a:solidFill>
          <a:ln w="9525">
            <a:solidFill>
              <a:srgbClr val="F0883E">
                <a:alpha val="35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algn="r" indent="0" marL="0">
              <a:buNone/>
            </a:pPr>
            <a:r>
              <a:rPr lang="en-US" sz="79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≈ 0.97</a:t>
            </a:r>
            <a:endParaRPr lang="en-US" sz="790" dirty="0"/>
          </a:p>
        </p:txBody>
      </p:sp>
      <p:sp>
        <p:nvSpPr>
          <p:cNvPr id="39" name="Text 30"/>
          <p:cNvSpPr/>
          <p:nvPr/>
        </p:nvSpPr>
        <p:spPr>
          <a:xfrm>
            <a:off x="4972050" y="3814465"/>
            <a:ext cx="3357860" cy="1000720"/>
          </a:xfrm>
          <a:prstGeom prst="roundRect">
            <a:avLst>
              <a:gd name="adj" fmla="val 8630"/>
            </a:avLst>
          </a:prstGeom>
          <a:solidFill>
            <a:srgbClr val="3FB950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4972050" y="3814465"/>
            <a:ext cx="19050" cy="1000720"/>
          </a:xfrm>
          <a:custGeom>
            <a:avLst/>
            <a:gdLst/>
            <a:ahLst/>
            <a:cxnLst/>
            <a:rect l="l" t="t" r="r" b="b"/>
            <a:pathLst>
              <a:path w="19050" h="1000720">
                <a:moveTo>
                  <a:pt x="0" y="86360"/>
                </a:moveTo>
                <a:lnTo>
                  <a:pt x="2381" y="66220"/>
                </a:lnTo>
                <a:lnTo>
                  <a:pt x="4763" y="58078"/>
                </a:lnTo>
                <a:lnTo>
                  <a:pt x="7144" y="51968"/>
                </a:lnTo>
                <a:lnTo>
                  <a:pt x="9525" y="46934"/>
                </a:lnTo>
                <a:lnTo>
                  <a:pt x="11906" y="42603"/>
                </a:lnTo>
                <a:lnTo>
                  <a:pt x="14288" y="38783"/>
                </a:lnTo>
                <a:lnTo>
                  <a:pt x="16669" y="35358"/>
                </a:lnTo>
                <a:lnTo>
                  <a:pt x="19050" y="32254"/>
                </a:lnTo>
                <a:lnTo>
                  <a:pt x="19050" y="968466"/>
                </a:lnTo>
                <a:lnTo>
                  <a:pt x="16669" y="965362"/>
                </a:lnTo>
                <a:lnTo>
                  <a:pt x="14288" y="961938"/>
                </a:lnTo>
                <a:lnTo>
                  <a:pt x="11906" y="958117"/>
                </a:lnTo>
                <a:lnTo>
                  <a:pt x="9525" y="953787"/>
                </a:lnTo>
                <a:lnTo>
                  <a:pt x="7144" y="948753"/>
                </a:lnTo>
                <a:lnTo>
                  <a:pt x="4763" y="942643"/>
                </a:lnTo>
                <a:lnTo>
                  <a:pt x="2381" y="934500"/>
                </a:lnTo>
                <a:lnTo>
                  <a:pt x="0" y="914360"/>
                </a:lnTo>
                <a:close/>
              </a:path>
            </a:pathLst>
          </a:custGeom>
          <a:solidFill>
            <a:srgbClr val="3FB95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5119241" y="3924300"/>
            <a:ext cx="338030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280"/>
              </a:spcAft>
              <a:buNone/>
            </a:pPr>
            <a:r>
              <a:rPr lang="en-US" sz="96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Classification!</a:t>
            </a:r>
            <a:endParaRPr lang="en-US" sz="96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95810" y="3949386"/>
            <a:ext cx="132588" cy="1325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119241" y="4142482"/>
            <a:ext cx="31344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650" dirty="0">
                <a:solidFill>
                  <a:srgbClr val="3FB950"/>
                </a:solidFill>
                <a:highlight>
                  <a:srgbClr val="3FB950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0.97 → rounds to 1</a:t>
            </a:r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network predicts </a:t>
            </a:r>
            <a:pPr algn="l" indent="0" marL="0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XOR(1, 0) = 1</a:t>
            </a:r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</a:t>
            </a:r>
            <a:br/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Hidden layer transformation solved it with just </a:t>
            </a:r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parameters</a:t>
            </a:r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60" dirty="0"/>
          </a:p>
        </p:txBody>
      </p:sp>
      <p:sp>
        <p:nvSpPr>
          <p:cNvPr id="44" name="Text 34"/>
          <p:cNvSpPr/>
          <p:nvPr/>
        </p:nvSpPr>
        <p:spPr>
          <a:xfrm>
            <a:off x="5119241" y="4519613"/>
            <a:ext cx="704526" cy="185738"/>
          </a:xfrm>
          <a:prstGeom prst="roundRect">
            <a:avLst>
              <a:gd name="adj" fmla="val 77265"/>
            </a:avLst>
          </a:prstGeom>
          <a:solidFill>
            <a:srgbClr val="3FB950">
              <a:alpha val="18000"/>
            </a:srgbClr>
          </a:solidFill>
          <a:ln w="9525">
            <a:solidFill>
              <a:srgbClr val="3FB950">
                <a:alpha val="35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1</a:t>
            </a:r>
            <a:endParaRPr lang="en-US" sz="730" dirty="0"/>
          </a:p>
        </p:txBody>
      </p:sp>
      <p:sp>
        <p:nvSpPr>
          <p:cNvPr id="45" name="Text 35"/>
          <p:cNvSpPr/>
          <p:nvPr/>
        </p:nvSpPr>
        <p:spPr>
          <a:xfrm>
            <a:off x="5867102" y="4519613"/>
            <a:ext cx="420347" cy="185738"/>
          </a:xfrm>
          <a:prstGeom prst="roundRect">
            <a:avLst>
              <a:gd name="adj" fmla="val 77265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>
                <a:alpha val="2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 ✓</a:t>
            </a:r>
            <a:endParaRPr lang="en-US" sz="73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4">
            <a:alphaModFix amt="85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76270" y="328910"/>
            <a:ext cx="910530" cy="50854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58A6FF">
                  <a:alpha val="70000"/>
                </a:srgbClr>
              </a:gs>
              <a:gs pos="35000">
                <a:srgbClr val="BC8CFF">
                  <a:alpha val="70000"/>
                </a:srgbClr>
              </a:gs>
              <a:gs pos="68000">
                <a:srgbClr val="F0883E">
                  <a:alpha val="70000"/>
                </a:srgbClr>
              </a:gs>
              <a:gs pos="100000">
                <a:srgbClr val="3FB950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7"/>
          <p:cNvSpPr/>
          <p:nvPr/>
        </p:nvSpPr>
        <p:spPr>
          <a:xfrm>
            <a:off x="457200" y="4954488"/>
            <a:ext cx="31340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spc="74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FUNDAMENTALS  ·  XOR FORWARD PASS</a:t>
            </a:r>
            <a:endParaRPr lang="en-US" sz="620" dirty="0"/>
          </a:p>
        </p:txBody>
      </p:sp>
      <p:sp>
        <p:nvSpPr>
          <p:cNvPr id="49" name="Text 38"/>
          <p:cNvSpPr/>
          <p:nvPr/>
        </p:nvSpPr>
        <p:spPr>
          <a:xfrm>
            <a:off x="4414540" y="1517600"/>
            <a:ext cx="314920" cy="346412"/>
          </a:xfrm>
          <a:prstGeom prst="ellipse">
            <a:avLst/>
          </a:prstGeom>
          <a:solidFill>
            <a:srgbClr val="58A6FF">
              <a:alpha val="18000"/>
            </a:srgbClr>
          </a:solidFill>
          <a:ln w="9525">
            <a:solidFill>
              <a:srgbClr val="58A6FF"/>
            </a:solidFill>
          </a:ln>
          <a:effectLst>
            <a:outerShdw sx="100000" sy="100000" kx="0" ky="0" algn="bl" rotWithShape="0" blurRad="114300" dist="50800" dir="16200000">
              <a:srgbClr val="58a6ff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4414540" y="2374850"/>
            <a:ext cx="314920" cy="346412"/>
          </a:xfrm>
          <a:prstGeom prst="ellipse">
            <a:avLst/>
          </a:prstGeom>
          <a:solidFill>
            <a:srgbClr val="BC8CFF">
              <a:alpha val="18000"/>
            </a:srgbClr>
          </a:solidFill>
          <a:ln w="9525">
            <a:solidFill>
              <a:srgbClr val="BC8CFF"/>
            </a:solidFill>
          </a:ln>
          <a:effectLst>
            <a:outerShdw sx="100000" sy="100000" kx="0" ky="0" algn="bl" rotWithShape="0" blurRad="114300" dist="50800" dir="16200000">
              <a:srgbClr val="bc8cff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4414540" y="3232100"/>
            <a:ext cx="314920" cy="346412"/>
          </a:xfrm>
          <a:prstGeom prst="ellipse">
            <a:avLst/>
          </a:prstGeom>
          <a:solidFill>
            <a:srgbClr val="F0883E">
              <a:alpha val="18000"/>
            </a:srgbClr>
          </a:solidFill>
          <a:ln w="9525">
            <a:solidFill>
              <a:srgbClr val="F0883E"/>
            </a:solidFill>
          </a:ln>
          <a:effectLst>
            <a:outerShdw sx="100000" sy="100000" kx="0" ky="0" algn="bl" rotWithShape="0" blurRad="114300" dist="50800" dir="16200000">
              <a:srgbClr val="f0883e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Text 41"/>
          <p:cNvSpPr/>
          <p:nvPr/>
        </p:nvSpPr>
        <p:spPr>
          <a:xfrm>
            <a:off x="4414540" y="4089350"/>
            <a:ext cx="314920" cy="314920"/>
          </a:xfrm>
          <a:prstGeom prst="ellipse">
            <a:avLst/>
          </a:prstGeom>
          <a:solidFill>
            <a:srgbClr val="3FB950">
              <a:alpha val="18000"/>
            </a:srgbClr>
          </a:solidFill>
          <a:ln w="9525">
            <a:solidFill>
              <a:srgbClr val="3FB950"/>
            </a:solidFill>
          </a:ln>
          <a:effectLst>
            <a:outerShdw sx="100000" sy="100000" kx="0" ky="0" algn="bl" rotWithShape="0" blurRad="114300" dist="50800" dir="16200000">
              <a:srgbClr val="3fb950">
                <a:alpha val="3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505632" y="4180442"/>
            <a:ext cx="132588" cy="13258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4444157" y="1861691"/>
            <a:ext cx="28125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7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560" dirty="0"/>
          </a:p>
        </p:txBody>
      </p:sp>
      <p:sp>
        <p:nvSpPr>
          <p:cNvPr id="55" name="Text 43"/>
          <p:cNvSpPr/>
          <p:nvPr/>
        </p:nvSpPr>
        <p:spPr>
          <a:xfrm>
            <a:off x="4410224" y="2718941"/>
            <a:ext cx="35574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7" kern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560" dirty="0"/>
          </a:p>
        </p:txBody>
      </p:sp>
      <p:sp>
        <p:nvSpPr>
          <p:cNvPr id="56" name="Text 44"/>
          <p:cNvSpPr/>
          <p:nvPr/>
        </p:nvSpPr>
        <p:spPr>
          <a:xfrm>
            <a:off x="4400401" y="3576191"/>
            <a:ext cx="37735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7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560" dirty="0"/>
          </a:p>
        </p:txBody>
      </p:sp>
      <p:sp>
        <p:nvSpPr>
          <p:cNvPr id="57" name="Text 45"/>
          <p:cNvSpPr/>
          <p:nvPr/>
        </p:nvSpPr>
        <p:spPr>
          <a:xfrm>
            <a:off x="4406950" y="4433441"/>
            <a:ext cx="3629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67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5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390674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007" y="478631"/>
            <a:ext cx="139005" cy="1390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5280" y="285750"/>
            <a:ext cx="3976853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54"/>
              </a:lnSpc>
              <a:spcAft>
                <a:spcPts val="340"/>
              </a:spcAft>
              <a:buNone/>
            </a:pPr>
            <a:r>
              <a:rPr lang="en-US" sz="2140" spc="-30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Separability Across Logic Gates</a:t>
            </a:r>
            <a:endParaRPr lang="en-US" sz="2140" dirty="0"/>
          </a:p>
        </p:txBody>
      </p:sp>
      <p:sp>
        <p:nvSpPr>
          <p:cNvPr id="6" name="Text 2"/>
          <p:cNvSpPr/>
          <p:nvPr/>
        </p:nvSpPr>
        <p:spPr>
          <a:xfrm>
            <a:off x="815280" y="627757"/>
            <a:ext cx="408835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XOR is the uniquely challenging case.</a:t>
            </a:r>
            <a:endParaRPr lang="en-US" sz="960" dirty="0"/>
          </a:p>
        </p:txBody>
      </p:sp>
      <p:sp>
        <p:nvSpPr>
          <p:cNvPr id="7" name="Text 3"/>
          <p:cNvSpPr/>
          <p:nvPr/>
        </p:nvSpPr>
        <p:spPr>
          <a:xfrm>
            <a:off x="400050" y="981968"/>
            <a:ext cx="2000250" cy="3903762"/>
          </a:xfrm>
          <a:prstGeom prst="roundRect">
            <a:avLst>
              <a:gd name="adj" fmla="val 4317"/>
            </a:avLst>
          </a:prstGeom>
          <a:gradFill rotWithShape="1">
            <a:gsLst>
              <a:gs pos="0">
                <a:srgbClr val="3FB950">
                  <a:alpha val="8000"/>
                </a:srgbClr>
              </a:gs>
              <a:gs pos="60000">
                <a:srgbClr val="161B22">
                  <a:alpha val="95000"/>
                </a:srgbClr>
              </a:gs>
            </a:gsLst>
            <a:lin ang="3300000" scaled="1"/>
          </a:gradFill>
          <a:ln w="9525">
            <a:solidFill>
              <a:srgbClr val="3FB950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37716" y="1134963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3FB950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804" y="1235273"/>
            <a:ext cx="203746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6107" y="1152079"/>
            <a:ext cx="1174626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4"/>
              </a:lnSpc>
              <a:buNone/>
            </a:pPr>
            <a:r>
              <a:rPr lang="en-US" sz="1070" b="1" dirty="0">
                <a:solidFill>
                  <a:srgbClr val="3FB9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Gate ✓</a:t>
            </a:r>
            <a:endParaRPr lang="en-US" sz="1070" dirty="0"/>
          </a:p>
        </p:txBody>
      </p:sp>
      <p:sp>
        <p:nvSpPr>
          <p:cNvPr id="11" name="Text 6"/>
          <p:cNvSpPr/>
          <p:nvPr/>
        </p:nvSpPr>
        <p:spPr>
          <a:xfrm>
            <a:off x="996107" y="1344216"/>
            <a:ext cx="1067842" cy="160273"/>
          </a:xfrm>
          <a:prstGeom prst="roundRect">
            <a:avLst>
              <a:gd name="adj" fmla="val 89541"/>
            </a:avLst>
          </a:prstGeom>
          <a:solidFill>
            <a:srgbClr val="3FB950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SEPARABLE</a:t>
            </a:r>
            <a:endParaRPr lang="en-US" sz="62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2066" y="1635175"/>
            <a:ext cx="696218" cy="5895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7716" y="2366665"/>
            <a:ext cx="1724918" cy="7590"/>
          </a:xfrm>
          <a:prstGeom prst="rect">
            <a:avLst/>
          </a:prstGeom>
          <a:solidFill>
            <a:srgbClr val="3FB950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537716" y="2445246"/>
            <a:ext cx="1759416" cy="2221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Truth: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(0,0)→0, (0,1)→0, (1,0)→0, (1,1)→1.</a:t>
            </a:r>
            <a:br/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diagonal line cleanly separates the single TRUE point.</a:t>
            </a:r>
            <a:br/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neuron sufficient.</a:t>
            </a:r>
            <a:endParaRPr lang="en-US" sz="760" dirty="0"/>
          </a:p>
        </p:txBody>
      </p:sp>
      <p:sp>
        <p:nvSpPr>
          <p:cNvPr id="15" name="Text 9"/>
          <p:cNvSpPr/>
          <p:nvPr/>
        </p:nvSpPr>
        <p:spPr>
          <a:xfrm>
            <a:off x="642640" y="4561433"/>
            <a:ext cx="1075253" cy="18663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2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Neuron · 1 Boundary</a:t>
            </a:r>
            <a:endParaRPr lang="en-US" sz="68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6173" y="4616955"/>
            <a:ext cx="132588" cy="132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09575" y="4854625"/>
            <a:ext cx="19812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FB95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2514600" y="981968"/>
            <a:ext cx="2000250" cy="3903762"/>
          </a:xfrm>
          <a:prstGeom prst="roundRect">
            <a:avLst>
              <a:gd name="adj" fmla="val 4317"/>
            </a:avLst>
          </a:prstGeom>
          <a:gradFill rotWithShape="1">
            <a:gsLst>
              <a:gs pos="0">
                <a:srgbClr val="58A6FF">
                  <a:alpha val="8000"/>
                </a:srgbClr>
              </a:gs>
              <a:gs pos="60000">
                <a:srgbClr val="161B22">
                  <a:alpha val="95000"/>
                </a:srgbClr>
              </a:gs>
            </a:gsLst>
            <a:lin ang="3300000" scaled="1"/>
          </a:gra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2652266" y="1134963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36354" y="1235273"/>
            <a:ext cx="203746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110657" y="1152079"/>
            <a:ext cx="1174626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4"/>
              </a:lnSpc>
              <a:buNone/>
            </a:pPr>
            <a:r>
              <a:rPr lang="en-US" sz="1070" b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 Gate ✓</a:t>
            </a:r>
            <a:endParaRPr lang="en-US" sz="1070" dirty="0"/>
          </a:p>
        </p:txBody>
      </p:sp>
      <p:sp>
        <p:nvSpPr>
          <p:cNvPr id="22" name="Text 14"/>
          <p:cNvSpPr/>
          <p:nvPr/>
        </p:nvSpPr>
        <p:spPr>
          <a:xfrm>
            <a:off x="3110657" y="1344216"/>
            <a:ext cx="1067842" cy="160273"/>
          </a:xfrm>
          <a:prstGeom prst="roundRect">
            <a:avLst>
              <a:gd name="adj" fmla="val 89541"/>
            </a:avLst>
          </a:prstGeom>
          <a:solidFill>
            <a:srgbClr val="58A6FF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SEPARABLE</a:t>
            </a:r>
            <a:endParaRPr lang="en-US" sz="62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66616" y="1635175"/>
            <a:ext cx="696218" cy="5895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652266" y="2366665"/>
            <a:ext cx="1724918" cy="7590"/>
          </a:xfrm>
          <a:prstGeom prst="rect">
            <a:avLst/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2652266" y="2445246"/>
            <a:ext cx="1759416" cy="2221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Truth: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(0,0)→0, (0,1)→1, (1,0)→1, (1,1)→1.</a:t>
            </a:r>
            <a:br/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line separates the single FALSE corner at origin.</a:t>
            </a:r>
            <a:br/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neuron sufficient.</a:t>
            </a:r>
            <a:endParaRPr lang="en-US" sz="760" dirty="0"/>
          </a:p>
        </p:txBody>
      </p:sp>
      <p:sp>
        <p:nvSpPr>
          <p:cNvPr id="26" name="Text 17"/>
          <p:cNvSpPr/>
          <p:nvPr/>
        </p:nvSpPr>
        <p:spPr>
          <a:xfrm>
            <a:off x="2757190" y="4561433"/>
            <a:ext cx="1075253" cy="18663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2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Neuron · 1 Boundary</a:t>
            </a:r>
            <a:endParaRPr lang="en-US" sz="68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20723" y="4616955"/>
            <a:ext cx="132588" cy="1325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524125" y="4854625"/>
            <a:ext cx="19812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19"/>
          <p:cNvSpPr/>
          <p:nvPr/>
        </p:nvSpPr>
        <p:spPr>
          <a:xfrm>
            <a:off x="4629150" y="981968"/>
            <a:ext cx="2000250" cy="3903762"/>
          </a:xfrm>
          <a:prstGeom prst="roundRect">
            <a:avLst>
              <a:gd name="adj" fmla="val 4317"/>
            </a:avLst>
          </a:prstGeom>
          <a:gradFill rotWithShape="1">
            <a:gsLst>
              <a:gs pos="0">
                <a:srgbClr val="F0883E">
                  <a:alpha val="8000"/>
                </a:srgbClr>
              </a:gs>
              <a:gs pos="60000">
                <a:srgbClr val="161B22">
                  <a:alpha val="95000"/>
                </a:srgbClr>
              </a:gs>
            </a:gsLst>
            <a:lin ang="3300000" scaled="1"/>
          </a:gradFill>
          <a:ln w="9525">
            <a:solidFill>
              <a:srgbClr val="F0883E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0"/>
          <p:cNvSpPr/>
          <p:nvPr/>
        </p:nvSpPr>
        <p:spPr>
          <a:xfrm>
            <a:off x="4766816" y="1134963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F0883E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50904" y="1235273"/>
            <a:ext cx="203746" cy="17145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225207" y="1152079"/>
            <a:ext cx="1174626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4"/>
              </a:lnSpc>
              <a:buNone/>
            </a:pPr>
            <a:r>
              <a:rPr lang="en-US" sz="1070" b="1" dirty="0">
                <a:solidFill>
                  <a:srgbClr val="F088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NAND Gate ✓</a:t>
            </a:r>
            <a:endParaRPr lang="en-US" sz="1070" dirty="0"/>
          </a:p>
        </p:txBody>
      </p:sp>
      <p:sp>
        <p:nvSpPr>
          <p:cNvPr id="33" name="Text 22"/>
          <p:cNvSpPr/>
          <p:nvPr/>
        </p:nvSpPr>
        <p:spPr>
          <a:xfrm>
            <a:off x="5225207" y="1344216"/>
            <a:ext cx="1067842" cy="160273"/>
          </a:xfrm>
          <a:prstGeom prst="roundRect">
            <a:avLst>
              <a:gd name="adj" fmla="val 89541"/>
            </a:avLst>
          </a:prstGeom>
          <a:solidFill>
            <a:srgbClr val="F0883E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SEPARABLE</a:t>
            </a:r>
            <a:endParaRPr lang="en-US" sz="62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81166" y="1635175"/>
            <a:ext cx="696218" cy="58950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766816" y="2366665"/>
            <a:ext cx="1724918" cy="7590"/>
          </a:xfrm>
          <a:prstGeom prst="rect">
            <a:avLst/>
          </a:prstGeom>
          <a:solidFill>
            <a:srgbClr val="F0883E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4"/>
          <p:cNvSpPr/>
          <p:nvPr/>
        </p:nvSpPr>
        <p:spPr>
          <a:xfrm>
            <a:off x="4766816" y="2445246"/>
            <a:ext cx="1759416" cy="2221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of AND.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(1,1)→FALSE, all others TRUE. One line separates the single FALSE corner.</a:t>
            </a:r>
            <a:br/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neuron sufficient.</a:t>
            </a:r>
            <a:endParaRPr lang="en-US" sz="760" dirty="0"/>
          </a:p>
        </p:txBody>
      </p:sp>
      <p:sp>
        <p:nvSpPr>
          <p:cNvPr id="37" name="Text 25"/>
          <p:cNvSpPr/>
          <p:nvPr/>
        </p:nvSpPr>
        <p:spPr>
          <a:xfrm>
            <a:off x="4871740" y="4561433"/>
            <a:ext cx="1075253" cy="18663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2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Neuron · 1 Boundary</a:t>
            </a:r>
            <a:endParaRPr lang="en-US" sz="68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735273" y="4616955"/>
            <a:ext cx="132588" cy="13258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638675" y="4854625"/>
            <a:ext cx="19812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0883E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27"/>
          <p:cNvSpPr/>
          <p:nvPr/>
        </p:nvSpPr>
        <p:spPr>
          <a:xfrm>
            <a:off x="6743700" y="981968"/>
            <a:ext cx="2000250" cy="3903762"/>
          </a:xfrm>
          <a:prstGeom prst="roundRect">
            <a:avLst>
              <a:gd name="adj" fmla="val 4317"/>
            </a:avLst>
          </a:prstGeom>
          <a:gradFill rotWithShape="1">
            <a:gsLst>
              <a:gs pos="0">
                <a:srgbClr val="F85149">
                  <a:alpha val="10000"/>
                </a:srgbClr>
              </a:gs>
              <a:gs pos="60000">
                <a:srgbClr val="161B22">
                  <a:alpha val="95000"/>
                </a:srgbClr>
              </a:gs>
            </a:gsLst>
            <a:lin ang="3300000" scaled="1"/>
          </a:gradFill>
          <a:ln w="9525">
            <a:solidFill>
              <a:srgbClr val="F85149">
                <a:alpha val="4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28"/>
          <p:cNvSpPr/>
          <p:nvPr/>
        </p:nvSpPr>
        <p:spPr>
          <a:xfrm>
            <a:off x="6881366" y="1176784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F8514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955036" y="1271885"/>
            <a:ext cx="224730" cy="18186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7339757" y="1134963"/>
            <a:ext cx="1393180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84"/>
              </a:lnSpc>
              <a:buNone/>
            </a:pPr>
            <a:r>
              <a:rPr lang="en-US" sz="1070" b="1" dirty="0">
                <a:solidFill>
                  <a:srgbClr val="F8514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XOR Gate ✗</a:t>
            </a:r>
            <a:endParaRPr lang="en-US" sz="1070" dirty="0"/>
          </a:p>
        </p:txBody>
      </p:sp>
      <p:sp>
        <p:nvSpPr>
          <p:cNvPr id="44" name="Text 30"/>
          <p:cNvSpPr/>
          <p:nvPr/>
        </p:nvSpPr>
        <p:spPr>
          <a:xfrm>
            <a:off x="7339757" y="1327100"/>
            <a:ext cx="1266527" cy="290096"/>
          </a:xfrm>
          <a:prstGeom prst="roundRect">
            <a:avLst>
              <a:gd name="adj" fmla="val 49470"/>
            </a:avLst>
          </a:prstGeom>
          <a:solidFill>
            <a:srgbClr val="F85149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LINEARLY SEPARABLE</a:t>
            </a:r>
            <a:endParaRPr lang="en-US" sz="62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395716" y="1718965"/>
            <a:ext cx="696218" cy="589508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881366" y="2450455"/>
            <a:ext cx="1724918" cy="7590"/>
          </a:xfrm>
          <a:prstGeom prst="rect">
            <a:avLst/>
          </a:prstGeom>
          <a:solidFill>
            <a:srgbClr val="F85149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2"/>
          <p:cNvSpPr/>
          <p:nvPr/>
        </p:nvSpPr>
        <p:spPr>
          <a:xfrm>
            <a:off x="6881366" y="2529036"/>
            <a:ext cx="1759416" cy="175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linearly separable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TRUE points alternate diagonally. No single line can classify all four inputs correctly.</a:t>
            </a:r>
            <a:br/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hidden layer with 2+ neurons.</a:t>
            </a:r>
            <a:endParaRPr lang="en-US" sz="760" dirty="0"/>
          </a:p>
        </p:txBody>
      </p:sp>
      <p:sp>
        <p:nvSpPr>
          <p:cNvPr id="48" name="Text 33"/>
          <p:cNvSpPr/>
          <p:nvPr/>
        </p:nvSpPr>
        <p:spPr>
          <a:xfrm>
            <a:off x="6881366" y="4243834"/>
            <a:ext cx="1724918" cy="327127"/>
          </a:xfrm>
          <a:prstGeom prst="rect">
            <a:avLst/>
          </a:prstGeom>
          <a:solidFill>
            <a:srgbClr val="F85149">
              <a:alpha val="10000"/>
            </a:srgbClr>
          </a:solidFill>
          <a:ln/>
        </p:spPr>
        <p:txBody>
          <a:bodyPr wrap="none" lIns="71120" tIns="43180" rIns="71120" bIns="4318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9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This broke the first AI Winter — and sparked the MLP revolution.</a:t>
            </a:r>
            <a:endParaRPr lang="en-US" sz="650" dirty="0"/>
          </a:p>
        </p:txBody>
      </p:sp>
      <p:sp>
        <p:nvSpPr>
          <p:cNvPr id="49" name="Text 34"/>
          <p:cNvSpPr/>
          <p:nvPr/>
        </p:nvSpPr>
        <p:spPr>
          <a:xfrm>
            <a:off x="6881366" y="4243834"/>
            <a:ext cx="19050" cy="317599"/>
          </a:xfrm>
          <a:prstGeom prst="rect">
            <a:avLst/>
          </a:prstGeom>
          <a:solidFill>
            <a:srgbClr val="F8514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5"/>
          <p:cNvSpPr/>
          <p:nvPr/>
        </p:nvSpPr>
        <p:spPr>
          <a:xfrm>
            <a:off x="6986290" y="4561433"/>
            <a:ext cx="1735827" cy="18663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20" kern="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Neurons · 2 Boundaries Required</a:t>
            </a:r>
            <a:endParaRPr lang="en-US" sz="680" dirty="0"/>
          </a:p>
        </p:txBody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849823" y="4616955"/>
            <a:ext cx="132588" cy="132588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6753225" y="4854625"/>
            <a:ext cx="19812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8514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0"/>
            <a:ext cx="3714750" cy="29997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14500"/>
            <a:ext cx="3143250" cy="3429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81595" y="866180"/>
            <a:ext cx="21580" cy="1853651"/>
          </a:xfrm>
          <a:custGeom>
            <a:avLst/>
            <a:gdLst/>
            <a:ahLst/>
            <a:cxnLst/>
            <a:rect l="l" t="t" r="r" b="b"/>
            <a:pathLst>
              <a:path w="21580" h="185365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833559"/>
                </a:lnTo>
                <a:lnTo>
                  <a:pt x="18883" y="1830794"/>
                </a:lnTo>
                <a:lnTo>
                  <a:pt x="16185" y="1827699"/>
                </a:lnTo>
                <a:lnTo>
                  <a:pt x="13488" y="1824203"/>
                </a:lnTo>
                <a:lnTo>
                  <a:pt x="10790" y="1820192"/>
                </a:lnTo>
                <a:lnTo>
                  <a:pt x="8093" y="1815479"/>
                </a:lnTo>
                <a:lnTo>
                  <a:pt x="5395" y="1809702"/>
                </a:lnTo>
                <a:lnTo>
                  <a:pt x="2698" y="1801932"/>
                </a:lnTo>
                <a:lnTo>
                  <a:pt x="0" y="1782531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3205163" y="866180"/>
            <a:ext cx="21580" cy="1853651"/>
          </a:xfrm>
          <a:custGeom>
            <a:avLst/>
            <a:gdLst/>
            <a:ahLst/>
            <a:cxnLst/>
            <a:rect l="l" t="t" r="r" b="b"/>
            <a:pathLst>
              <a:path w="21580" h="185365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833559"/>
                </a:lnTo>
                <a:lnTo>
                  <a:pt x="18883" y="1830794"/>
                </a:lnTo>
                <a:lnTo>
                  <a:pt x="16185" y="1827699"/>
                </a:lnTo>
                <a:lnTo>
                  <a:pt x="13488" y="1824203"/>
                </a:lnTo>
                <a:lnTo>
                  <a:pt x="10790" y="1820192"/>
                </a:lnTo>
                <a:lnTo>
                  <a:pt x="8093" y="1815479"/>
                </a:lnTo>
                <a:lnTo>
                  <a:pt x="5395" y="1809702"/>
                </a:lnTo>
                <a:lnTo>
                  <a:pt x="2698" y="1801932"/>
                </a:lnTo>
                <a:lnTo>
                  <a:pt x="0" y="1782531"/>
                </a:lnTo>
                <a:close/>
              </a:path>
            </a:pathLst>
          </a:custGeom>
          <a:solidFill>
            <a:srgbClr val="3FB95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6028730" y="866180"/>
            <a:ext cx="21580" cy="1853651"/>
          </a:xfrm>
          <a:custGeom>
            <a:avLst/>
            <a:gdLst/>
            <a:ahLst/>
            <a:cxnLst/>
            <a:rect l="l" t="t" r="r" b="b"/>
            <a:pathLst>
              <a:path w="21580" h="185365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833559"/>
                </a:lnTo>
                <a:lnTo>
                  <a:pt x="18883" y="1830794"/>
                </a:lnTo>
                <a:lnTo>
                  <a:pt x="16185" y="1827699"/>
                </a:lnTo>
                <a:lnTo>
                  <a:pt x="13488" y="1824203"/>
                </a:lnTo>
                <a:lnTo>
                  <a:pt x="10790" y="1820192"/>
                </a:lnTo>
                <a:lnTo>
                  <a:pt x="8093" y="1815479"/>
                </a:lnTo>
                <a:lnTo>
                  <a:pt x="5395" y="1809702"/>
                </a:lnTo>
                <a:lnTo>
                  <a:pt x="2698" y="1801932"/>
                </a:lnTo>
                <a:lnTo>
                  <a:pt x="0" y="1782531"/>
                </a:lnTo>
                <a:close/>
              </a:path>
            </a:pathLst>
          </a:custGeom>
          <a:solidFill>
            <a:srgbClr val="F8514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381595" y="2809875"/>
            <a:ext cx="21580" cy="1853803"/>
          </a:xfrm>
          <a:custGeom>
            <a:avLst/>
            <a:gdLst/>
            <a:ahLst/>
            <a:cxnLst/>
            <a:rect l="l" t="t" r="r" b="b"/>
            <a:pathLst>
              <a:path w="21580" h="1853803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833711"/>
                </a:lnTo>
                <a:lnTo>
                  <a:pt x="18883" y="1830946"/>
                </a:lnTo>
                <a:lnTo>
                  <a:pt x="16185" y="1827852"/>
                </a:lnTo>
                <a:lnTo>
                  <a:pt x="13488" y="1824355"/>
                </a:lnTo>
                <a:lnTo>
                  <a:pt x="10790" y="1820344"/>
                </a:lnTo>
                <a:lnTo>
                  <a:pt x="8093" y="1815631"/>
                </a:lnTo>
                <a:lnTo>
                  <a:pt x="5395" y="1809854"/>
                </a:lnTo>
                <a:lnTo>
                  <a:pt x="2698" y="1802085"/>
                </a:lnTo>
                <a:lnTo>
                  <a:pt x="0" y="1782683"/>
                </a:lnTo>
                <a:close/>
              </a:path>
            </a:pathLst>
          </a:custGeom>
          <a:solidFill>
            <a:srgbClr val="BC8C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3205163" y="2809875"/>
            <a:ext cx="21580" cy="1853803"/>
          </a:xfrm>
          <a:custGeom>
            <a:avLst/>
            <a:gdLst/>
            <a:ahLst/>
            <a:cxnLst/>
            <a:rect l="l" t="t" r="r" b="b"/>
            <a:pathLst>
              <a:path w="21580" h="1853803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833711"/>
                </a:lnTo>
                <a:lnTo>
                  <a:pt x="18883" y="1830946"/>
                </a:lnTo>
                <a:lnTo>
                  <a:pt x="16185" y="1827852"/>
                </a:lnTo>
                <a:lnTo>
                  <a:pt x="13488" y="1824355"/>
                </a:lnTo>
                <a:lnTo>
                  <a:pt x="10790" y="1820344"/>
                </a:lnTo>
                <a:lnTo>
                  <a:pt x="8093" y="1815631"/>
                </a:lnTo>
                <a:lnTo>
                  <a:pt x="5395" y="1809854"/>
                </a:lnTo>
                <a:lnTo>
                  <a:pt x="2698" y="1802085"/>
                </a:lnTo>
                <a:lnTo>
                  <a:pt x="0" y="1782683"/>
                </a:lnTo>
                <a:close/>
              </a:path>
            </a:pathLst>
          </a:custGeom>
          <a:solidFill>
            <a:srgbClr val="F0883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6028730" y="2809875"/>
            <a:ext cx="21580" cy="1853803"/>
          </a:xfrm>
          <a:custGeom>
            <a:avLst/>
            <a:gdLst/>
            <a:ahLst/>
            <a:cxnLst/>
            <a:rect l="l" t="t" r="r" b="b"/>
            <a:pathLst>
              <a:path w="21580" h="1853803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833711"/>
                </a:lnTo>
                <a:lnTo>
                  <a:pt x="18883" y="1830946"/>
                </a:lnTo>
                <a:lnTo>
                  <a:pt x="16185" y="1827852"/>
                </a:lnTo>
                <a:lnTo>
                  <a:pt x="13488" y="1824355"/>
                </a:lnTo>
                <a:lnTo>
                  <a:pt x="10790" y="1820344"/>
                </a:lnTo>
                <a:lnTo>
                  <a:pt x="8093" y="1815631"/>
                </a:lnTo>
                <a:lnTo>
                  <a:pt x="5395" y="1809854"/>
                </a:lnTo>
                <a:lnTo>
                  <a:pt x="2698" y="1802085"/>
                </a:lnTo>
                <a:lnTo>
                  <a:pt x="0" y="1782683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BC8CFF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72070" y="200620"/>
            <a:ext cx="3093674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3"/>
              </a:lnSpc>
              <a:spcAft>
                <a:spcPts val="230"/>
              </a:spcAft>
              <a:buNone/>
            </a:pPr>
            <a:r>
              <a:rPr lang="en-US" sz="2030" spc="41" kern="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</a:t>
            </a:r>
            <a:pPr algn="l" indent="0" marL="0">
              <a:lnSpc>
                <a:spcPts val="2233"/>
              </a:lnSpc>
              <a:spcAft>
                <a:spcPts val="230"/>
              </a:spcAft>
              <a:buNone/>
            </a:pPr>
            <a:r>
              <a:rPr lang="en-US" sz="2030" spc="41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Takeaways</a:t>
            </a:r>
            <a:endParaRPr lang="en-US" sz="2030" dirty="0"/>
          </a:p>
        </p:txBody>
      </p:sp>
      <p:sp>
        <p:nvSpPr>
          <p:cNvPr id="12" name="Text 7"/>
          <p:cNvSpPr/>
          <p:nvPr/>
        </p:nvSpPr>
        <p:spPr>
          <a:xfrm>
            <a:off x="372070" y="513308"/>
            <a:ext cx="318041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spc="24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XOR to Deep Learning — the concepts that changed AI</a:t>
            </a:r>
            <a:endParaRPr lang="en-US" sz="790" dirty="0"/>
          </a:p>
        </p:txBody>
      </p:sp>
      <p:sp>
        <p:nvSpPr>
          <p:cNvPr id="13" name="Text 8"/>
          <p:cNvSpPr/>
          <p:nvPr/>
        </p:nvSpPr>
        <p:spPr>
          <a:xfrm>
            <a:off x="372070" y="734764"/>
            <a:ext cx="37207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alphaModFix amt="1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9030" y="307032"/>
            <a:ext cx="342900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72070" y="856655"/>
            <a:ext cx="2752576" cy="1872704"/>
          </a:xfrm>
          <a:prstGeom prst="roundRect">
            <a:avLst>
              <a:gd name="adj" fmla="val 3798"/>
            </a:avLst>
          </a:prstGeom>
          <a:solidFill>
            <a:srgbClr val="0D1117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495895" y="966490"/>
            <a:ext cx="285750" cy="285750"/>
          </a:xfrm>
          <a:prstGeom prst="ellipse">
            <a:avLst/>
          </a:prstGeom>
          <a:solidFill>
            <a:srgbClr val="58A6FF">
              <a:alpha val="15000"/>
            </a:srgbClr>
          </a:solidFill>
          <a:ln w="9525">
            <a:solidFill>
              <a:srgbClr val="58A6FF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2476" y="1043071"/>
            <a:ext cx="132588" cy="132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81955" y="966490"/>
            <a:ext cx="2161243" cy="47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outputs 1 only when inputs differ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simple rule with surprisingly complex geometry in feature space.</a:t>
            </a:r>
            <a:endParaRPr lang="en-US" sz="760" dirty="0"/>
          </a:p>
        </p:txBody>
      </p:sp>
      <p:sp>
        <p:nvSpPr>
          <p:cNvPr id="19" name="Text 12"/>
          <p:cNvSpPr/>
          <p:nvPr/>
        </p:nvSpPr>
        <p:spPr>
          <a:xfrm>
            <a:off x="2937867" y="930920"/>
            <a:ext cx="9315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560" dirty="0"/>
          </a:p>
        </p:txBody>
      </p:sp>
      <p:sp>
        <p:nvSpPr>
          <p:cNvPr id="20" name="Text 13"/>
          <p:cNvSpPr/>
          <p:nvPr/>
        </p:nvSpPr>
        <p:spPr>
          <a:xfrm>
            <a:off x="3195638" y="856655"/>
            <a:ext cx="2752576" cy="1872704"/>
          </a:xfrm>
          <a:prstGeom prst="roundRect">
            <a:avLst>
              <a:gd name="adj" fmla="val 3798"/>
            </a:avLst>
          </a:prstGeom>
          <a:solidFill>
            <a:srgbClr val="0D1117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3319463" y="966490"/>
            <a:ext cx="285750" cy="285750"/>
          </a:xfrm>
          <a:prstGeom prst="ellipse">
            <a:avLst/>
          </a:prstGeom>
          <a:solidFill>
            <a:srgbClr val="3FB950">
              <a:alpha val="15000"/>
            </a:srgbClr>
          </a:solidFill>
          <a:ln w="9525">
            <a:solidFill>
              <a:srgbClr val="3FB950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96044" y="1043071"/>
            <a:ext cx="132588" cy="1325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705523" y="966490"/>
            <a:ext cx="2161243" cy="47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points form a diagonal pattern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2D space — no single straight line can separate TRUE from FALSE outputs.</a:t>
            </a:r>
            <a:endParaRPr lang="en-US" sz="760" dirty="0"/>
          </a:p>
        </p:txBody>
      </p:sp>
      <p:sp>
        <p:nvSpPr>
          <p:cNvPr id="24" name="Text 16"/>
          <p:cNvSpPr/>
          <p:nvPr/>
        </p:nvSpPr>
        <p:spPr>
          <a:xfrm>
            <a:off x="5761434" y="930920"/>
            <a:ext cx="9315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560" dirty="0"/>
          </a:p>
        </p:txBody>
      </p:sp>
      <p:sp>
        <p:nvSpPr>
          <p:cNvPr id="25" name="Text 17"/>
          <p:cNvSpPr/>
          <p:nvPr/>
        </p:nvSpPr>
        <p:spPr>
          <a:xfrm>
            <a:off x="6019205" y="856655"/>
            <a:ext cx="2752725" cy="1872704"/>
          </a:xfrm>
          <a:prstGeom prst="roundRect">
            <a:avLst>
              <a:gd name="adj" fmla="val 3798"/>
            </a:avLst>
          </a:prstGeom>
          <a:solidFill>
            <a:srgbClr val="0D1117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6143030" y="966490"/>
            <a:ext cx="285750" cy="285750"/>
          </a:xfrm>
          <a:prstGeom prst="ellipse">
            <a:avLst/>
          </a:prstGeom>
          <a:solidFill>
            <a:srgbClr val="F85149">
              <a:alpha val="13000"/>
            </a:srgbClr>
          </a:solidFill>
          <a:ln w="9525">
            <a:solidFill>
              <a:srgbClr val="F85149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9611" y="1043071"/>
            <a:ext cx="132588" cy="13258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529090" y="966490"/>
            <a:ext cx="2161395" cy="47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perceptron can only learn linearly separable functions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XOR is fundamentally beyond its capacity.</a:t>
            </a:r>
            <a:endParaRPr lang="en-US" sz="760" dirty="0"/>
          </a:p>
        </p:txBody>
      </p:sp>
      <p:sp>
        <p:nvSpPr>
          <p:cNvPr id="29" name="Text 20"/>
          <p:cNvSpPr/>
          <p:nvPr/>
        </p:nvSpPr>
        <p:spPr>
          <a:xfrm>
            <a:off x="8585150" y="930920"/>
            <a:ext cx="9315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560" dirty="0"/>
          </a:p>
        </p:txBody>
      </p:sp>
      <p:sp>
        <p:nvSpPr>
          <p:cNvPr id="30" name="Text 21"/>
          <p:cNvSpPr/>
          <p:nvPr/>
        </p:nvSpPr>
        <p:spPr>
          <a:xfrm>
            <a:off x="372070" y="2800350"/>
            <a:ext cx="2752576" cy="1872853"/>
          </a:xfrm>
          <a:prstGeom prst="roundRect">
            <a:avLst>
              <a:gd name="adj" fmla="val 3797"/>
            </a:avLst>
          </a:prstGeom>
          <a:solidFill>
            <a:srgbClr val="0D1117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2"/>
          <p:cNvSpPr/>
          <p:nvPr/>
        </p:nvSpPr>
        <p:spPr>
          <a:xfrm>
            <a:off x="495895" y="2910185"/>
            <a:ext cx="285750" cy="285750"/>
          </a:xfrm>
          <a:prstGeom prst="ellipse">
            <a:avLst/>
          </a:prstGeom>
          <a:solidFill>
            <a:srgbClr val="BC8CFF">
              <a:alpha val="15000"/>
            </a:srgbClr>
          </a:solidFill>
          <a:ln w="9525">
            <a:solidFill>
              <a:srgbClr val="BC8CFF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2476" y="2986766"/>
            <a:ext cx="132588" cy="13258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81955" y="2910185"/>
            <a:ext cx="2161243" cy="47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layer with just 2 neurons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non-linear activations solves XOR perfectly by transforming the feature space.</a:t>
            </a:r>
            <a:endParaRPr lang="en-US" sz="760" dirty="0"/>
          </a:p>
        </p:txBody>
      </p:sp>
      <p:sp>
        <p:nvSpPr>
          <p:cNvPr id="34" name="Text 24"/>
          <p:cNvSpPr/>
          <p:nvPr/>
        </p:nvSpPr>
        <p:spPr>
          <a:xfrm>
            <a:off x="2937867" y="2874615"/>
            <a:ext cx="9315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560" dirty="0"/>
          </a:p>
        </p:txBody>
      </p:sp>
      <p:sp>
        <p:nvSpPr>
          <p:cNvPr id="35" name="Text 25"/>
          <p:cNvSpPr/>
          <p:nvPr/>
        </p:nvSpPr>
        <p:spPr>
          <a:xfrm>
            <a:off x="3195638" y="2800350"/>
            <a:ext cx="2752576" cy="1872853"/>
          </a:xfrm>
          <a:prstGeom prst="roundRect">
            <a:avLst>
              <a:gd name="adj" fmla="val 3797"/>
            </a:avLst>
          </a:prstGeom>
          <a:solidFill>
            <a:srgbClr val="0D1117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3319463" y="2910185"/>
            <a:ext cx="285750" cy="285750"/>
          </a:xfrm>
          <a:prstGeom prst="ellipse">
            <a:avLst/>
          </a:prstGeom>
          <a:solidFill>
            <a:srgbClr val="F0883E">
              <a:alpha val="13000"/>
            </a:srgbClr>
          </a:solidFill>
          <a:ln w="9525">
            <a:solidFill>
              <a:srgbClr val="F0883E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96044" y="2986766"/>
            <a:ext cx="132588" cy="13258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705523" y="2910185"/>
            <a:ext cx="2161243" cy="47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Minsky &amp; Papert's 1969 proof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eventual MLP solution were defining moments in the history of neural networks.</a:t>
            </a:r>
            <a:endParaRPr lang="en-US" sz="760" dirty="0"/>
          </a:p>
        </p:txBody>
      </p:sp>
      <p:sp>
        <p:nvSpPr>
          <p:cNvPr id="39" name="Text 28"/>
          <p:cNvSpPr/>
          <p:nvPr/>
        </p:nvSpPr>
        <p:spPr>
          <a:xfrm>
            <a:off x="5761434" y="2874615"/>
            <a:ext cx="9315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560" dirty="0"/>
          </a:p>
        </p:txBody>
      </p:sp>
      <p:sp>
        <p:nvSpPr>
          <p:cNvPr id="40" name="Text 29"/>
          <p:cNvSpPr/>
          <p:nvPr/>
        </p:nvSpPr>
        <p:spPr>
          <a:xfrm>
            <a:off x="6019205" y="2800350"/>
            <a:ext cx="2752725" cy="1872853"/>
          </a:xfrm>
          <a:prstGeom prst="roundRect">
            <a:avLst>
              <a:gd name="adj" fmla="val 3797"/>
            </a:avLst>
          </a:prstGeom>
          <a:solidFill>
            <a:srgbClr val="0D1117"/>
          </a:solidFill>
          <a:ln w="9525">
            <a:solidFill>
              <a:srgbClr val="58A6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0"/>
          <p:cNvSpPr/>
          <p:nvPr/>
        </p:nvSpPr>
        <p:spPr>
          <a:xfrm>
            <a:off x="6143030" y="2910185"/>
            <a:ext cx="285750" cy="285750"/>
          </a:xfrm>
          <a:prstGeom prst="ellipse">
            <a:avLst/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16402" y="2983557"/>
            <a:ext cx="139005" cy="139005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529090" y="2910185"/>
            <a:ext cx="2161395" cy="47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is the "Hello World" of deep learning</a:t>
            </a:r>
            <a:pPr algn="l" indent="0" marL="0">
              <a:lnSpc>
                <a:spcPts val="1178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master it to understand why depth and non-linearity matter in every neural network.</a:t>
            </a:r>
            <a:endParaRPr lang="en-US" sz="760" dirty="0"/>
          </a:p>
        </p:txBody>
      </p:sp>
      <p:sp>
        <p:nvSpPr>
          <p:cNvPr id="44" name="Text 32"/>
          <p:cNvSpPr/>
          <p:nvPr/>
        </p:nvSpPr>
        <p:spPr>
          <a:xfrm>
            <a:off x="8585150" y="2874615"/>
            <a:ext cx="9315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560" dirty="0"/>
          </a:p>
        </p:txBody>
      </p:sp>
      <p:sp>
        <p:nvSpPr>
          <p:cNvPr id="45" name="Text 33"/>
          <p:cNvSpPr/>
          <p:nvPr/>
        </p:nvSpPr>
        <p:spPr>
          <a:xfrm>
            <a:off x="372070" y="4744194"/>
            <a:ext cx="8399859" cy="298996"/>
          </a:xfrm>
          <a:prstGeom prst="roundRect">
            <a:avLst>
              <a:gd name="adj" fmla="val 19114"/>
            </a:avLst>
          </a:prstGeom>
          <a:gradFill rotWithShape="1">
            <a:gsLst>
              <a:gs pos="0">
                <a:srgbClr val="58A6FF">
                  <a:alpha val="8000"/>
                </a:srgbClr>
              </a:gs>
              <a:gs pos="50000">
                <a:srgbClr val="58A6FF">
                  <a:alpha val="14000"/>
                </a:srgbClr>
              </a:gs>
              <a:gs pos="100000">
                <a:srgbClr val="BC8CFF">
                  <a:alpha val="8000"/>
                </a:srgbClr>
              </a:gs>
            </a:gsLst>
            <a:lin ang="0" scaled="1"/>
          </a:gradFill>
          <a:ln w="9525">
            <a:solidFill>
              <a:srgbClr val="58A6FF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9">
            <a:alphaModFix amt="50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807354" y="4827398"/>
            <a:ext cx="132588" cy="132588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2982218" y="4821287"/>
            <a:ext cx="255389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60" spc="61" kern="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XOR</a:t>
            </a:r>
            <a:endParaRPr lang="en-US" sz="1200" dirty="0"/>
          </a:p>
        </p:txBody>
      </p:sp>
      <p:sp>
        <p:nvSpPr>
          <p:cNvPr id="48" name="Text 35"/>
          <p:cNvSpPr/>
          <p:nvPr/>
        </p:nvSpPr>
        <p:spPr>
          <a:xfrm>
            <a:off x="3257550" y="4818459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90" dirty="0"/>
          </a:p>
        </p:txBody>
      </p:sp>
      <p:sp>
        <p:nvSpPr>
          <p:cNvPr id="49" name="Text 36"/>
          <p:cNvSpPr/>
          <p:nvPr/>
        </p:nvSpPr>
        <p:spPr>
          <a:xfrm>
            <a:off x="3400871" y="4821287"/>
            <a:ext cx="1260083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60" spc="61" kern="0" dirty="0">
                <a:solidFill>
                  <a:srgbClr val="79C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Multi-Layer Perceptron</a:t>
            </a:r>
            <a:endParaRPr lang="en-US" sz="1200" dirty="0"/>
          </a:p>
        </p:txBody>
      </p:sp>
      <p:sp>
        <p:nvSpPr>
          <p:cNvPr id="50" name="Text 37"/>
          <p:cNvSpPr/>
          <p:nvPr/>
        </p:nvSpPr>
        <p:spPr>
          <a:xfrm>
            <a:off x="4589562" y="4818459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90" dirty="0"/>
          </a:p>
        </p:txBody>
      </p:sp>
      <p:sp>
        <p:nvSpPr>
          <p:cNvPr id="51" name="Text 38"/>
          <p:cNvSpPr/>
          <p:nvPr/>
        </p:nvSpPr>
        <p:spPr>
          <a:xfrm>
            <a:off x="4732883" y="4821287"/>
            <a:ext cx="806440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60" spc="61" kern="0" dirty="0">
                <a:solidFill>
                  <a:srgbClr val="BC8C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52" name="Text 39"/>
          <p:cNvSpPr/>
          <p:nvPr/>
        </p:nvSpPr>
        <p:spPr>
          <a:xfrm>
            <a:off x="5509171" y="4818459"/>
            <a:ext cx="1101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90" dirty="0"/>
          </a:p>
        </p:txBody>
      </p:sp>
      <p:sp>
        <p:nvSpPr>
          <p:cNvPr id="53" name="Text 40"/>
          <p:cNvSpPr/>
          <p:nvPr/>
        </p:nvSpPr>
        <p:spPr>
          <a:xfrm>
            <a:off x="5652492" y="4821287"/>
            <a:ext cx="560055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60" spc="61" kern="0" dirty="0">
                <a:solidFill>
                  <a:srgbClr val="E2C5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AI</a:t>
            </a:r>
            <a:endParaRPr lang="en-US" sz="120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21">
            <a:alphaModFix amt="50000"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03909" y="4827398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2026-06-02T22:18:13Z</dcterms:created>
  <dcterms:modified xsi:type="dcterms:W3CDTF">2026-06-02T22:18:13Z</dcterms:modified>
</cp:coreProperties>
</file>