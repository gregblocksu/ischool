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D9BBE-4A38-4D54-A8E5-E0ADAA904DE3}" v="21" dt="2026-06-16T20:17:15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84520" autoAdjust="0"/>
  </p:normalViewPr>
  <p:slideViewPr>
    <p:cSldViewPr snapToGrid="0" snapToObjects="1">
      <p:cViewPr varScale="1">
        <p:scale>
          <a:sx n="132" d="100"/>
          <a:sy n="132" d="100"/>
        </p:scale>
        <p:origin x="10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ry Block" userId="9ed3132d36407930" providerId="LiveId" clId="{287FAB90-83B8-4AEF-9320-5B39BCFEA80B}"/>
    <pc:docChg chg="custSel modSld">
      <pc:chgData name="Gregory Block" userId="9ed3132d36407930" providerId="LiveId" clId="{287FAB90-83B8-4AEF-9320-5B39BCFEA80B}" dt="2026-06-16T22:21:19.301" v="886" actId="20577"/>
      <pc:docMkLst>
        <pc:docMk/>
      </pc:docMkLst>
      <pc:sldChg chg="modSp mod modNotesTx">
        <pc:chgData name="Gregory Block" userId="9ed3132d36407930" providerId="LiveId" clId="{287FAB90-83B8-4AEF-9320-5B39BCFEA80B}" dt="2026-06-16T22:21:19.301" v="886" actId="20577"/>
        <pc:sldMkLst>
          <pc:docMk/>
          <pc:sldMk cId="0" sldId="256"/>
        </pc:sldMkLst>
        <pc:spChg chg="mod">
          <ac:chgData name="Gregory Block" userId="9ed3132d36407930" providerId="LiveId" clId="{287FAB90-83B8-4AEF-9320-5B39BCFEA80B}" dt="2026-06-16T22:21:19.301" v="88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NotesTx">
        <pc:chgData name="Gregory Block" userId="9ed3132d36407930" providerId="LiveId" clId="{287FAB90-83B8-4AEF-9320-5B39BCFEA80B}" dt="2026-06-16T16:27:10.181" v="18" actId="20577"/>
        <pc:sldMkLst>
          <pc:docMk/>
          <pc:sldMk cId="0" sldId="257"/>
        </pc:sldMkLst>
      </pc:sldChg>
      <pc:sldChg chg="modNotesTx">
        <pc:chgData name="Gregory Block" userId="9ed3132d36407930" providerId="LiveId" clId="{287FAB90-83B8-4AEF-9320-5B39BCFEA80B}" dt="2026-06-16T16:31:12.263" v="85" actId="20577"/>
        <pc:sldMkLst>
          <pc:docMk/>
          <pc:sldMk cId="0" sldId="258"/>
        </pc:sldMkLst>
      </pc:sldChg>
      <pc:sldChg chg="modNotesTx">
        <pc:chgData name="Gregory Block" userId="9ed3132d36407930" providerId="LiveId" clId="{287FAB90-83B8-4AEF-9320-5B39BCFEA80B}" dt="2026-06-16T16:34:21.795" v="191" actId="14"/>
        <pc:sldMkLst>
          <pc:docMk/>
          <pc:sldMk cId="0" sldId="259"/>
        </pc:sldMkLst>
      </pc:sldChg>
      <pc:sldChg chg="modNotesTx">
        <pc:chgData name="Gregory Block" userId="9ed3132d36407930" providerId="LiveId" clId="{287FAB90-83B8-4AEF-9320-5B39BCFEA80B}" dt="2026-06-16T20:17:27.948" v="861" actId="20577"/>
        <pc:sldMkLst>
          <pc:docMk/>
          <pc:sldMk cId="0" sldId="260"/>
        </pc:sldMkLst>
      </pc:sldChg>
      <pc:sldChg chg="modNotesTx">
        <pc:chgData name="Gregory Block" userId="9ed3132d36407930" providerId="LiveId" clId="{287FAB90-83B8-4AEF-9320-5B39BCFEA80B}" dt="2026-06-16T16:42:00.680" v="348" actId="20577"/>
        <pc:sldMkLst>
          <pc:docMk/>
          <pc:sldMk cId="0" sldId="261"/>
        </pc:sldMkLst>
      </pc:sldChg>
      <pc:sldChg chg="modNotesTx">
        <pc:chgData name="Gregory Block" userId="9ed3132d36407930" providerId="LiveId" clId="{287FAB90-83B8-4AEF-9320-5B39BCFEA80B}" dt="2026-06-16T20:03:44.852" v="824" actId="20577"/>
        <pc:sldMkLst>
          <pc:docMk/>
          <pc:sldMk cId="0" sldId="262"/>
        </pc:sldMkLst>
      </pc:sldChg>
      <pc:sldChg chg="modNotesTx">
        <pc:chgData name="Gregory Block" userId="9ed3132d36407930" providerId="LiveId" clId="{287FAB90-83B8-4AEF-9320-5B39BCFEA80B}" dt="2026-06-16T20:04:14.879" v="855" actId="20577"/>
        <pc:sldMkLst>
          <pc:docMk/>
          <pc:sldMk cId="0" sldId="263"/>
        </pc:sldMkLst>
      </pc:sldChg>
      <pc:sldChg chg="modNotesTx">
        <pc:chgData name="Gregory Block" userId="9ed3132d36407930" providerId="LiveId" clId="{287FAB90-83B8-4AEF-9320-5B39BCFEA80B}" dt="2026-06-16T17:01:02.507" v="770" actId="14"/>
        <pc:sldMkLst>
          <pc:docMk/>
          <pc:sldMk cId="0" sldId="264"/>
        </pc:sldMkLst>
      </pc:sldChg>
      <pc:sldChg chg="modNotesTx">
        <pc:chgData name="Gregory Block" userId="9ed3132d36407930" providerId="LiveId" clId="{287FAB90-83B8-4AEF-9320-5B39BCFEA80B}" dt="2026-06-16T16:54:20.972" v="653" actId="20577"/>
        <pc:sldMkLst>
          <pc:docMk/>
          <pc:sldMk cId="0" sldId="265"/>
        </pc:sldMkLst>
      </pc:sldChg>
      <pc:sldChg chg="modNotesTx">
        <pc:chgData name="Gregory Block" userId="9ed3132d36407930" providerId="LiveId" clId="{287FAB90-83B8-4AEF-9320-5B39BCFEA80B}" dt="2026-06-16T17:03:37.552" v="773" actId="20577"/>
        <pc:sldMkLst>
          <pc:docMk/>
          <pc:sldMk cId="0" sldId="266"/>
        </pc:sldMkLst>
      </pc:sldChg>
      <pc:sldChg chg="modNotesTx">
        <pc:chgData name="Gregory Block" userId="9ed3132d36407930" providerId="LiveId" clId="{287FAB90-83B8-4AEF-9320-5B39BCFEA80B}" dt="2026-06-16T16:59:37.262" v="766" actId="2057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41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deck covers three interconnected topics: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gradient descent drives learning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the learning rate is the single most important hyperparameter, and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regularization prevents models from memorizing instead of learning.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of you have trained a model and been surprised when it performed well on training data but poorly on new data? That tension is exactly what this deck addresses.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pillars covered in the deck.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1 — Gradient Descent and Learning Rate: every neural network trains by repeating a simple loop — make a prediction, measure the error, and nudge the weights in the direction that reduces that error. The learning rate controls how large each nudge is.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2 — Optimization Algorithms: we will compare the most common variants — SGD, Momentum, and Adam — and explain when to use each.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3 — Regularization: when a model learns training data too well, it fails on new data. Regularization is the set of techniques that keeps models generalizable.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steps on this slide form the core training loop that repeats thousands of times per run.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— Forward Pass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receives inputs and produces predictions;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loss function measures how far those predictions are from the correct answers.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— Compute Gradient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backpropagation calculates the gradient — the direction that would increase the loss most steeply.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 to move in the opposite direction.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— Update Weights: each weight is shifted slightly in the direction that reduces the loss.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update rule on the slide — theta minus eta times the gradient — is the foundation of all gradient-based learning.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 is the learning rate. This loop repeats for every mini-batch across every epoch.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cumulative effect of thousands of small updates is what produces a trained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three outcomes shown in the chart.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Too Low: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loss decreases, but extremely slowly — the model may plateau before reaching a good solution.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Too High: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optimizer overshoots the minimum on every step; loss bounces erratically or diverges entirely.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Optimal Schedule: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decreases smoothly and steadily. Notice that the best outcome uses a schedule rather than a fixed rate. We’ll discuss this in more detail on the next slide.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message: the learning rate is not something to set once and forget. Always plot your loss curve before drawing any conclusions from a training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single learning rate works well for an entire training run. These schedules adapt it over time — starting higher for fast initial progress and decreasing for precise convergence.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these examples: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staircase curve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Decay: the rate drops by a fixed factor every set number of epochs.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and predictable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 Annealing: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annealing metaphor in deep learning comes from simulated annealing in physics, a process used in metallurgy where materials are heated and then slowly cooled to reach a stable, low-energy crystalline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rate follows a smooth cosine curve from its initial value down toward zero;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avoids abrupt drops and tends to find better solutions than step decay.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 plus Cosine: the modern default.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a very small rate, ramp it up over the first few epochs, then apply cosine decay.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Warmup prevents instability from large gradient updates early in training when weights are far from their final values.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in doubt, use warmup plus cosine annealing — it works reliably across a wide range of architectures and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Optimization algorithms in deep learning adjust a network's weights to minimize the loss function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guides the model toward parameter values that produce accurate predictions.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They use gradients computed via backpropagation to determine the direction and size of each update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Variants like stochastic gradient descent (SGD), Adam, and RMSprop differ in how they handle learning rates, momentum, and gradient noise to improve convergence speed and stability.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— Stochastic Gradient Descent: the baseline; each update uses the gradient from one mini-batch; noisy, but that noise can help escape shallow local minima.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with Momentum: adds a velocity term so the optimizer remembers past gradients and builds up speed in consistent directions, reducing oscillation.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AdaGrad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adapts the learning rate per parameter based on gradient history;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 — the accumulated sum only grows, so the effective rate can shrink to near zero over long runs.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RMSProp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fixes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AdaGrad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using an exponential moving average instead of a running sum, keeping the rate stable throughout training.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Adam: combines momentum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tracking gradient direction, and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RMSProp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tracks gradient magnitude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produces an optimizer that adapts quickly and stays stable. This is the default choice for most practitioners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we choose which optimization best suits our model.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straightforward update rule;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advantages include simplicity, well-understood behavior, and often better final generalization on vision tasks;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more manual tuning.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adaptive per-parameter learning rates;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converges faster with much less tuning;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go-to choice for NLP, transformers, and generative models.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trade-off: Adam can sometimes converge to sharper solutions that generalize slightly worse than SGD.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 rule of thumb — start with Adam for any new project. If you care deeply about final test accuracy and have budget to tune, try SGD with momentum and a cosine schedule as a second run, then compare validation performance before deciding which produces better results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Optimizer Convergence Feed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 Learning Rate: the range where each optimizer tends to work well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is effective in a narrower range;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needs a wider search.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Overhead: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stores two additional values per parameter — the first and second moment estimates — which is a meaningful cost for very large models;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variants require much less memory.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Use Case: use this column as a shortcut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SGD with momentum for convolutional networks and vision;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transformers, language models, and generative tasks;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RMSProp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recurrent networks. Remind participants: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starting points, not rules. Always validate optimizer choice on your specific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overfitting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1 — Training Accuracy Soars: the model is learning to fit the training data; loss drops steadily; this looks like progress, and initially it is.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2 — Generalization Fails: validation loss stops improving or rises while training loss keeps falling;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gap between them is the generalization gap — the signature of overfitting; the model has stopped learning the pattern and started memorizing examples.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3 — Model Complexity Too High: when a model has far more parameters than the training set can support, it uses that extra capacity to fit noise rather than signal.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diagnostics would you run if training accuracy were very high but test accuracy were much lower?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loss curves,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for data leakage,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reduced model size or added regularization.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cover these approaches on the next two slides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leakage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occurs when information from outside the training dataset — specifically from the test or validation set — is used to build or evaluate a model, causing it to appear more accurate than it actually is on real-world, unseen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vs L2 regularization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techniques add a penalty to the loss function to discourage large weights, but they behave very differently.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— Lasso: adds the sum of absolute weight values to the loss; drives many weights to exactly zero, giving built-in feature selection.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diamond-shaped constraint region on the slide — its corners sit on the coordinate axes, so optimal solutions tend to land on an axis, meaning at least one weight becomes zero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— Ridge: adds the sum of squared weights; shrinks all weights evenly toward zero but rarely to exactly zero; the circular constraint region means all features stay active, just with smaller coefficients.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to use which: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when you suspect many features are irrelevant and want automatic selection;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when all features likely contribute and you want to prevent any single weight from dominating.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Elastic Net blends both and is a safe default when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Structural techniques -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techniques — regularization through architecture or process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work by modifying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model is built or how training runs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the loss function: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four techniques act on the architecture and training process rather than the loss function — they are complementary and are often used together.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Dropout: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randomly switches off a fraction of neurons each training step, forcing the network to learn redundant representations so no single neuron carries the prediction alone;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neurons are active at inference time with outputs scaled accordingly.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Normalization: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normalizes activations within each mini-batch to zero mean and unit variance, then applies learned scale and shift parameters;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stabilizes training, enables higher learning rates, and acts as a mild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 Decay: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equivalent to L2 regularization applied inside the optimizer update step rather than through the loss;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implements this correctly, decoupling weight decay from adaptive gradient scaling.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Stopping: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validation loss and halt training when it stops improving for a set number of epochs, then restore the best weights —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essentially free regularization with no extra hyperparameters beyond a patience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is King: it controls both speed and stability simultaneously — always use a schedule.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 as the Default: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safe starting point for almost any project;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revisit SGD with momentum only when generalization quality is suffering.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Schedules Beat Fixed Rates: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simple step decay meaningfully reduces final error — low effort, high impact.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 is a Signal: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has capacity but lacks constraints;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answer is regularization, not always a smaller model.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Regularization Techniques Stack: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 Dropout, Batch Normalization, and Early Stopping as your baseline suite;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weight decay for dense layers and transformers.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every concept covered today applies regardless of which architecture you encounter next — because all of them train with gradient descent and face the same optimization and regularization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svg"/><Relationship Id="rId12" Type="http://schemas.openxmlformats.org/officeDocument/2006/relationships/image" Target="../media/image6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svg"/><Relationship Id="rId4" Type="http://schemas.openxmlformats.org/officeDocument/2006/relationships/image" Target="../media/image53.png"/><Relationship Id="rId9" Type="http://schemas.openxmlformats.org/officeDocument/2006/relationships/image" Target="../media/image5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96C8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2000" r="50000" b="48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6967" y="1156246"/>
            <a:ext cx="26730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30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A VISUAL GUIDE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290496" y="1423392"/>
            <a:ext cx="6563008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94"/>
              </a:lnSpc>
              <a:spcAft>
                <a:spcPts val="340"/>
              </a:spcAft>
              <a:buNone/>
            </a:pPr>
            <a:r>
              <a:rPr lang="en-US" sz="4280" kern="0" spc="-6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Learning </a:t>
            </a:r>
            <a:r>
              <a:rPr lang="en-US" sz="4280" kern="0" spc="-6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 Schedules</a:t>
            </a:r>
            <a:endParaRPr lang="en-US" sz="4280" dirty="0"/>
          </a:p>
        </p:txBody>
      </p:sp>
      <p:sp>
        <p:nvSpPr>
          <p:cNvPr id="6" name="Text 4"/>
          <p:cNvSpPr/>
          <p:nvPr/>
        </p:nvSpPr>
        <p:spPr>
          <a:xfrm>
            <a:off x="4143375" y="2108150"/>
            <a:ext cx="8572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28294" y="2279452"/>
            <a:ext cx="4887263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70"/>
              </a:lnSpc>
              <a:spcAft>
                <a:spcPts val="2140"/>
              </a:spcAft>
              <a:buNone/>
            </a:pPr>
            <a:r>
              <a:rPr lang="en-US" sz="118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Schedules </a:t>
            </a:r>
            <a:r>
              <a:rPr lang="en-US" sz="1180" kern="0" spc="8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18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Optimizers </a:t>
            </a:r>
            <a:r>
              <a:rPr lang="en-US" sz="1180" kern="0" spc="8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18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Regularization</a:t>
            </a:r>
            <a:endParaRPr lang="en-US" sz="118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1813" y="2775942"/>
            <a:ext cx="3000375" cy="7934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79611" y="3827115"/>
            <a:ext cx="41847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kern="0" spc="140" dirty="0">
                <a:solidFill>
                  <a:srgbClr val="8B949E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TO TRAINING DEEP NEURAL NETWORKS</a:t>
            </a:r>
            <a:endParaRPr lang="en-US" sz="84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620" y="157460"/>
            <a:ext cx="429220" cy="42922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4159" y="4556820"/>
            <a:ext cx="429220" cy="429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0D4FF"/>
              </a:gs>
              <a:gs pos="70000">
                <a:srgbClr val="0088B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60000">
                <a:srgbClr val="0090C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6722"/>
            <a:ext cx="43160" cy="43160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7510" y="163562"/>
            <a:ext cx="60049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457200" y="336203"/>
            <a:ext cx="8805672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spcAft>
                <a:spcPts val="230"/>
              </a:spcAft>
              <a:buNone/>
            </a:pPr>
            <a:r>
              <a:rPr lang="en-US" sz="2140" kern="0" spc="43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Will Cover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457200" y="773013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5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DEEP NEURAL NETWORK 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0050" y="1072604"/>
            <a:ext cx="2647504" cy="2121991"/>
          </a:xfrm>
          <a:prstGeom prst="roundRect">
            <a:avLst>
              <a:gd name="adj" fmla="val 4728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8175" y="1282750"/>
            <a:ext cx="443210" cy="443210"/>
          </a:xfrm>
          <a:prstGeom prst="roundRect">
            <a:avLst>
              <a:gd name="adj" fmla="val 25789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11" y="1386185"/>
            <a:ext cx="236190" cy="2361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8175" y="1840260"/>
            <a:ext cx="1383093" cy="37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2"/>
              </a:lnSpc>
              <a:spcAft>
                <a:spcPts val="560"/>
              </a:spcAft>
              <a:buNone/>
            </a:pPr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Descent &amp;</a:t>
            </a:r>
            <a:br/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Learning Rate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638175" y="2269927"/>
            <a:ext cx="2214679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learn by minimizing loss, and why learning rate is the most critical hyperparameter in any training run.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38175" y="2906464"/>
            <a:ext cx="57150" cy="57150"/>
          </a:xfrm>
          <a:prstGeom prst="ellipse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52475" y="2870299"/>
            <a:ext cx="64813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409575" y="3177480"/>
            <a:ext cx="2628454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48174" y="1072604"/>
            <a:ext cx="2647652" cy="2121991"/>
          </a:xfrm>
          <a:prstGeom prst="roundRect">
            <a:avLst>
              <a:gd name="adj" fmla="val 4728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86299" y="1282750"/>
            <a:ext cx="443210" cy="443210"/>
          </a:xfrm>
          <a:prstGeom prst="roundRect">
            <a:avLst>
              <a:gd name="adj" fmla="val 25789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9316" y="1386185"/>
            <a:ext cx="257175" cy="236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86299" y="1840260"/>
            <a:ext cx="902782" cy="37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2"/>
              </a:lnSpc>
              <a:spcAft>
                <a:spcPts val="560"/>
              </a:spcAft>
              <a:buNone/>
            </a:pPr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Optimization</a:t>
            </a:r>
            <a:br/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Algorithms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3486299" y="2269927"/>
            <a:ext cx="221483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Momentum, RMSprop, Adam, AdamW — how each optimizer navigates the loss landscape differently to reach convergence.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3486299" y="2906464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600599" y="2870299"/>
            <a:ext cx="64813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3257699" y="3177480"/>
            <a:ext cx="2628602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59E0B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96446" y="1072604"/>
            <a:ext cx="2647504" cy="2121991"/>
          </a:xfrm>
          <a:prstGeom prst="roundRect">
            <a:avLst>
              <a:gd name="adj" fmla="val 4728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334571" y="1282750"/>
            <a:ext cx="443210" cy="443210"/>
          </a:xfrm>
          <a:prstGeom prst="roundRect">
            <a:avLst>
              <a:gd name="adj" fmla="val 25789"/>
            </a:avLst>
          </a:prstGeom>
          <a:solidFill>
            <a:srgbClr val="A855F7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8007" y="1386185"/>
            <a:ext cx="236190" cy="23619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34571" y="1840260"/>
            <a:ext cx="1027718" cy="37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2"/>
              </a:lnSpc>
              <a:spcAft>
                <a:spcPts val="560"/>
              </a:spcAft>
              <a:buNone/>
            </a:pPr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Regularization</a:t>
            </a:r>
            <a:br/>
            <a:r>
              <a:rPr lang="en-US" sz="1130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Techniques</a:t>
            </a:r>
            <a:endParaRPr lang="en-US" sz="1130" dirty="0"/>
          </a:p>
        </p:txBody>
      </p:sp>
      <p:sp>
        <p:nvSpPr>
          <p:cNvPr id="27" name="Text 22"/>
          <p:cNvSpPr/>
          <p:nvPr/>
        </p:nvSpPr>
        <p:spPr>
          <a:xfrm>
            <a:off x="6334571" y="2269927"/>
            <a:ext cx="2214679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L1, L2, Dropout, Batch Normalization — preventing overfitting and improving model generalization on unseen data.</a:t>
            </a:r>
            <a:endParaRPr lang="en-US" sz="820" dirty="0"/>
          </a:p>
        </p:txBody>
      </p:sp>
      <p:sp>
        <p:nvSpPr>
          <p:cNvPr id="28" name="Text 23"/>
          <p:cNvSpPr/>
          <p:nvPr/>
        </p:nvSpPr>
        <p:spPr>
          <a:xfrm>
            <a:off x="6334571" y="2906464"/>
            <a:ext cx="57150" cy="5715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448871" y="2870299"/>
            <a:ext cx="64813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6105971" y="3177480"/>
            <a:ext cx="2628454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09575" y="1082129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00330" y="0"/>
                </a:moveTo>
                <a:lnTo>
                  <a:pt x="2528123" y="0"/>
                </a:lnTo>
                <a:lnTo>
                  <a:pt x="2551231" y="2698"/>
                </a:lnTo>
                <a:lnTo>
                  <a:pt x="2560580" y="5395"/>
                </a:lnTo>
                <a:lnTo>
                  <a:pt x="2567599" y="8093"/>
                </a:lnTo>
                <a:lnTo>
                  <a:pt x="2573385" y="10790"/>
                </a:lnTo>
                <a:lnTo>
                  <a:pt x="2578367" y="13488"/>
                </a:lnTo>
                <a:lnTo>
                  <a:pt x="2582764" y="16185"/>
                </a:lnTo>
                <a:lnTo>
                  <a:pt x="2586709" y="18883"/>
                </a:lnTo>
                <a:lnTo>
                  <a:pt x="25902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7BA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257699" y="1082129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100330" y="0"/>
                </a:moveTo>
                <a:lnTo>
                  <a:pt x="2528275" y="0"/>
                </a:lnTo>
                <a:lnTo>
                  <a:pt x="2551384" y="2698"/>
                </a:lnTo>
                <a:lnTo>
                  <a:pt x="2560732" y="5395"/>
                </a:lnTo>
                <a:lnTo>
                  <a:pt x="2567751" y="8093"/>
                </a:lnTo>
                <a:lnTo>
                  <a:pt x="2573538" y="10790"/>
                </a:lnTo>
                <a:lnTo>
                  <a:pt x="2578519" y="13488"/>
                </a:lnTo>
                <a:lnTo>
                  <a:pt x="2582917" y="16185"/>
                </a:lnTo>
                <a:lnTo>
                  <a:pt x="2586862" y="18883"/>
                </a:lnTo>
                <a:lnTo>
                  <a:pt x="25904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22C55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105971" y="1082129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00330" y="0"/>
                </a:moveTo>
                <a:lnTo>
                  <a:pt x="2528123" y="0"/>
                </a:lnTo>
                <a:lnTo>
                  <a:pt x="2551231" y="2698"/>
                </a:lnTo>
                <a:lnTo>
                  <a:pt x="2560580" y="5395"/>
                </a:lnTo>
                <a:lnTo>
                  <a:pt x="2567599" y="8093"/>
                </a:lnTo>
                <a:lnTo>
                  <a:pt x="2573385" y="10790"/>
                </a:lnTo>
                <a:lnTo>
                  <a:pt x="2578367" y="13488"/>
                </a:lnTo>
                <a:lnTo>
                  <a:pt x="2582764" y="16185"/>
                </a:lnTo>
                <a:lnTo>
                  <a:pt x="2586709" y="18883"/>
                </a:lnTo>
                <a:lnTo>
                  <a:pt x="25902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85750"/>
            <a:ext cx="8927973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230"/>
              </a:spcAft>
              <a:buNone/>
            </a:pPr>
            <a:r>
              <a:rPr lang="en-US" sz="214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Gradient Descent: The Core Algorithm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00050" y="627311"/>
            <a:ext cx="457200" cy="21580"/>
          </a:xfrm>
          <a:prstGeom prst="roundRect">
            <a:avLst>
              <a:gd name="adj" fmla="val 64736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792361"/>
            <a:ext cx="1882080" cy="1441698"/>
          </a:xfrm>
          <a:prstGeom prst="roundRect">
            <a:avLst>
              <a:gd name="adj" fmla="val 4933"/>
            </a:avLst>
          </a:prstGeom>
          <a:solidFill>
            <a:srgbClr val="161B22"/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930027"/>
            <a:ext cx="257770" cy="283547"/>
          </a:xfrm>
          <a:prstGeom prst="ellipse">
            <a:avLst/>
          </a:prstGeom>
          <a:gradFill rotWithShape="1">
            <a:gsLst>
              <a:gs pos="0">
                <a:srgbClr val="00D4FF"/>
              </a:gs>
              <a:gs pos="100000">
                <a:srgbClr val="0092C4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23875" y="1258788"/>
            <a:ext cx="8794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Forward Pass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23875" y="1454348"/>
            <a:ext cx="166711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predictions and calculate loss</a:t>
            </a:r>
            <a:br/>
            <a:r>
              <a:rPr lang="en-US" sz="73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f(θ)</a:t>
            </a:r>
            <a:endParaRPr lang="en-US" sz="76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5" y="1959769"/>
            <a:ext cx="150465" cy="15046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063" y="1448842"/>
            <a:ext cx="203746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53891" y="792361"/>
            <a:ext cx="1882229" cy="1441698"/>
          </a:xfrm>
          <a:prstGeom prst="roundRect">
            <a:avLst>
              <a:gd name="adj" fmla="val 4933"/>
            </a:avLst>
          </a:prstGeom>
          <a:solidFill>
            <a:srgbClr val="161B22"/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677716" y="930027"/>
            <a:ext cx="257770" cy="283547"/>
          </a:xfrm>
          <a:prstGeom prst="ellipse">
            <a:avLst/>
          </a:prstGeom>
          <a:gradFill rotWithShape="1">
            <a:gsLst>
              <a:gs pos="0">
                <a:srgbClr val="00D4FF"/>
              </a:gs>
              <a:gs pos="100000">
                <a:srgbClr val="0092C4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2677716" y="1258788"/>
            <a:ext cx="116955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 Gradient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2677716" y="1454348"/>
            <a:ext cx="166727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direction of steepest ascent in the loss landscape</a:t>
            </a:r>
            <a:br/>
            <a:r>
              <a:rPr lang="en-US" sz="73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∂L/∂θ</a:t>
            </a:r>
            <a:endParaRPr lang="en-US" sz="76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7716" y="1959769"/>
            <a:ext cx="150465" cy="15046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0053" y="1448842"/>
            <a:ext cx="203746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7880" y="792361"/>
            <a:ext cx="1882080" cy="1441698"/>
          </a:xfrm>
          <a:prstGeom prst="roundRect">
            <a:avLst>
              <a:gd name="adj" fmla="val 4933"/>
            </a:avLst>
          </a:prstGeom>
          <a:solidFill>
            <a:srgbClr val="161B22"/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831705" y="930027"/>
            <a:ext cx="257770" cy="283547"/>
          </a:xfrm>
          <a:prstGeom prst="ellipse">
            <a:avLst/>
          </a:prstGeom>
          <a:gradFill rotWithShape="1">
            <a:gsLst>
              <a:gs pos="0">
                <a:srgbClr val="00D4FF"/>
              </a:gs>
              <a:gs pos="100000">
                <a:srgbClr val="0092C4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3"/>
          <p:cNvSpPr/>
          <p:nvPr/>
        </p:nvSpPr>
        <p:spPr>
          <a:xfrm>
            <a:off x="4831705" y="1258788"/>
            <a:ext cx="101075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Weights</a:t>
            </a:r>
            <a:endParaRPr lang="en-US" sz="960" dirty="0"/>
          </a:p>
        </p:txBody>
      </p:sp>
      <p:sp>
        <p:nvSpPr>
          <p:cNvPr id="20" name="Text 14"/>
          <p:cNvSpPr/>
          <p:nvPr/>
        </p:nvSpPr>
        <p:spPr>
          <a:xfrm>
            <a:off x="4831705" y="1454348"/>
            <a:ext cx="1667119" cy="44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gradient step scaled by learning rate η</a:t>
            </a:r>
            <a:br/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← θ − η · ∇L(θ)</a:t>
            </a:r>
            <a:endParaRPr lang="en-US" sz="76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1705" y="1959769"/>
            <a:ext cx="150465" cy="150465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3893" y="1448842"/>
            <a:ext cx="203746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61721" y="792361"/>
            <a:ext cx="1882229" cy="1441698"/>
          </a:xfrm>
          <a:prstGeom prst="roundRect">
            <a:avLst>
              <a:gd name="adj" fmla="val 4933"/>
            </a:avLst>
          </a:prstGeom>
          <a:solidFill>
            <a:srgbClr val="161B22"/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6985546" y="930027"/>
            <a:ext cx="257770" cy="283547"/>
          </a:xfrm>
          <a:prstGeom prst="ellipse">
            <a:avLst/>
          </a:prstGeom>
          <a:gradFill rotWithShape="1">
            <a:gsLst>
              <a:gs pos="0">
                <a:srgbClr val="00D4FF"/>
              </a:gs>
              <a:gs pos="100000">
                <a:srgbClr val="0092C4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5" name="Text 17"/>
          <p:cNvSpPr/>
          <p:nvPr/>
        </p:nvSpPr>
        <p:spPr>
          <a:xfrm>
            <a:off x="6985546" y="1258788"/>
            <a:ext cx="44709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Repeat</a:t>
            </a:r>
            <a:endParaRPr lang="en-US" sz="960" dirty="0"/>
          </a:p>
        </p:txBody>
      </p:sp>
      <p:sp>
        <p:nvSpPr>
          <p:cNvPr id="26" name="Text 18"/>
          <p:cNvSpPr/>
          <p:nvPr/>
        </p:nvSpPr>
        <p:spPr>
          <a:xfrm>
            <a:off x="6985546" y="1454348"/>
            <a:ext cx="1667271" cy="4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batches and epochs until convergence or stopping criterion is met</a:t>
            </a:r>
            <a:endParaRPr lang="en-US" sz="76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546" y="1959769"/>
            <a:ext cx="150465" cy="15046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0050" y="2391519"/>
            <a:ext cx="8343900" cy="2523381"/>
          </a:xfrm>
          <a:prstGeom prst="roundRect">
            <a:avLst>
              <a:gd name="adj" fmla="val 3422"/>
            </a:avLst>
          </a:prstGeom>
          <a:solidFill>
            <a:srgbClr val="161B22"/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581025" y="3040559"/>
            <a:ext cx="215001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79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LANDSCAPE VISUALIZATION</a:t>
            </a:r>
            <a:endParaRPr lang="en-US" sz="79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4905" y="3234184"/>
            <a:ext cx="5894040" cy="1060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60000">
                <a:srgbClr val="0088A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9220" y="315218"/>
            <a:ext cx="35421" cy="257770"/>
          </a:xfrm>
          <a:prstGeom prst="roundRect">
            <a:avLst>
              <a:gd name="adj" fmla="val 60953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0962" y="286941"/>
            <a:ext cx="383958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Learning Rate Matters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51111" y="630436"/>
            <a:ext cx="898003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hyperparameter in training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429220" y="927348"/>
            <a:ext cx="2676376" cy="1262211"/>
          </a:xfrm>
          <a:prstGeom prst="roundRect">
            <a:avLst>
              <a:gd name="adj" fmla="val 68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5666" y="1010701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3535" y="1108323"/>
            <a:ext cx="727747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80"/>
              </a:lnSpc>
              <a:buNone/>
            </a:pPr>
            <a:r>
              <a:rPr lang="en-US" sz="3380" b="1" kern="0" spc="-6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10x</a:t>
            </a:r>
            <a:endParaRPr lang="en-US" sz="3380" dirty="0"/>
          </a:p>
        </p:txBody>
      </p:sp>
      <p:sp>
        <p:nvSpPr>
          <p:cNvPr id="9" name="Text 6"/>
          <p:cNvSpPr/>
          <p:nvPr/>
        </p:nvSpPr>
        <p:spPr>
          <a:xfrm>
            <a:off x="1441705" y="1594693"/>
            <a:ext cx="6514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3B82F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TOO LOW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1256967" y="1755874"/>
            <a:ext cx="1020735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convergence with LR too low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233738" y="927348"/>
            <a:ext cx="2676376" cy="1262211"/>
          </a:xfrm>
          <a:prstGeom prst="roundRect">
            <a:avLst>
              <a:gd name="adj" fmla="val 68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0183" y="1010701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5265" y="1108323"/>
            <a:ext cx="313320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80"/>
              </a:lnSpc>
              <a:buNone/>
            </a:pPr>
            <a:r>
              <a:rPr lang="en-US" sz="3380" b="1" kern="0" spc="-6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∞</a:t>
            </a:r>
            <a:endParaRPr lang="en-US" sz="3380" dirty="0"/>
          </a:p>
        </p:txBody>
      </p:sp>
      <p:sp>
        <p:nvSpPr>
          <p:cNvPr id="14" name="Text 10"/>
          <p:cNvSpPr/>
          <p:nvPr/>
        </p:nvSpPr>
        <p:spPr>
          <a:xfrm>
            <a:off x="4230998" y="1594693"/>
            <a:ext cx="6818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EF444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TOO HIGH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4061484" y="1755874"/>
            <a:ext cx="1020735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risk when LR is too high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6038255" y="927348"/>
            <a:ext cx="2676525" cy="1262211"/>
          </a:xfrm>
          <a:prstGeom prst="roundRect">
            <a:avLst>
              <a:gd name="adj" fmla="val 68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4849" y="1010701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91304" y="1108323"/>
            <a:ext cx="970278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80"/>
              </a:lnSpc>
              <a:buNone/>
            </a:pPr>
            <a:r>
              <a:rPr lang="en-US" sz="3380" b="1" kern="0" spc="-6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3–5x</a:t>
            </a:r>
            <a:endParaRPr lang="en-US" sz="3380" dirty="0"/>
          </a:p>
        </p:txBody>
      </p:sp>
      <p:sp>
        <p:nvSpPr>
          <p:cNvPr id="19" name="Text 14"/>
          <p:cNvSpPr/>
          <p:nvPr/>
        </p:nvSpPr>
        <p:spPr>
          <a:xfrm>
            <a:off x="6851504" y="1594693"/>
            <a:ext cx="10498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22C55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SCHEDULE</a:t>
            </a:r>
            <a:endParaRPr lang="en-US" sz="620" dirty="0"/>
          </a:p>
        </p:txBody>
      </p:sp>
      <p:sp>
        <p:nvSpPr>
          <p:cNvPr id="20" name="Text 15"/>
          <p:cNvSpPr/>
          <p:nvPr/>
        </p:nvSpPr>
        <p:spPr>
          <a:xfrm>
            <a:off x="6866150" y="1755874"/>
            <a:ext cx="1020735" cy="29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from optimal LR scheduling</a:t>
            </a:r>
            <a:endParaRPr lang="en-US" sz="790" dirty="0"/>
          </a:p>
        </p:txBody>
      </p:sp>
      <p:sp>
        <p:nvSpPr>
          <p:cNvPr id="21" name="Text 16"/>
          <p:cNvSpPr/>
          <p:nvPr/>
        </p:nvSpPr>
        <p:spPr>
          <a:xfrm>
            <a:off x="429220" y="2333030"/>
            <a:ext cx="8285559" cy="2581721"/>
          </a:xfrm>
          <a:prstGeom prst="roundRect">
            <a:avLst>
              <a:gd name="adj" fmla="val 33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38745" y="2342555"/>
            <a:ext cx="8266509" cy="2562671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10195" y="2486025"/>
            <a:ext cx="171667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VS. EPOCHS</a:t>
            </a:r>
            <a:endParaRPr lang="en-US" sz="73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7913" y="2528888"/>
            <a:ext cx="150465" cy="532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1538" y="2490788"/>
            <a:ext cx="556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Too High</a:t>
            </a:r>
            <a:endParaRPr lang="en-US" sz="68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8706" y="2528888"/>
            <a:ext cx="150465" cy="532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2331" y="2490788"/>
            <a:ext cx="50570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LR</a:t>
            </a:r>
            <a:endParaRPr lang="en-US" sz="68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3511" y="2528888"/>
            <a:ext cx="150465" cy="532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47137" y="2490788"/>
            <a:ext cx="5353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Too Low</a:t>
            </a:r>
            <a:endParaRPr lang="en-US" sz="68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195" y="2711351"/>
            <a:ext cx="7923609" cy="20002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38745" y="936873"/>
            <a:ext cx="2657323" cy="21580"/>
          </a:xfrm>
          <a:custGeom>
            <a:avLst/>
            <a:gdLst/>
            <a:ahLst/>
            <a:cxnLst/>
            <a:rect l="l" t="t" r="r" b="b"/>
            <a:pathLst>
              <a:path w="2657323" h="21580">
                <a:moveTo>
                  <a:pt x="86360" y="0"/>
                </a:moveTo>
                <a:lnTo>
                  <a:pt x="2570963" y="0"/>
                </a:lnTo>
                <a:lnTo>
                  <a:pt x="2592378" y="2698"/>
                </a:lnTo>
                <a:lnTo>
                  <a:pt x="2601008" y="5395"/>
                </a:lnTo>
                <a:lnTo>
                  <a:pt x="2607463" y="8093"/>
                </a:lnTo>
                <a:lnTo>
                  <a:pt x="2612762" y="10790"/>
                </a:lnTo>
                <a:lnTo>
                  <a:pt x="2617305" y="13488"/>
                </a:lnTo>
                <a:lnTo>
                  <a:pt x="2621297" y="16185"/>
                </a:lnTo>
                <a:lnTo>
                  <a:pt x="2624859" y="18883"/>
                </a:lnTo>
                <a:lnTo>
                  <a:pt x="262807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438745" y="936873"/>
            <a:ext cx="2657323" cy="1243165"/>
          </a:xfrm>
          <a:prstGeom prst="roundRect">
            <a:avLst>
              <a:gd name="adj" fmla="val 6947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3243263" y="936873"/>
            <a:ext cx="2657323" cy="21580"/>
          </a:xfrm>
          <a:custGeom>
            <a:avLst/>
            <a:gdLst/>
            <a:ahLst/>
            <a:cxnLst/>
            <a:rect l="l" t="t" r="r" b="b"/>
            <a:pathLst>
              <a:path w="2657323" h="21580">
                <a:moveTo>
                  <a:pt x="86360" y="0"/>
                </a:moveTo>
                <a:lnTo>
                  <a:pt x="2570963" y="0"/>
                </a:lnTo>
                <a:lnTo>
                  <a:pt x="2592378" y="2698"/>
                </a:lnTo>
                <a:lnTo>
                  <a:pt x="2601008" y="5395"/>
                </a:lnTo>
                <a:lnTo>
                  <a:pt x="2607463" y="8093"/>
                </a:lnTo>
                <a:lnTo>
                  <a:pt x="2612762" y="10790"/>
                </a:lnTo>
                <a:lnTo>
                  <a:pt x="2617305" y="13488"/>
                </a:lnTo>
                <a:lnTo>
                  <a:pt x="2621297" y="16185"/>
                </a:lnTo>
                <a:lnTo>
                  <a:pt x="2624859" y="18883"/>
                </a:lnTo>
                <a:lnTo>
                  <a:pt x="262807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3243263" y="936873"/>
            <a:ext cx="2657323" cy="1243165"/>
          </a:xfrm>
          <a:prstGeom prst="roundRect">
            <a:avLst>
              <a:gd name="adj" fmla="val 6947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6047780" y="936873"/>
            <a:ext cx="2657475" cy="21580"/>
          </a:xfrm>
          <a:custGeom>
            <a:avLst/>
            <a:gdLst/>
            <a:ahLst/>
            <a:cxnLst/>
            <a:rect l="l" t="t" r="r" b="b"/>
            <a:pathLst>
              <a:path w="2657475" h="21580">
                <a:moveTo>
                  <a:pt x="86360" y="0"/>
                </a:moveTo>
                <a:lnTo>
                  <a:pt x="2571115" y="0"/>
                </a:lnTo>
                <a:lnTo>
                  <a:pt x="2592531" y="2698"/>
                </a:lnTo>
                <a:lnTo>
                  <a:pt x="2601160" y="5395"/>
                </a:lnTo>
                <a:lnTo>
                  <a:pt x="2607615" y="8093"/>
                </a:lnTo>
                <a:lnTo>
                  <a:pt x="2612915" y="10790"/>
                </a:lnTo>
                <a:lnTo>
                  <a:pt x="2617458" y="13488"/>
                </a:lnTo>
                <a:lnTo>
                  <a:pt x="2621449" y="16185"/>
                </a:lnTo>
                <a:lnTo>
                  <a:pt x="2625012" y="18883"/>
                </a:lnTo>
                <a:lnTo>
                  <a:pt x="26282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6047780" y="936873"/>
            <a:ext cx="2657475" cy="1243165"/>
          </a:xfrm>
          <a:prstGeom prst="roundRect">
            <a:avLst>
              <a:gd name="adj" fmla="val 6947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200620"/>
            <a:ext cx="372070" cy="21580"/>
          </a:xfrm>
          <a:prstGeom prst="roundRect">
            <a:avLst>
              <a:gd name="adj" fmla="val 64736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293191"/>
            <a:ext cx="898785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Learning Rate Schedules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372070" y="621209"/>
            <a:ext cx="92398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230"/>
              </a:spcBef>
              <a:buNone/>
            </a:pPr>
            <a:r>
              <a:rPr lang="en-US" sz="900" kern="0" spc="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learning rate over training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72070" y="920800"/>
            <a:ext cx="2003822" cy="3833664"/>
          </a:xfrm>
          <a:prstGeom prst="roundRect">
            <a:avLst>
              <a:gd name="adj" fmla="val 4310"/>
            </a:avLst>
          </a:prstGeom>
          <a:solidFill>
            <a:srgbClr val="0D1117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3940" y="1058466"/>
            <a:ext cx="66008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Decay</a:t>
            </a:r>
            <a:endParaRPr lang="en-US" sz="84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44" y="1989981"/>
            <a:ext cx="1285875" cy="16610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4064" y="4422725"/>
            <a:ext cx="1819835" cy="207913"/>
          </a:xfrm>
          <a:prstGeom prst="roundRect">
            <a:avLst>
              <a:gd name="adj" fmla="val 207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71120" tIns="35560" rIns="71120" bIns="3556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η_t = η₀ · γ^⌊t/s⌋</a:t>
            </a: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γ=0.1, s=30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2504033" y="920800"/>
            <a:ext cx="2003971" cy="3833664"/>
          </a:xfrm>
          <a:prstGeom prst="roundRect">
            <a:avLst>
              <a:gd name="adj" fmla="val 4309"/>
            </a:avLst>
          </a:prstGeom>
          <a:solidFill>
            <a:srgbClr val="0D1117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990746" y="1058466"/>
            <a:ext cx="103039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Cosine Annealing</a:t>
            </a:r>
            <a:endParaRPr lang="en-US" sz="84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3007" y="1931045"/>
            <a:ext cx="1285875" cy="16610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3868" y="4304705"/>
            <a:ext cx="1784300" cy="335712"/>
          </a:xfrm>
          <a:prstGeom prst="roundRect">
            <a:avLst>
              <a:gd name="adj" fmla="val 1286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71120" tIns="35560" rIns="71120" bIns="3556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η_t = η_min + ½(η_max−η_min)(1+cos(πt/T))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4636145" y="920800"/>
            <a:ext cx="2003822" cy="3833664"/>
          </a:xfrm>
          <a:prstGeom prst="roundRect">
            <a:avLst>
              <a:gd name="adj" fmla="val 4310"/>
            </a:avLst>
          </a:prstGeom>
          <a:solidFill>
            <a:srgbClr val="0D1117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22538" y="1058466"/>
            <a:ext cx="10308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Warmup + Cosine</a:t>
            </a:r>
            <a:endParaRPr lang="en-US" sz="84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5118" y="1931045"/>
            <a:ext cx="1285875" cy="16610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45980" y="4304705"/>
            <a:ext cx="1784152" cy="335712"/>
          </a:xfrm>
          <a:prstGeom prst="roundRect">
            <a:avLst>
              <a:gd name="adj" fmla="val 1286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lIns="71120" tIns="35560" rIns="71120" bIns="3556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warmup (0→η₀)</a:t>
            </a: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cosine decay</a:t>
            </a:r>
            <a:endParaRPr lang="en-US" sz="620" dirty="0"/>
          </a:p>
        </p:txBody>
      </p:sp>
      <p:sp>
        <p:nvSpPr>
          <p:cNvPr id="17" name="Text 12"/>
          <p:cNvSpPr/>
          <p:nvPr/>
        </p:nvSpPr>
        <p:spPr>
          <a:xfrm>
            <a:off x="6768108" y="920800"/>
            <a:ext cx="2003822" cy="3833664"/>
          </a:xfrm>
          <a:prstGeom prst="roundRect">
            <a:avLst>
              <a:gd name="adj" fmla="val 4310"/>
            </a:avLst>
          </a:prstGeom>
          <a:solidFill>
            <a:srgbClr val="0D1117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225032" y="1058466"/>
            <a:ext cx="108982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Exponential Decay</a:t>
            </a:r>
            <a:endParaRPr lang="en-US" sz="84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7081" y="1989981"/>
            <a:ext cx="1285875" cy="166107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60101" y="4422725"/>
            <a:ext cx="1819835" cy="207913"/>
          </a:xfrm>
          <a:prstGeom prst="roundRect">
            <a:avLst>
              <a:gd name="adj" fmla="val 207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71120" tIns="35560" rIns="71120" bIns="3556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η_t = η₀ · e^(−λt)</a:t>
            </a: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λ=0.035</a:t>
            </a:r>
            <a:endParaRPr lang="en-US" sz="620" dirty="0"/>
          </a:p>
        </p:txBody>
      </p:sp>
      <p:sp>
        <p:nvSpPr>
          <p:cNvPr id="21" name="Text 15"/>
          <p:cNvSpPr/>
          <p:nvPr/>
        </p:nvSpPr>
        <p:spPr>
          <a:xfrm>
            <a:off x="372070" y="4825454"/>
            <a:ext cx="8399859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1015305" y="4953595"/>
            <a:ext cx="157460" cy="21580"/>
          </a:xfrm>
          <a:prstGeom prst="roundRect">
            <a:avLst>
              <a:gd name="adj" fmla="val 64736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1222177" y="4899720"/>
            <a:ext cx="123290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 — discrete drops</a:t>
            </a:r>
            <a:endParaRPr lang="en-US" sz="680" dirty="0"/>
          </a:p>
        </p:txBody>
      </p:sp>
      <p:sp>
        <p:nvSpPr>
          <p:cNvPr id="24" name="Text 18"/>
          <p:cNvSpPr/>
          <p:nvPr/>
        </p:nvSpPr>
        <p:spPr>
          <a:xfrm>
            <a:off x="2600771" y="4953595"/>
            <a:ext cx="157460" cy="21580"/>
          </a:xfrm>
          <a:prstGeom prst="roundRect">
            <a:avLst>
              <a:gd name="adj" fmla="val 64736"/>
            </a:avLst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2807643" y="4899720"/>
            <a:ext cx="155967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— periodic restarts</a:t>
            </a:r>
            <a:endParaRPr lang="en-US" sz="680" dirty="0"/>
          </a:p>
        </p:txBody>
      </p:sp>
      <p:sp>
        <p:nvSpPr>
          <p:cNvPr id="26" name="Text 20"/>
          <p:cNvSpPr/>
          <p:nvPr/>
        </p:nvSpPr>
        <p:spPr>
          <a:xfrm>
            <a:off x="4483298" y="4953595"/>
            <a:ext cx="157460" cy="21580"/>
          </a:xfrm>
          <a:prstGeom prst="roundRect">
            <a:avLst>
              <a:gd name="adj" fmla="val 64736"/>
            </a:avLst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690170" y="4899720"/>
            <a:ext cx="153757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+ Cosine — modern default</a:t>
            </a:r>
            <a:endParaRPr lang="en-US" sz="680" dirty="0"/>
          </a:p>
        </p:txBody>
      </p:sp>
      <p:sp>
        <p:nvSpPr>
          <p:cNvPr id="28" name="Text 22"/>
          <p:cNvSpPr/>
          <p:nvPr/>
        </p:nvSpPr>
        <p:spPr>
          <a:xfrm>
            <a:off x="6345734" y="4953595"/>
            <a:ext cx="157460" cy="21580"/>
          </a:xfrm>
          <a:prstGeom prst="roundRect">
            <a:avLst>
              <a:gd name="adj" fmla="val 64736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552605" y="4899720"/>
            <a:ext cx="17335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— smooth continuous</a:t>
            </a:r>
            <a:endParaRPr lang="en-US" sz="680" dirty="0"/>
          </a:p>
        </p:txBody>
      </p:sp>
      <p:sp>
        <p:nvSpPr>
          <p:cNvPr id="30" name="Text 24"/>
          <p:cNvSpPr/>
          <p:nvPr/>
        </p:nvSpPr>
        <p:spPr>
          <a:xfrm>
            <a:off x="381595" y="930325"/>
            <a:ext cx="1984772" cy="13841"/>
          </a:xfrm>
          <a:custGeom>
            <a:avLst/>
            <a:gdLst/>
            <a:ahLst/>
            <a:cxnLst/>
            <a:rect l="l" t="t" r="r" b="b"/>
            <a:pathLst>
              <a:path w="1984772" h="13841">
                <a:moveTo>
                  <a:pt x="86360" y="0"/>
                </a:moveTo>
                <a:lnTo>
                  <a:pt x="1898412" y="0"/>
                </a:lnTo>
                <a:lnTo>
                  <a:pt x="1915612" y="1730"/>
                </a:lnTo>
                <a:lnTo>
                  <a:pt x="1922613" y="3460"/>
                </a:lnTo>
                <a:lnTo>
                  <a:pt x="1927900" y="5190"/>
                </a:lnTo>
                <a:lnTo>
                  <a:pt x="1932285" y="6920"/>
                </a:lnTo>
                <a:lnTo>
                  <a:pt x="1936085" y="8651"/>
                </a:lnTo>
                <a:lnTo>
                  <a:pt x="1939463" y="10381"/>
                </a:lnTo>
                <a:lnTo>
                  <a:pt x="1942515" y="12111"/>
                </a:lnTo>
                <a:lnTo>
                  <a:pt x="194530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2513558" y="930325"/>
            <a:ext cx="1984924" cy="13841"/>
          </a:xfrm>
          <a:custGeom>
            <a:avLst/>
            <a:gdLst/>
            <a:ahLst/>
            <a:cxnLst/>
            <a:rect l="l" t="t" r="r" b="b"/>
            <a:pathLst>
              <a:path w="1984924" h="13841">
                <a:moveTo>
                  <a:pt x="86360" y="0"/>
                </a:moveTo>
                <a:lnTo>
                  <a:pt x="1898564" y="0"/>
                </a:lnTo>
                <a:lnTo>
                  <a:pt x="1915764" y="1730"/>
                </a:lnTo>
                <a:lnTo>
                  <a:pt x="1922765" y="3460"/>
                </a:lnTo>
                <a:lnTo>
                  <a:pt x="1928052" y="5190"/>
                </a:lnTo>
                <a:lnTo>
                  <a:pt x="1932438" y="6920"/>
                </a:lnTo>
                <a:lnTo>
                  <a:pt x="1936238" y="8651"/>
                </a:lnTo>
                <a:lnTo>
                  <a:pt x="1939615" y="10381"/>
                </a:lnTo>
                <a:lnTo>
                  <a:pt x="1942668" y="12111"/>
                </a:lnTo>
                <a:lnTo>
                  <a:pt x="1945458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45670" y="930325"/>
            <a:ext cx="1984772" cy="13841"/>
          </a:xfrm>
          <a:custGeom>
            <a:avLst/>
            <a:gdLst/>
            <a:ahLst/>
            <a:cxnLst/>
            <a:rect l="l" t="t" r="r" b="b"/>
            <a:pathLst>
              <a:path w="1984772" h="13841">
                <a:moveTo>
                  <a:pt x="86360" y="0"/>
                </a:moveTo>
                <a:lnTo>
                  <a:pt x="1898412" y="0"/>
                </a:lnTo>
                <a:lnTo>
                  <a:pt x="1915612" y="1730"/>
                </a:lnTo>
                <a:lnTo>
                  <a:pt x="1922613" y="3460"/>
                </a:lnTo>
                <a:lnTo>
                  <a:pt x="1927900" y="5190"/>
                </a:lnTo>
                <a:lnTo>
                  <a:pt x="1932285" y="6920"/>
                </a:lnTo>
                <a:lnTo>
                  <a:pt x="1936085" y="8651"/>
                </a:lnTo>
                <a:lnTo>
                  <a:pt x="1939463" y="10381"/>
                </a:lnTo>
                <a:lnTo>
                  <a:pt x="1942515" y="12111"/>
                </a:lnTo>
                <a:lnTo>
                  <a:pt x="194530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777633" y="930325"/>
            <a:ext cx="1984772" cy="13841"/>
          </a:xfrm>
          <a:custGeom>
            <a:avLst/>
            <a:gdLst/>
            <a:ahLst/>
            <a:cxnLst/>
            <a:rect l="l" t="t" r="r" b="b"/>
            <a:pathLst>
              <a:path w="1984772" h="13841">
                <a:moveTo>
                  <a:pt x="86360" y="0"/>
                </a:moveTo>
                <a:lnTo>
                  <a:pt x="1898412" y="0"/>
                </a:lnTo>
                <a:lnTo>
                  <a:pt x="1915612" y="1730"/>
                </a:lnTo>
                <a:lnTo>
                  <a:pt x="1922613" y="3460"/>
                </a:lnTo>
                <a:lnTo>
                  <a:pt x="1927900" y="5190"/>
                </a:lnTo>
                <a:lnTo>
                  <a:pt x="1932285" y="6920"/>
                </a:lnTo>
                <a:lnTo>
                  <a:pt x="1936085" y="8651"/>
                </a:lnTo>
                <a:lnTo>
                  <a:pt x="1939463" y="10381"/>
                </a:lnTo>
                <a:lnTo>
                  <a:pt x="1942515" y="12111"/>
                </a:lnTo>
                <a:lnTo>
                  <a:pt x="194530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90000" r="9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369838"/>
            <a:ext cx="257770" cy="29170"/>
          </a:xfrm>
          <a:prstGeom prst="roundRect">
            <a:avLst>
              <a:gd name="adj" fmla="val 47892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6161" y="314920"/>
            <a:ext cx="14432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REFERENCE</a:t>
            </a:r>
            <a:endParaRPr lang="en-US" sz="730" dirty="0"/>
          </a:p>
        </p:txBody>
      </p:sp>
      <p:sp>
        <p:nvSpPr>
          <p:cNvPr id="4" name="Text 2"/>
          <p:cNvSpPr/>
          <p:nvPr/>
        </p:nvSpPr>
        <p:spPr>
          <a:xfrm>
            <a:off x="372070" y="497086"/>
            <a:ext cx="70147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Aft>
                <a:spcPts val="110"/>
              </a:spcAft>
              <a:buNone/>
            </a:pPr>
            <a:r>
              <a:rPr lang="en-US" sz="225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Optimization Algorithms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72070" y="825252"/>
            <a:ext cx="72114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optimizers navigate the loss landscape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2070" y="1124843"/>
            <a:ext cx="6555879" cy="491430"/>
          </a:xfrm>
          <a:prstGeom prst="roundRect">
            <a:avLst>
              <a:gd name="adj" fmla="val 14472"/>
            </a:avLst>
          </a:prstGeom>
          <a:solidFill>
            <a:srgbClr val="161B22"/>
          </a:solidFill>
          <a:ln w="9525">
            <a:solidFill>
              <a:srgbClr val="00D4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895" y="121309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987" y="1304190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8957" y="1225302"/>
            <a:ext cx="540540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SGD </a:t>
            </a:r>
            <a:r>
              <a:rPr lang="en-US" sz="79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(Stochastic Gradient Descent)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938957" y="1385292"/>
            <a:ext cx="540540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weight update using mini-batches. Noisy but generalizes well.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5981105" y="1277541"/>
            <a:ext cx="809726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0.01–0.1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72070" y="1665684"/>
            <a:ext cx="6555879" cy="491430"/>
          </a:xfrm>
          <a:prstGeom prst="roundRect">
            <a:avLst>
              <a:gd name="adj" fmla="val 14472"/>
            </a:avLst>
          </a:prstGeom>
          <a:solidFill>
            <a:srgbClr val="161B22"/>
          </a:solidFill>
          <a:ln w="9525">
            <a:solidFill>
              <a:srgbClr val="00D4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5895" y="1753939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987" y="1845031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8957" y="1766143"/>
            <a:ext cx="573299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SGD + Momentum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938957" y="1926134"/>
            <a:ext cx="57329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velocity in consistent gradient directions. Reduces oscillation.</a:t>
            </a:r>
            <a:endParaRPr lang="en-US" sz="760" dirty="0"/>
          </a:p>
        </p:txBody>
      </p:sp>
      <p:sp>
        <p:nvSpPr>
          <p:cNvPr id="17" name="Text 13"/>
          <p:cNvSpPr/>
          <p:nvPr/>
        </p:nvSpPr>
        <p:spPr>
          <a:xfrm>
            <a:off x="6278910" y="1818382"/>
            <a:ext cx="505965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0.9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372070" y="2206526"/>
            <a:ext cx="6555879" cy="491430"/>
          </a:xfrm>
          <a:prstGeom prst="roundRect">
            <a:avLst>
              <a:gd name="adj" fmla="val 14472"/>
            </a:avLst>
          </a:prstGeom>
          <a:solidFill>
            <a:srgbClr val="161B22"/>
          </a:solidFill>
          <a:ln w="9525">
            <a:solidFill>
              <a:srgbClr val="00D4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5895" y="229478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987" y="2385873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957" y="2306985"/>
            <a:ext cx="551460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AdaGrad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938957" y="2466975"/>
            <a:ext cx="551460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learning rate per-parameter. Good for sparse features. LR decays over time.</a:t>
            </a:r>
            <a:endParaRPr lang="en-US" sz="760" dirty="0"/>
          </a:p>
        </p:txBody>
      </p:sp>
      <p:sp>
        <p:nvSpPr>
          <p:cNvPr id="23" name="Text 18"/>
          <p:cNvSpPr/>
          <p:nvPr/>
        </p:nvSpPr>
        <p:spPr>
          <a:xfrm>
            <a:off x="6080373" y="2359223"/>
            <a:ext cx="708472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lr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372070" y="2747367"/>
            <a:ext cx="6555879" cy="491430"/>
          </a:xfrm>
          <a:prstGeom prst="roundRect">
            <a:avLst>
              <a:gd name="adj" fmla="val 14472"/>
            </a:avLst>
          </a:prstGeom>
          <a:solidFill>
            <a:srgbClr val="161B22"/>
          </a:solidFill>
          <a:ln w="9525">
            <a:solidFill>
              <a:srgbClr val="00D4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95895" y="283562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987" y="2926714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8957" y="2847826"/>
            <a:ext cx="562379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RMSprop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938957" y="3007816"/>
            <a:ext cx="562379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AdaGrad decay with exponential moving average of squared gradients. Great for RNNs.</a:t>
            </a:r>
            <a:endParaRPr lang="en-US" sz="760" dirty="0"/>
          </a:p>
        </p:txBody>
      </p:sp>
      <p:sp>
        <p:nvSpPr>
          <p:cNvPr id="29" name="Text 23"/>
          <p:cNvSpPr/>
          <p:nvPr/>
        </p:nvSpPr>
        <p:spPr>
          <a:xfrm>
            <a:off x="6179641" y="2900065"/>
            <a:ext cx="607219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 of ∇²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372070" y="3288209"/>
            <a:ext cx="6555879" cy="491430"/>
          </a:xfrm>
          <a:prstGeom prst="roundRect">
            <a:avLst>
              <a:gd name="adj" fmla="val 14472"/>
            </a:avLst>
          </a:prstGeom>
          <a:gradFill rotWithShape="1">
            <a:gsLst>
              <a:gs pos="0">
                <a:srgbClr val="161B22"/>
              </a:gs>
              <a:gs pos="100000">
                <a:srgbClr val="00D4FF">
                  <a:alpha val="4000"/>
                </a:srgbClr>
              </a:gs>
            </a:gsLst>
            <a:lin ang="0" scaled="1"/>
          </a:gra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95895" y="337646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987" y="3467555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8957" y="3388668"/>
            <a:ext cx="524153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 </a:t>
            </a:r>
            <a:r>
              <a:rPr lang="en-US" sz="730" dirty="0">
                <a:solidFill>
                  <a:srgbClr val="00D4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Most Popular</a:t>
            </a:r>
            <a:endParaRPr lang="en-US" sz="960" dirty="0"/>
          </a:p>
        </p:txBody>
      </p:sp>
      <p:sp>
        <p:nvSpPr>
          <p:cNvPr id="34" name="Text 27"/>
          <p:cNvSpPr/>
          <p:nvPr/>
        </p:nvSpPr>
        <p:spPr>
          <a:xfrm>
            <a:off x="938957" y="3548658"/>
            <a:ext cx="52415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Momentum + RMSprop. Maintains 1st and 2nd moment estimates.</a:t>
            </a:r>
            <a:endParaRPr lang="en-US" sz="760" dirty="0"/>
          </a:p>
        </p:txBody>
      </p:sp>
      <p:sp>
        <p:nvSpPr>
          <p:cNvPr id="35" name="Text 28"/>
          <p:cNvSpPr/>
          <p:nvPr/>
        </p:nvSpPr>
        <p:spPr>
          <a:xfrm>
            <a:off x="5832128" y="3440906"/>
            <a:ext cx="961683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β₁=0.9, β₂=0.999</a:t>
            </a:r>
            <a:endParaRPr lang="en-US" sz="650" dirty="0"/>
          </a:p>
        </p:txBody>
      </p:sp>
      <p:sp>
        <p:nvSpPr>
          <p:cNvPr id="36" name="Text 29"/>
          <p:cNvSpPr/>
          <p:nvPr/>
        </p:nvSpPr>
        <p:spPr>
          <a:xfrm>
            <a:off x="372070" y="3829050"/>
            <a:ext cx="6555879" cy="491430"/>
          </a:xfrm>
          <a:prstGeom prst="roundRect">
            <a:avLst>
              <a:gd name="adj" fmla="val 14472"/>
            </a:avLst>
          </a:prstGeom>
          <a:solidFill>
            <a:srgbClr val="161B22"/>
          </a:solidFill>
          <a:ln w="9525">
            <a:solidFill>
              <a:srgbClr val="00D4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495895" y="39173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987" y="4008397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38957" y="3929509"/>
            <a:ext cx="545992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AdamW</a:t>
            </a:r>
            <a:endParaRPr lang="en-US" sz="960" dirty="0"/>
          </a:p>
        </p:txBody>
      </p:sp>
      <p:sp>
        <p:nvSpPr>
          <p:cNvPr id="40" name="Text 32"/>
          <p:cNvSpPr/>
          <p:nvPr/>
        </p:nvSpPr>
        <p:spPr>
          <a:xfrm>
            <a:off x="938957" y="4089499"/>
            <a:ext cx="54599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decoupled weight decay. Standard for transformers and LLMs.</a:t>
            </a:r>
            <a:endParaRPr lang="en-US" sz="760" dirty="0"/>
          </a:p>
        </p:txBody>
      </p:sp>
      <p:sp>
        <p:nvSpPr>
          <p:cNvPr id="41" name="Text 33"/>
          <p:cNvSpPr/>
          <p:nvPr/>
        </p:nvSpPr>
        <p:spPr>
          <a:xfrm>
            <a:off x="6030664" y="3981748"/>
            <a:ext cx="759175" cy="186035"/>
          </a:xfrm>
          <a:prstGeom prst="roundRect">
            <a:avLst>
              <a:gd name="adj" fmla="val 23211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</a:t>
            </a:r>
            <a:endParaRPr lang="en-US" sz="650" dirty="0"/>
          </a:p>
        </p:txBody>
      </p:sp>
      <p:sp>
        <p:nvSpPr>
          <p:cNvPr id="42" name="Text 34"/>
          <p:cNvSpPr/>
          <p:nvPr/>
        </p:nvSpPr>
        <p:spPr>
          <a:xfrm>
            <a:off x="7128570" y="314920"/>
            <a:ext cx="1643360" cy="1063079"/>
          </a:xfrm>
          <a:prstGeom prst="roundRect">
            <a:avLst>
              <a:gd name="adj" fmla="val 6690"/>
            </a:avLst>
          </a:prstGeom>
          <a:solidFill>
            <a:srgbClr val="161B22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7238405" y="410766"/>
            <a:ext cx="15660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62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TRAJECTORIES</a:t>
            </a:r>
            <a:endParaRPr lang="en-US" sz="62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8405" y="585936"/>
            <a:ext cx="1071563" cy="69621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128570" y="1448991"/>
            <a:ext cx="1643360" cy="2742158"/>
          </a:xfrm>
          <a:prstGeom prst="roundRect">
            <a:avLst>
              <a:gd name="adj" fmla="val 4328"/>
            </a:avLst>
          </a:prstGeom>
          <a:solidFill>
            <a:srgbClr val="161B22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7238405" y="1544836"/>
            <a:ext cx="15660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62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MEMORY</a:t>
            </a:r>
            <a:endParaRPr lang="en-US" sz="620" dirty="0"/>
          </a:p>
        </p:txBody>
      </p:sp>
      <p:sp>
        <p:nvSpPr>
          <p:cNvPr id="47" name="Text 38"/>
          <p:cNvSpPr/>
          <p:nvPr/>
        </p:nvSpPr>
        <p:spPr>
          <a:xfrm>
            <a:off x="7238405" y="1891010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7238405" y="1747689"/>
            <a:ext cx="20545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680" dirty="0"/>
          </a:p>
        </p:txBody>
      </p:sp>
      <p:sp>
        <p:nvSpPr>
          <p:cNvPr id="49" name="Text 40"/>
          <p:cNvSpPr/>
          <p:nvPr/>
        </p:nvSpPr>
        <p:spPr>
          <a:xfrm>
            <a:off x="8368754" y="1783854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8447484" y="1783854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8526214" y="1783854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8604945" y="1783854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7238405" y="2093119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7238405" y="1949797"/>
            <a:ext cx="47410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680" dirty="0"/>
          </a:p>
        </p:txBody>
      </p:sp>
      <p:sp>
        <p:nvSpPr>
          <p:cNvPr id="55" name="Text 46"/>
          <p:cNvSpPr/>
          <p:nvPr/>
        </p:nvSpPr>
        <p:spPr>
          <a:xfrm>
            <a:off x="8368754" y="1985963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8447484" y="1985963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8526214" y="1985963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8604945" y="1985963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7238405" y="2295227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7238405" y="2151906"/>
            <a:ext cx="37948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</a:t>
            </a:r>
            <a:endParaRPr lang="en-US" sz="680" dirty="0"/>
          </a:p>
        </p:txBody>
      </p:sp>
      <p:sp>
        <p:nvSpPr>
          <p:cNvPr id="61" name="Text 52"/>
          <p:cNvSpPr/>
          <p:nvPr/>
        </p:nvSpPr>
        <p:spPr>
          <a:xfrm>
            <a:off x="8368754" y="2188071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8447484" y="2188071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8526214" y="2188071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8604945" y="2188071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6"/>
          <p:cNvSpPr/>
          <p:nvPr/>
        </p:nvSpPr>
        <p:spPr>
          <a:xfrm>
            <a:off x="7238405" y="2497336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7238405" y="2354014"/>
            <a:ext cx="40043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680" dirty="0"/>
          </a:p>
        </p:txBody>
      </p:sp>
      <p:sp>
        <p:nvSpPr>
          <p:cNvPr id="67" name="Text 58"/>
          <p:cNvSpPr/>
          <p:nvPr/>
        </p:nvSpPr>
        <p:spPr>
          <a:xfrm>
            <a:off x="8368754" y="2390180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8447484" y="2390180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0"/>
          <p:cNvSpPr/>
          <p:nvPr/>
        </p:nvSpPr>
        <p:spPr>
          <a:xfrm>
            <a:off x="8526214" y="2390180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8604945" y="2390180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2"/>
          <p:cNvSpPr/>
          <p:nvPr/>
        </p:nvSpPr>
        <p:spPr>
          <a:xfrm>
            <a:off x="7238405" y="2699445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3"/>
          <p:cNvSpPr/>
          <p:nvPr/>
        </p:nvSpPr>
        <p:spPr>
          <a:xfrm>
            <a:off x="7238405" y="2556123"/>
            <a:ext cx="2634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680" dirty="0"/>
          </a:p>
        </p:txBody>
      </p:sp>
      <p:sp>
        <p:nvSpPr>
          <p:cNvPr id="73" name="Text 64"/>
          <p:cNvSpPr/>
          <p:nvPr/>
        </p:nvSpPr>
        <p:spPr>
          <a:xfrm>
            <a:off x="8368754" y="2592288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5"/>
          <p:cNvSpPr/>
          <p:nvPr/>
        </p:nvSpPr>
        <p:spPr>
          <a:xfrm>
            <a:off x="8447484" y="2592288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8526214" y="2592288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7"/>
          <p:cNvSpPr/>
          <p:nvPr/>
        </p:nvSpPr>
        <p:spPr>
          <a:xfrm>
            <a:off x="8604945" y="2592288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68"/>
          <p:cNvSpPr/>
          <p:nvPr/>
        </p:nvSpPr>
        <p:spPr>
          <a:xfrm>
            <a:off x="7238405" y="2758232"/>
            <a:ext cx="35296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680" dirty="0"/>
          </a:p>
        </p:txBody>
      </p:sp>
      <p:sp>
        <p:nvSpPr>
          <p:cNvPr id="78" name="Text 69"/>
          <p:cNvSpPr/>
          <p:nvPr/>
        </p:nvSpPr>
        <p:spPr>
          <a:xfrm>
            <a:off x="8368754" y="2794397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0"/>
          <p:cNvSpPr/>
          <p:nvPr/>
        </p:nvSpPr>
        <p:spPr>
          <a:xfrm>
            <a:off x="8447484" y="2794397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1"/>
          <p:cNvSpPr/>
          <p:nvPr/>
        </p:nvSpPr>
        <p:spPr>
          <a:xfrm>
            <a:off x="8526214" y="2794397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2"/>
          <p:cNvSpPr/>
          <p:nvPr/>
        </p:nvSpPr>
        <p:spPr>
          <a:xfrm>
            <a:off x="8604945" y="2794397"/>
            <a:ext cx="57150" cy="57150"/>
          </a:xfrm>
          <a:prstGeom prst="roundRect">
            <a:avLst>
              <a:gd name="adj" fmla="val 24445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3"/>
          <p:cNvSpPr/>
          <p:nvPr/>
        </p:nvSpPr>
        <p:spPr>
          <a:xfrm>
            <a:off x="7238405" y="2958703"/>
            <a:ext cx="1452164" cy="165646"/>
          </a:xfrm>
          <a:prstGeom prst="rect">
            <a:avLst/>
          </a:prstGeom>
          <a:noFill/>
          <a:ln/>
        </p:spPr>
        <p:txBody>
          <a:bodyPr wrap="none" lIns="0" tIns="49530" rIns="0" bIns="0" rtlCol="0" anchor="t"/>
          <a:lstStyle/>
          <a:p>
            <a:pPr marL="0" indent="0" algn="l">
              <a:buNone/>
            </a:pPr>
            <a:r>
              <a:rPr lang="en-US" sz="5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= memory state buffers required</a:t>
            </a:r>
            <a:endParaRPr lang="en-US" sz="560" dirty="0"/>
          </a:p>
        </p:txBody>
      </p:sp>
      <p:sp>
        <p:nvSpPr>
          <p:cNvPr id="83" name="Text 74"/>
          <p:cNvSpPr/>
          <p:nvPr/>
        </p:nvSpPr>
        <p:spPr>
          <a:xfrm>
            <a:off x="7238405" y="2958703"/>
            <a:ext cx="142369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5"/>
          <p:cNvSpPr/>
          <p:nvPr/>
        </p:nvSpPr>
        <p:spPr>
          <a:xfrm>
            <a:off x="7128570" y="4262140"/>
            <a:ext cx="1643360" cy="623590"/>
          </a:xfrm>
          <a:prstGeom prst="roundRect">
            <a:avLst>
              <a:gd name="adj" fmla="val 11405"/>
            </a:avLst>
          </a:prstGeom>
          <a:gradFill rotWithShape="1">
            <a:gsLst>
              <a:gs pos="0">
                <a:srgbClr val="00D4FF">
                  <a:alpha val="8000"/>
                </a:srgbClr>
              </a:gs>
              <a:gs pos="100000">
                <a:srgbClr val="00D4FF">
                  <a:alpha val="3000"/>
                </a:srgbClr>
              </a:gs>
            </a:gsLst>
            <a:lin ang="2700000" scaled="1"/>
          </a:gra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9690" y="4321531"/>
            <a:ext cx="132588" cy="132588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7370713" y="4342656"/>
            <a:ext cx="1317209" cy="48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choice:</a:t>
            </a: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with AdamW — it combines the best of both adaptive learning and proper weight regularization.</a:t>
            </a:r>
            <a:endParaRPr lang="en-US" sz="650" dirty="0"/>
          </a:p>
        </p:txBody>
      </p:sp>
      <p:sp>
        <p:nvSpPr>
          <p:cNvPr id="87" name="Text 77"/>
          <p:cNvSpPr/>
          <p:nvPr/>
        </p:nvSpPr>
        <p:spPr>
          <a:xfrm>
            <a:off x="381595" y="1134368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8"/>
          <p:cNvSpPr/>
          <p:nvPr/>
        </p:nvSpPr>
        <p:spPr>
          <a:xfrm>
            <a:off x="381595" y="1675209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9"/>
          <p:cNvSpPr/>
          <p:nvPr/>
        </p:nvSpPr>
        <p:spPr>
          <a:xfrm>
            <a:off x="381595" y="2216051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0"/>
          <p:cNvSpPr/>
          <p:nvPr/>
        </p:nvSpPr>
        <p:spPr>
          <a:xfrm>
            <a:off x="381595" y="2756892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1"/>
          <p:cNvSpPr/>
          <p:nvPr/>
        </p:nvSpPr>
        <p:spPr>
          <a:xfrm>
            <a:off x="381595" y="3297734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2"/>
          <p:cNvSpPr/>
          <p:nvPr/>
        </p:nvSpPr>
        <p:spPr>
          <a:xfrm>
            <a:off x="381595" y="3838575"/>
            <a:ext cx="21580" cy="472381"/>
          </a:xfrm>
          <a:custGeom>
            <a:avLst/>
            <a:gdLst/>
            <a:ahLst/>
            <a:cxnLst/>
            <a:rect l="l" t="t" r="r" b="b"/>
            <a:pathLst>
              <a:path w="21580" h="4723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52289"/>
                </a:lnTo>
                <a:lnTo>
                  <a:pt x="18883" y="449524"/>
                </a:lnTo>
                <a:lnTo>
                  <a:pt x="16185" y="446430"/>
                </a:lnTo>
                <a:lnTo>
                  <a:pt x="13488" y="442933"/>
                </a:lnTo>
                <a:lnTo>
                  <a:pt x="10790" y="438922"/>
                </a:lnTo>
                <a:lnTo>
                  <a:pt x="8093" y="434209"/>
                </a:lnTo>
                <a:lnTo>
                  <a:pt x="5395" y="428432"/>
                </a:lnTo>
                <a:lnTo>
                  <a:pt x="2698" y="420662"/>
                </a:lnTo>
                <a:lnTo>
                  <a:pt x="0" y="401261"/>
                </a:lnTo>
                <a:close/>
              </a:path>
            </a:pathLst>
          </a:custGeom>
          <a:solidFill>
            <a:srgbClr val="00D4FF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882997"/>
            <a:ext cx="4275382" cy="571500"/>
          </a:xfrm>
          <a:prstGeom prst="rect">
            <a:avLst/>
          </a:prstGeom>
          <a:gradFill rotWithShape="1">
            <a:gsLst>
              <a:gs pos="0">
                <a:srgbClr val="00D4FF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82716" y="882997"/>
            <a:ext cx="4275534" cy="571500"/>
          </a:xfrm>
          <a:prstGeom prst="rect">
            <a:avLst/>
          </a:prstGeom>
          <a:gradFill rotWithShape="1">
            <a:gsLst>
              <a:gs pos="0">
                <a:srgbClr val="6482C8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4897" y="214610"/>
            <a:ext cx="1094056" cy="185738"/>
          </a:xfrm>
          <a:prstGeom prst="roundRect">
            <a:avLst>
              <a:gd name="adj" fmla="val 77265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>
                <a:alpha val="40000"/>
              </a:srgbClr>
            </a:solidFill>
          </a:ln>
        </p:spPr>
        <p:txBody>
          <a:bodyPr wrap="none" lIns="86360" tIns="13970" rIns="86360" bIns="13970" rtlCol="0" anchor="t"/>
          <a:lstStyle/>
          <a:p>
            <a:pPr marL="0" indent="0" algn="ctr">
              <a:buNone/>
            </a:pPr>
            <a:r>
              <a:rPr lang="en-US" sz="730" b="1" kern="0" spc="11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69164" y="443508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96"/>
              </a:lnSpc>
              <a:buNone/>
            </a:pPr>
            <a:r>
              <a:rPr lang="en-US" sz="2360" kern="0" spc="-3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SGD</a:t>
            </a:r>
            <a:r>
              <a:rPr lang="en-US" sz="236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800" kern="0" spc="-3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r>
              <a:rPr lang="en-US" sz="236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360" kern="0" spc="-30" dirty="0">
                <a:solidFill>
                  <a:srgbClr val="7EB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</a:t>
            </a:r>
            <a:endParaRPr lang="en-US" sz="2360" dirty="0"/>
          </a:p>
        </p:txBody>
      </p:sp>
      <p:sp>
        <p:nvSpPr>
          <p:cNvPr id="8" name="Text 6"/>
          <p:cNvSpPr/>
          <p:nvPr/>
        </p:nvSpPr>
        <p:spPr>
          <a:xfrm>
            <a:off x="285750" y="873472"/>
            <a:ext cx="4275382" cy="4040237"/>
          </a:xfrm>
          <a:custGeom>
            <a:avLst/>
            <a:gdLst/>
            <a:ahLst/>
            <a:cxnLst/>
            <a:rect l="l" t="t" r="r" b="b"/>
            <a:pathLst>
              <a:path w="4275382" h="4040237">
                <a:moveTo>
                  <a:pt x="86360" y="0"/>
                </a:move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5294"/>
                </a:lnTo>
                <a:lnTo>
                  <a:pt x="14554" y="38381"/>
                </a:lnTo>
                <a:lnTo>
                  <a:pt x="6574" y="53311"/>
                </a:lnTo>
                <a:lnTo>
                  <a:pt x="1659" y="69512"/>
                </a:lnTo>
                <a:lnTo>
                  <a:pt x="0" y="86360"/>
                </a:lnTo>
                <a:lnTo>
                  <a:pt x="0" y="3953877"/>
                </a:lnTo>
                <a:lnTo>
                  <a:pt x="1659" y="3970725"/>
                </a:lnTo>
                <a:lnTo>
                  <a:pt x="6574" y="3986926"/>
                </a:lnTo>
                <a:lnTo>
                  <a:pt x="14554" y="4001856"/>
                </a:lnTo>
                <a:lnTo>
                  <a:pt x="25294" y="4014943"/>
                </a:lnTo>
                <a:lnTo>
                  <a:pt x="38381" y="4025683"/>
                </a:lnTo>
                <a:lnTo>
                  <a:pt x="53311" y="4033663"/>
                </a:lnTo>
                <a:lnTo>
                  <a:pt x="69512" y="4038578"/>
                </a:lnTo>
                <a:lnTo>
                  <a:pt x="86360" y="4040237"/>
                </a:lnTo>
                <a:lnTo>
                  <a:pt x="4275382" y="4040237"/>
                </a:lnTo>
                <a:lnTo>
                  <a:pt x="4275382" y="0"/>
                </a:lnTo>
                <a:close/>
              </a:path>
            </a:pathLst>
          </a:cu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750" y="873472"/>
            <a:ext cx="4275386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370" y="1026468"/>
            <a:ext cx="4145335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17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SGD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486370" y="1347788"/>
            <a:ext cx="3951628" cy="2213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lIns="71120" tIns="35560" rIns="7112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20" dirty="0">
                <a:solidFill>
                  <a:srgbClr val="E6EDF3">
                    <a:alpha val="7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Update Rule: </a:t>
            </a:r>
            <a:r>
              <a:rPr lang="en-US" sz="790" b="1" kern="0" spc="20" dirty="0">
                <a:solidFill>
                  <a:srgbClr val="E6EDF3">
                    <a:alpha val="7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← θ − η·∇L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486370" y="1347788"/>
            <a:ext cx="19050" cy="221307"/>
          </a:xfrm>
          <a:prstGeom prst="rect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370" y="1712565"/>
            <a:ext cx="4261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486370" y="1873597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486370" y="2051745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486370" y="2229892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86370" y="2451348"/>
            <a:ext cx="4261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486370" y="2612380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486370" y="2790527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486370" y="2968675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486370" y="4036070"/>
            <a:ext cx="4261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IN LOSS LANDSCAPE</a:t>
            </a:r>
            <a:endParaRPr lang="en-US" sz="62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370" y="4183261"/>
            <a:ext cx="2893665" cy="6161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82716" y="873472"/>
            <a:ext cx="4275534" cy="4040237"/>
          </a:xfrm>
          <a:custGeom>
            <a:avLst/>
            <a:gdLst/>
            <a:ahLst/>
            <a:cxnLst/>
            <a:rect l="l" t="t" r="r" b="b"/>
            <a:pathLst>
              <a:path w="4275534" h="4040237">
                <a:moveTo>
                  <a:pt x="0" y="0"/>
                </a:moveTo>
                <a:lnTo>
                  <a:pt x="0" y="4040237"/>
                </a:lnTo>
                <a:lnTo>
                  <a:pt x="4189174" y="4040237"/>
                </a:lnTo>
                <a:lnTo>
                  <a:pt x="4206022" y="4038578"/>
                </a:lnTo>
                <a:lnTo>
                  <a:pt x="4222223" y="4033663"/>
                </a:lnTo>
                <a:lnTo>
                  <a:pt x="4237153" y="4025683"/>
                </a:lnTo>
                <a:lnTo>
                  <a:pt x="4250240" y="4014943"/>
                </a:lnTo>
                <a:lnTo>
                  <a:pt x="4260980" y="4001856"/>
                </a:lnTo>
                <a:lnTo>
                  <a:pt x="4268961" y="3986926"/>
                </a:lnTo>
                <a:lnTo>
                  <a:pt x="4273875" y="3970725"/>
                </a:lnTo>
                <a:lnTo>
                  <a:pt x="4275534" y="3953877"/>
                </a:lnTo>
                <a:lnTo>
                  <a:pt x="4275534" y="86360"/>
                </a:lnTo>
                <a:lnTo>
                  <a:pt x="4273875" y="69512"/>
                </a:lnTo>
                <a:lnTo>
                  <a:pt x="4268961" y="53311"/>
                </a:lnTo>
                <a:lnTo>
                  <a:pt x="4260980" y="38381"/>
                </a:lnTo>
                <a:lnTo>
                  <a:pt x="4250240" y="25294"/>
                </a:lnTo>
                <a:lnTo>
                  <a:pt x="4237153" y="14554"/>
                </a:lnTo>
                <a:lnTo>
                  <a:pt x="4222223" y="6574"/>
                </a:lnTo>
                <a:lnTo>
                  <a:pt x="4206022" y="1659"/>
                </a:lnTo>
                <a:lnTo>
                  <a:pt x="4189174" y="0"/>
                </a:lnTo>
                <a:close/>
              </a:path>
            </a:pathLst>
          </a:custGeom>
          <a:solidFill>
            <a:srgbClr val="0A0F1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82716" y="873472"/>
            <a:ext cx="4275534" cy="9525"/>
          </a:xfrm>
          <a:prstGeom prst="rect">
            <a:avLst/>
          </a:prstGeom>
          <a:solidFill>
            <a:srgbClr val="6482C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83336" y="1026468"/>
            <a:ext cx="4145494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170" dirty="0">
                <a:solidFill>
                  <a:srgbClr val="7EB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</a:t>
            </a:r>
            <a:endParaRPr lang="en-US" sz="1460" dirty="0"/>
          </a:p>
        </p:txBody>
      </p:sp>
      <p:sp>
        <p:nvSpPr>
          <p:cNvPr id="26" name="Text 23"/>
          <p:cNvSpPr/>
          <p:nvPr/>
        </p:nvSpPr>
        <p:spPr>
          <a:xfrm>
            <a:off x="4783336" y="1347788"/>
            <a:ext cx="3951780" cy="2213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lIns="71120" tIns="35560" rIns="7112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20" dirty="0">
                <a:solidFill>
                  <a:srgbClr val="E6EDF3">
                    <a:alpha val="7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Update Rule: </a:t>
            </a:r>
            <a:r>
              <a:rPr lang="en-US" sz="790" b="1" kern="0" spc="20" dirty="0">
                <a:solidFill>
                  <a:srgbClr val="E6EDF3">
                    <a:alpha val="7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m̂ / (√v̂ + ε)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4783336" y="1347788"/>
            <a:ext cx="19050" cy="221307"/>
          </a:xfrm>
          <a:prstGeom prst="rect">
            <a:avLst/>
          </a:prstGeom>
          <a:solidFill>
            <a:srgbClr val="7EB8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83336" y="1712565"/>
            <a:ext cx="42617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4783336" y="1873597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4783336" y="2051745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4783336" y="2229892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4783336" y="2451348"/>
            <a:ext cx="42617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4783336" y="2612380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4783336" y="2790527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4783336" y="2968675"/>
            <a:ext cx="94298" cy="150465"/>
          </a:xfrm>
          <a:prstGeom prst="rect">
            <a:avLst/>
          </a:prstGeom>
          <a:noFill/>
          <a:ln/>
        </p:spPr>
        <p:txBody>
          <a:bodyPr wrap="none" lIns="0" tIns="13970" rIns="0" bIns="1397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4783336" y="4036070"/>
            <a:ext cx="42617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IN LOSS LANDSCAPE</a:t>
            </a:r>
            <a:endParaRPr lang="en-US" sz="62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3336" y="4183261"/>
            <a:ext cx="2893665" cy="61614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-457200" y="4970859"/>
            <a:ext cx="10058400" cy="172641"/>
          </a:xfrm>
          <a:prstGeom prst="rect">
            <a:avLst/>
          </a:prstGeom>
          <a:noFill/>
          <a:ln/>
        </p:spPr>
        <p:txBody>
          <a:bodyPr wrap="none" lIns="0" tIns="0" rIns="0" bIns="4318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680" kern="0" spc="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💡 </a:t>
            </a:r>
            <a:r>
              <a:rPr lang="en-US" sz="680" b="1" kern="0" spc="6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r>
              <a:rPr lang="en-US" sz="680" kern="0" spc="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</a:t>
            </a:r>
            <a:r>
              <a:rPr lang="en-US" sz="680" kern="0" spc="60" dirty="0">
                <a:solidFill>
                  <a:srgbClr val="7E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r>
              <a:rPr lang="en-US" sz="680" kern="0" spc="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transformers &amp; LLMs · Fine-tune with </a:t>
            </a:r>
            <a:r>
              <a:rPr lang="en-US" sz="680" kern="0" spc="6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</a:t>
            </a:r>
            <a:r>
              <a:rPr lang="en-US" sz="680" kern="0" spc="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best generalization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561136" y="873472"/>
            <a:ext cx="21580" cy="404023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D4FF"/>
              </a:gs>
              <a:gs pos="8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500116" y="2821781"/>
            <a:ext cx="143470" cy="143470"/>
          </a:xfrm>
          <a:prstGeom prst="ellipse">
            <a:avLst/>
          </a:prstGeom>
          <a:solidFill>
            <a:srgbClr val="0D1117"/>
          </a:solidFill>
          <a:ln w="9525">
            <a:solidFill>
              <a:srgbClr val="00D4FF"/>
            </a:solidFill>
          </a:ln>
          <a:effectLst>
            <a:outerShdw blurRad="86360" dist="50800" dir="16200000" algn="bl" rotWithShape="0">
              <a:srgbClr val="00D4FF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6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57770"/>
            <a:ext cx="892797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Optimizer Convergence Speed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400050" y="570458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18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to reach &lt;5% validation error on benchmark task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812899"/>
            <a:ext cx="8343900" cy="3151138"/>
          </a:xfrm>
          <a:prstGeom prst="roundRect">
            <a:avLst>
              <a:gd name="adj" fmla="val 225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025" y="950565"/>
            <a:ext cx="7981950" cy="2917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4813" y="4039791"/>
            <a:ext cx="928241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20765" y="4039791"/>
            <a:ext cx="1253451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4A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SGD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547414" y="4039791"/>
            <a:ext cx="1480399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MOMENTUM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4000501" y="4039791"/>
            <a:ext cx="1305369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FB92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RMSPROP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5275298" y="4039791"/>
            <a:ext cx="1813003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7053840" y="4039791"/>
            <a:ext cx="1702034" cy="203597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ADAMW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404813" y="4243388"/>
            <a:ext cx="946806" cy="213122"/>
          </a:xfrm>
          <a:prstGeom prst="rect">
            <a:avLst/>
          </a:prstGeom>
          <a:solidFill>
            <a:srgbClr val="161B22"/>
          </a:solidFill>
          <a:ln/>
        </p:spPr>
        <p:txBody>
          <a:bodyPr wrap="none" lIns="71120" tIns="49530" rIns="71120" bIns="49530" rtlCol="0" anchor="t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LR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404813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323529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20765" y="4243388"/>
            <a:ext cx="1253451" cy="213122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0.1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1333054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552402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547414" y="4243388"/>
            <a:ext cx="1480399" cy="213122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0.1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2561927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003774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00501" y="4243388"/>
            <a:ext cx="1305369" cy="213122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 – 1e-2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4013299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83547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75298" y="4243388"/>
            <a:ext cx="1813003" cy="213122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1e-3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5293072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061002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53840" y="4243388"/>
            <a:ext cx="1702034" cy="213122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3e-4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7070527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729663" y="4243388"/>
            <a:ext cx="9525" cy="213122"/>
          </a:xfrm>
          <a:prstGeom prst="rect">
            <a:avLst/>
          </a:prstGeom>
          <a:solidFill>
            <a:srgbClr val="3036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4813" y="4456509"/>
            <a:ext cx="928241" cy="3078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1333054" y="4456509"/>
            <a:ext cx="1228874" cy="3078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30" dirty="0"/>
          </a:p>
        </p:txBody>
      </p:sp>
      <p:sp>
        <p:nvSpPr>
          <p:cNvPr id="33" name="Text 30"/>
          <p:cNvSpPr/>
          <p:nvPr/>
        </p:nvSpPr>
        <p:spPr>
          <a:xfrm>
            <a:off x="2561927" y="4456509"/>
            <a:ext cx="1451372" cy="3078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30" dirty="0"/>
          </a:p>
        </p:txBody>
      </p:sp>
      <p:sp>
        <p:nvSpPr>
          <p:cNvPr id="34" name="Text 31"/>
          <p:cNvSpPr/>
          <p:nvPr/>
        </p:nvSpPr>
        <p:spPr>
          <a:xfrm>
            <a:off x="4013299" y="4456509"/>
            <a:ext cx="1279773" cy="3078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5293072" y="4456509"/>
            <a:ext cx="1777454" cy="3078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7070527" y="4456509"/>
            <a:ext cx="1668661" cy="30781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30" dirty="0"/>
          </a:p>
        </p:txBody>
      </p:sp>
      <p:sp>
        <p:nvSpPr>
          <p:cNvPr id="37" name="Text 34"/>
          <p:cNvSpPr/>
          <p:nvPr/>
        </p:nvSpPr>
        <p:spPr>
          <a:xfrm>
            <a:off x="404813" y="4755356"/>
            <a:ext cx="946806" cy="21312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1320765" y="4755356"/>
            <a:ext cx="1253451" cy="21312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fine-tuning</a:t>
            </a:r>
            <a:endParaRPr lang="en-US" sz="730" dirty="0"/>
          </a:p>
        </p:txBody>
      </p:sp>
      <p:sp>
        <p:nvSpPr>
          <p:cNvPr id="39" name="Text 36"/>
          <p:cNvSpPr/>
          <p:nvPr/>
        </p:nvSpPr>
        <p:spPr>
          <a:xfrm>
            <a:off x="2547414" y="4755356"/>
            <a:ext cx="1480399" cy="21312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problems</a:t>
            </a:r>
            <a:endParaRPr lang="en-US" sz="730" dirty="0"/>
          </a:p>
        </p:txBody>
      </p:sp>
      <p:sp>
        <p:nvSpPr>
          <p:cNvPr id="40" name="Text 37"/>
          <p:cNvSpPr/>
          <p:nvPr/>
        </p:nvSpPr>
        <p:spPr>
          <a:xfrm>
            <a:off x="4000501" y="4755356"/>
            <a:ext cx="1305369" cy="21312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/ LSTMs</a:t>
            </a:r>
            <a:endParaRPr lang="en-US" sz="730" dirty="0"/>
          </a:p>
        </p:txBody>
      </p:sp>
      <p:sp>
        <p:nvSpPr>
          <p:cNvPr id="41" name="Text 38"/>
          <p:cNvSpPr/>
          <p:nvPr/>
        </p:nvSpPr>
        <p:spPr>
          <a:xfrm>
            <a:off x="5275298" y="4755356"/>
            <a:ext cx="1813003" cy="21312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deep learning</a:t>
            </a:r>
            <a:endParaRPr lang="en-US" sz="730" dirty="0"/>
          </a:p>
        </p:txBody>
      </p:sp>
      <p:sp>
        <p:nvSpPr>
          <p:cNvPr id="42" name="Text 39"/>
          <p:cNvSpPr/>
          <p:nvPr/>
        </p:nvSpPr>
        <p:spPr>
          <a:xfrm>
            <a:off x="7053840" y="4755356"/>
            <a:ext cx="1702034" cy="21312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none" lIns="71120" tIns="49530" rIns="71120" bIns="4953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/ LLMs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60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57280" y="0"/>
            <a:ext cx="2857500" cy="2286000"/>
          </a:xfrm>
          <a:prstGeom prst="rect">
            <a:avLst/>
          </a:prstGeom>
          <a:gradFill rotWithShape="1">
            <a:gsLst>
              <a:gs pos="0">
                <a:srgbClr val="FF6B6B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95126"/>
            <a:ext cx="43160" cy="43160"/>
          </a:xfrm>
          <a:prstGeom prst="ellipse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418951"/>
            <a:ext cx="905027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250" b="1" kern="0" spc="-30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Overfitting</a:t>
            </a:r>
            <a:r>
              <a:rPr lang="en-US" sz="225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Problem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07469" y="861417"/>
            <a:ext cx="13841" cy="4081463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1562695"/>
            <a:ext cx="2614315" cy="591443"/>
          </a:xfrm>
          <a:prstGeom prst="roundRect">
            <a:avLst>
              <a:gd name="adj" fmla="val 1202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38165" y="1562695"/>
            <a:ext cx="19050" cy="591443"/>
          </a:xfrm>
          <a:custGeom>
            <a:avLst/>
            <a:gdLst/>
            <a:ahLst/>
            <a:cxnLst/>
            <a:rect l="l" t="t" r="r" b="b"/>
            <a:pathLst>
              <a:path w="19050" h="591443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20323"/>
                </a:lnTo>
                <a:lnTo>
                  <a:pt x="16669" y="538572"/>
                </a:lnTo>
                <a:lnTo>
                  <a:pt x="14288" y="545911"/>
                </a:lnTo>
                <a:lnTo>
                  <a:pt x="11906" y="551389"/>
                </a:lnTo>
                <a:lnTo>
                  <a:pt x="9525" y="555877"/>
                </a:lnTo>
                <a:lnTo>
                  <a:pt x="7144" y="559716"/>
                </a:lnTo>
                <a:lnTo>
                  <a:pt x="4763" y="563079"/>
                </a:lnTo>
                <a:lnTo>
                  <a:pt x="2381" y="566074"/>
                </a:lnTo>
                <a:lnTo>
                  <a:pt x="0" y="568766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2550" y="1652299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4606" y="1658541"/>
            <a:ext cx="128807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Soars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405033" y="1807964"/>
            <a:ext cx="2432822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data. Train loss → 0 while val loss plateaus or rises. Classic overfitting signature.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3014365" y="1744117"/>
            <a:ext cx="228600" cy="251460"/>
          </a:xfrm>
          <a:prstGeom prst="ellipse">
            <a:avLst/>
          </a:prstGeom>
          <a:solidFill>
            <a:srgbClr val="0D1117"/>
          </a:solidFill>
          <a:ln w="9525">
            <a:solidFill>
              <a:srgbClr val="00D4FF"/>
            </a:solidFill>
          </a:ln>
          <a:effectLst>
            <a:outerShdw blurRad="71120" dist="50800" dir="16200000" algn="bl" rotWithShape="0">
              <a:srgbClr val="00D4FF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3014365" y="2435870"/>
            <a:ext cx="228600" cy="251460"/>
          </a:xfrm>
          <a:prstGeom prst="ellipse">
            <a:avLst/>
          </a:prstGeom>
          <a:solidFill>
            <a:srgbClr val="0D1117"/>
          </a:solidFill>
          <a:ln w="9525">
            <a:solidFill>
              <a:srgbClr val="F0883E"/>
            </a:solidFill>
          </a:ln>
          <a:effectLst>
            <a:outerShdw blurRad="71120" dist="50800" dir="16200000" algn="bl" rotWithShape="0">
              <a:srgbClr val="F0883E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3300115" y="2254448"/>
            <a:ext cx="2614315" cy="591443"/>
          </a:xfrm>
          <a:prstGeom prst="roundRect">
            <a:avLst>
              <a:gd name="adj" fmla="val 1202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00115" y="2254448"/>
            <a:ext cx="19050" cy="591443"/>
          </a:xfrm>
          <a:custGeom>
            <a:avLst/>
            <a:gdLst/>
            <a:ahLst/>
            <a:cxnLst/>
            <a:rect l="l" t="t" r="r" b="b"/>
            <a:pathLst>
              <a:path w="19050" h="59144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68766"/>
                </a:lnTo>
                <a:lnTo>
                  <a:pt x="16669" y="566074"/>
                </a:lnTo>
                <a:lnTo>
                  <a:pt x="14288" y="563079"/>
                </a:lnTo>
                <a:lnTo>
                  <a:pt x="11906" y="559716"/>
                </a:lnTo>
                <a:lnTo>
                  <a:pt x="9525" y="555877"/>
                </a:lnTo>
                <a:lnTo>
                  <a:pt x="7144" y="551389"/>
                </a:lnTo>
                <a:lnTo>
                  <a:pt x="4763" y="545911"/>
                </a:lnTo>
                <a:lnTo>
                  <a:pt x="2381" y="538572"/>
                </a:lnTo>
                <a:lnTo>
                  <a:pt x="0" y="520323"/>
                </a:lnTo>
                <a:close/>
              </a:path>
            </a:pathLst>
          </a:custGeom>
          <a:solidFill>
            <a:srgbClr val="F0883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2191" y="2344052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94646" y="2350294"/>
            <a:ext cx="104103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Fails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3419475" y="2499717"/>
            <a:ext cx="2432822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predictions on unseen data. The gap between train and val performance widens.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342900" y="2946202"/>
            <a:ext cx="2614315" cy="603647"/>
          </a:xfrm>
          <a:prstGeom prst="roundRect">
            <a:avLst>
              <a:gd name="adj" fmla="val 11782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938165" y="2946202"/>
            <a:ext cx="19050" cy="603647"/>
          </a:xfrm>
          <a:custGeom>
            <a:avLst/>
            <a:gdLst/>
            <a:ahLst/>
            <a:cxnLst/>
            <a:rect l="l" t="t" r="r" b="b"/>
            <a:pathLst>
              <a:path w="19050" h="603647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32527"/>
                </a:lnTo>
                <a:lnTo>
                  <a:pt x="16669" y="550776"/>
                </a:lnTo>
                <a:lnTo>
                  <a:pt x="14288" y="558115"/>
                </a:lnTo>
                <a:lnTo>
                  <a:pt x="11906" y="563593"/>
                </a:lnTo>
                <a:lnTo>
                  <a:pt x="9525" y="568081"/>
                </a:lnTo>
                <a:lnTo>
                  <a:pt x="7144" y="571920"/>
                </a:lnTo>
                <a:lnTo>
                  <a:pt x="4763" y="575283"/>
                </a:lnTo>
                <a:lnTo>
                  <a:pt x="2381" y="578277"/>
                </a:lnTo>
                <a:lnTo>
                  <a:pt x="0" y="580970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2550" y="3035805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20063" y="3042047"/>
            <a:ext cx="144262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 Too High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405033" y="3191470"/>
            <a:ext cx="2432822" cy="275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parameters relative to data. Model fits noise rather than signal.</a:t>
            </a:r>
            <a:r>
              <a:rPr lang="en-US" sz="560" b="1" kern="0" spc="60" dirty="0">
                <a:solidFill>
                  <a:srgbClr val="00D4FF"/>
                </a:solidFill>
                <a:highlight>
                  <a:srgbClr val="00D4FF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</a:t>
            </a:r>
            <a:endParaRPr lang="en-US" sz="680" dirty="0"/>
          </a:p>
        </p:txBody>
      </p:sp>
      <p:sp>
        <p:nvSpPr>
          <p:cNvPr id="25" name="Text 20"/>
          <p:cNvSpPr/>
          <p:nvPr/>
        </p:nvSpPr>
        <p:spPr>
          <a:xfrm>
            <a:off x="3014365" y="3133725"/>
            <a:ext cx="228600" cy="251460"/>
          </a:xfrm>
          <a:prstGeom prst="ellipse">
            <a:avLst/>
          </a:prstGeom>
          <a:solidFill>
            <a:srgbClr val="0D1117"/>
          </a:solidFill>
          <a:ln w="9525">
            <a:solidFill>
              <a:srgbClr val="C084FC"/>
            </a:solidFill>
          </a:ln>
          <a:effectLst>
            <a:outerShdw blurRad="71120" dist="50800" dir="16200000" algn="bl" rotWithShape="0">
              <a:srgbClr val="C084FC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3014365" y="3831580"/>
            <a:ext cx="228600" cy="251460"/>
          </a:xfrm>
          <a:prstGeom prst="ellipse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  <a:effectLst>
            <a:outerShdw blurRad="71120" dist="50800" dir="16200000" algn="bl" rotWithShape="0">
              <a:srgbClr val="3FB95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27" name="Text 22"/>
          <p:cNvSpPr/>
          <p:nvPr/>
        </p:nvSpPr>
        <p:spPr>
          <a:xfrm>
            <a:off x="3300115" y="3650159"/>
            <a:ext cx="2614315" cy="591443"/>
          </a:xfrm>
          <a:prstGeom prst="roundRect">
            <a:avLst>
              <a:gd name="adj" fmla="val 1202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300115" y="3650159"/>
            <a:ext cx="19050" cy="591443"/>
          </a:xfrm>
          <a:custGeom>
            <a:avLst/>
            <a:gdLst/>
            <a:ahLst/>
            <a:cxnLst/>
            <a:rect l="l" t="t" r="r" b="b"/>
            <a:pathLst>
              <a:path w="19050" h="591443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68766"/>
                </a:lnTo>
                <a:lnTo>
                  <a:pt x="16669" y="566074"/>
                </a:lnTo>
                <a:lnTo>
                  <a:pt x="14288" y="563079"/>
                </a:lnTo>
                <a:lnTo>
                  <a:pt x="11906" y="559716"/>
                </a:lnTo>
                <a:lnTo>
                  <a:pt x="9525" y="555877"/>
                </a:lnTo>
                <a:lnTo>
                  <a:pt x="7144" y="551389"/>
                </a:lnTo>
                <a:lnTo>
                  <a:pt x="4763" y="545911"/>
                </a:lnTo>
                <a:lnTo>
                  <a:pt x="2381" y="538572"/>
                </a:lnTo>
                <a:lnTo>
                  <a:pt x="0" y="520323"/>
                </a:lnTo>
                <a:close/>
              </a:path>
            </a:pathLst>
          </a:custGeom>
          <a:solidFill>
            <a:srgbClr val="3FB95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191" y="3739762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594646" y="3746004"/>
            <a:ext cx="151219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to the Rescue</a:t>
            </a:r>
            <a:endParaRPr lang="en-US" sz="790" dirty="0"/>
          </a:p>
        </p:txBody>
      </p:sp>
      <p:sp>
        <p:nvSpPr>
          <p:cNvPr id="31" name="Text 25"/>
          <p:cNvSpPr/>
          <p:nvPr/>
        </p:nvSpPr>
        <p:spPr>
          <a:xfrm>
            <a:off x="3419475" y="3895427"/>
            <a:ext cx="2432822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constraints to prevent over-reliance on any single feature or weight path. Multiple strategies available.</a:t>
            </a:r>
            <a:endParaRPr lang="en-US" sz="680" dirty="0"/>
          </a:p>
        </p:txBody>
      </p:sp>
      <p:sp>
        <p:nvSpPr>
          <p:cNvPr id="32" name="Text 26"/>
          <p:cNvSpPr/>
          <p:nvPr/>
        </p:nvSpPr>
        <p:spPr>
          <a:xfrm>
            <a:off x="6085880" y="861417"/>
            <a:ext cx="9525" cy="408146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238875" y="1667768"/>
            <a:ext cx="28184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Validation Loss</a:t>
            </a:r>
            <a:endParaRPr lang="en-US" sz="730" dirty="0"/>
          </a:p>
        </p:txBody>
      </p:sp>
      <p:sp>
        <p:nvSpPr>
          <p:cNvPr id="34" name="Text 28"/>
          <p:cNvSpPr/>
          <p:nvPr/>
        </p:nvSpPr>
        <p:spPr>
          <a:xfrm>
            <a:off x="6238875" y="1835944"/>
            <a:ext cx="281844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curves signal classic overfitting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6238875" y="2108597"/>
            <a:ext cx="171450" cy="21580"/>
          </a:xfrm>
          <a:prstGeom prst="roundRect">
            <a:avLst>
              <a:gd name="adj" fmla="val 64736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931819" y="2108597"/>
            <a:ext cx="1714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F6B6B"/>
              </a:gs>
              <a:gs pos="33333">
                <a:srgbClr val="FF6B6B"/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8875" y="2264718"/>
            <a:ext cx="1661071" cy="12858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238875" y="3650903"/>
            <a:ext cx="2562225" cy="500042"/>
          </a:xfrm>
          <a:prstGeom prst="roundRect">
            <a:avLst>
              <a:gd name="adj" fmla="val 8635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>
                <a:alpha val="30000"/>
              </a:srgbClr>
            </a:solidFill>
          </a:ln>
        </p:spPr>
        <p:txBody>
          <a:bodyPr wrap="square" lIns="86360" tIns="57150" rIns="86360" bIns="5715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GENERALIZATION GAP</a:t>
            </a:r>
            <a:endParaRPr lang="en-US" sz="62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val loss diverge → model has memorized training data rather than learning underlying patterns.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F8C42"/>
              </a:gs>
              <a:gs pos="50000">
                <a:srgbClr val="FF8C42"/>
              </a:gs>
              <a:gs pos="50000">
                <a:srgbClr val="00D4FF"/>
              </a:gs>
              <a:gs pos="100000">
                <a:srgbClr val="00D4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236190"/>
            <a:ext cx="150465" cy="1504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525" y="236190"/>
            <a:ext cx="150465" cy="1504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1291" y="129480"/>
            <a:ext cx="2803846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910" b="1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L1 vs L2 Regularization</a:t>
            </a:r>
            <a:endParaRPr lang="en-US" sz="1910" dirty="0"/>
          </a:p>
        </p:txBody>
      </p:sp>
      <p:sp>
        <p:nvSpPr>
          <p:cNvPr id="6" name="Text 2"/>
          <p:cNvSpPr/>
          <p:nvPr/>
        </p:nvSpPr>
        <p:spPr>
          <a:xfrm>
            <a:off x="6935837" y="236190"/>
            <a:ext cx="20517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regularization compared</a:t>
            </a:r>
            <a:endParaRPr lang="en-US" sz="790" dirty="0"/>
          </a:p>
        </p:txBody>
      </p:sp>
      <p:sp>
        <p:nvSpPr>
          <p:cNvPr id="7" name="Text 3"/>
          <p:cNvSpPr/>
          <p:nvPr/>
        </p:nvSpPr>
        <p:spPr>
          <a:xfrm>
            <a:off x="0" y="564356"/>
            <a:ext cx="4561136" cy="4579144"/>
          </a:xfrm>
          <a:prstGeom prst="rect">
            <a:avLst/>
          </a:prstGeom>
          <a:solidFill>
            <a:srgbClr val="0F131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28600" y="764977"/>
            <a:ext cx="1131704" cy="286048"/>
          </a:xfrm>
          <a:prstGeom prst="roundRect">
            <a:avLst>
              <a:gd name="adj" fmla="val 15095"/>
            </a:avLst>
          </a:prstGeom>
          <a:solidFill>
            <a:srgbClr val="FF8C42">
              <a:alpha val="12000"/>
            </a:srgbClr>
          </a:solidFill>
          <a:ln/>
        </p:spPr>
        <p:txBody>
          <a:bodyPr wrap="none" lIns="229235" tIns="35560" rIns="114300" bIns="35560" rtlCol="0" anchor="ctr"/>
          <a:lstStyle/>
          <a:p>
            <a:pPr marL="0" indent="0" algn="l">
              <a:buNone/>
            </a:pPr>
            <a:r>
              <a:rPr lang="en-US" sz="1130" b="1" kern="0" spc="30" dirty="0">
                <a:solidFill>
                  <a:srgbClr val="FF8C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L1 · Lasso</a:t>
            </a:r>
            <a:endParaRPr lang="en-US" sz="1130" dirty="0"/>
          </a:p>
        </p:txBody>
      </p:sp>
      <p:sp>
        <p:nvSpPr>
          <p:cNvPr id="9" name="Text 5"/>
          <p:cNvSpPr/>
          <p:nvPr/>
        </p:nvSpPr>
        <p:spPr>
          <a:xfrm>
            <a:off x="228600" y="764977"/>
            <a:ext cx="19050" cy="286048"/>
          </a:xfrm>
          <a:custGeom>
            <a:avLst/>
            <a:gdLst/>
            <a:ahLst/>
            <a:cxnLst/>
            <a:rect l="l" t="t" r="r" b="b"/>
            <a:pathLst>
              <a:path w="19050" h="28604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78676"/>
                </a:lnTo>
                <a:lnTo>
                  <a:pt x="16669" y="276951"/>
                </a:lnTo>
                <a:lnTo>
                  <a:pt x="14288" y="274957"/>
                </a:lnTo>
                <a:lnTo>
                  <a:pt x="11906" y="272641"/>
                </a:lnTo>
                <a:lnTo>
                  <a:pt x="9525" y="269920"/>
                </a:lnTo>
                <a:lnTo>
                  <a:pt x="7144" y="266656"/>
                </a:lnTo>
                <a:lnTo>
                  <a:pt x="4763" y="262581"/>
                </a:lnTo>
                <a:lnTo>
                  <a:pt x="2381" y="257009"/>
                </a:lnTo>
                <a:lnTo>
                  <a:pt x="0" y="242868"/>
                </a:lnTo>
                <a:close/>
              </a:path>
            </a:pathLst>
          </a:custGeom>
          <a:solidFill>
            <a:srgbClr val="FF8C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539" y="841706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8600" y="1135856"/>
            <a:ext cx="1417400" cy="304800"/>
          </a:xfrm>
          <a:prstGeom prst="roundRect">
            <a:avLst>
              <a:gd name="adj" fmla="val 14167"/>
            </a:avLst>
          </a:prstGeom>
          <a:solidFill>
            <a:srgbClr val="FF8C42">
              <a:alpha val="10000"/>
            </a:srgbClr>
          </a:solidFill>
          <a:ln w="9525">
            <a:solidFill>
              <a:srgbClr val="FF8C42">
                <a:alpha val="35000"/>
              </a:srgbClr>
            </a:solidFill>
          </a:ln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 + λΣ|wᵢ|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42441" y="1511647"/>
            <a:ext cx="449910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620" dirty="0"/>
          </a:p>
        </p:txBody>
      </p:sp>
      <p:sp>
        <p:nvSpPr>
          <p:cNvPr id="13" name="Text 8"/>
          <p:cNvSpPr/>
          <p:nvPr/>
        </p:nvSpPr>
        <p:spPr>
          <a:xfrm>
            <a:off x="378321" y="1653034"/>
            <a:ext cx="14918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Promotes sparsity in weights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378321" y="1835795"/>
            <a:ext cx="1899702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Drives many weights </a:t>
            </a:r>
            <a:r>
              <a:rPr lang="en-US" sz="84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zero</a:t>
            </a:r>
            <a:endParaRPr lang="en-US" sz="840" dirty="0"/>
          </a:p>
        </p:txBody>
      </p:sp>
      <p:sp>
        <p:nvSpPr>
          <p:cNvPr id="15" name="Text 10"/>
          <p:cNvSpPr/>
          <p:nvPr/>
        </p:nvSpPr>
        <p:spPr>
          <a:xfrm>
            <a:off x="378321" y="2037606"/>
            <a:ext cx="12510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Built-in feature selection</a:t>
            </a:r>
            <a:endParaRPr lang="en-US" sz="840" dirty="0"/>
          </a:p>
        </p:txBody>
      </p:sp>
      <p:sp>
        <p:nvSpPr>
          <p:cNvPr id="16" name="Text 11"/>
          <p:cNvSpPr/>
          <p:nvPr/>
        </p:nvSpPr>
        <p:spPr>
          <a:xfrm>
            <a:off x="378321" y="2229892"/>
            <a:ext cx="179198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Diamond-shaped constraint region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228600" y="2448223"/>
            <a:ext cx="4103936" cy="393656"/>
          </a:xfrm>
          <a:prstGeom prst="roundRect">
            <a:avLst>
              <a:gd name="adj" fmla="val 10969"/>
            </a:avLst>
          </a:prstGeom>
          <a:solidFill>
            <a:srgbClr val="FF8C42">
              <a:alpha val="7000"/>
            </a:srgbClr>
          </a:solidFill>
          <a:ln w="9525">
            <a:solidFill>
              <a:srgbClr val="FF8C42">
                <a:alpha val="25000"/>
              </a:srgbClr>
            </a:solidFill>
          </a:ln>
        </p:spPr>
        <p:txBody>
          <a:bodyPr wrap="square" lIns="86360" tIns="49530" rIns="86360" bIns="4953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62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features, high-dimensional data</a:t>
            </a:r>
            <a:endParaRPr lang="en-US" sz="62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4345" y="3452366"/>
            <a:ext cx="1232446" cy="9533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82716" y="564356"/>
            <a:ext cx="4561284" cy="4579144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811316" y="764977"/>
            <a:ext cx="1115309" cy="286048"/>
          </a:xfrm>
          <a:prstGeom prst="roundRect">
            <a:avLst>
              <a:gd name="adj" fmla="val 15095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none" lIns="229235" tIns="35560" rIns="114300" bIns="35560" rtlCol="0" anchor="ctr"/>
          <a:lstStyle/>
          <a:p>
            <a:pPr marL="0" indent="0" algn="l">
              <a:buNone/>
            </a:pPr>
            <a:r>
              <a:rPr lang="en-US" sz="1130" b="1" kern="0" spc="3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L2 · Ridge</a:t>
            </a:r>
            <a:endParaRPr lang="en-US" sz="1130" dirty="0"/>
          </a:p>
        </p:txBody>
      </p:sp>
      <p:sp>
        <p:nvSpPr>
          <p:cNvPr id="21" name="Text 15"/>
          <p:cNvSpPr/>
          <p:nvPr/>
        </p:nvSpPr>
        <p:spPr>
          <a:xfrm>
            <a:off x="4811316" y="764977"/>
            <a:ext cx="19050" cy="286048"/>
          </a:xfrm>
          <a:custGeom>
            <a:avLst/>
            <a:gdLst/>
            <a:ahLst/>
            <a:cxnLst/>
            <a:rect l="l" t="t" r="r" b="b"/>
            <a:pathLst>
              <a:path w="19050" h="28604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78676"/>
                </a:lnTo>
                <a:lnTo>
                  <a:pt x="16669" y="276951"/>
                </a:lnTo>
                <a:lnTo>
                  <a:pt x="14288" y="274957"/>
                </a:lnTo>
                <a:lnTo>
                  <a:pt x="11906" y="272641"/>
                </a:lnTo>
                <a:lnTo>
                  <a:pt x="9525" y="269920"/>
                </a:lnTo>
                <a:lnTo>
                  <a:pt x="7144" y="266656"/>
                </a:lnTo>
                <a:lnTo>
                  <a:pt x="4763" y="262581"/>
                </a:lnTo>
                <a:lnTo>
                  <a:pt x="2381" y="257009"/>
                </a:lnTo>
                <a:lnTo>
                  <a:pt x="0" y="242868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3254" y="841706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11316" y="1135856"/>
            <a:ext cx="1347115" cy="304800"/>
          </a:xfrm>
          <a:prstGeom prst="roundRect">
            <a:avLst>
              <a:gd name="adj" fmla="val 14167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 + λΣwᵢ²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825157" y="1511647"/>
            <a:ext cx="449926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620" dirty="0"/>
          </a:p>
        </p:txBody>
      </p:sp>
      <p:sp>
        <p:nvSpPr>
          <p:cNvPr id="25" name="Text 18"/>
          <p:cNvSpPr/>
          <p:nvPr/>
        </p:nvSpPr>
        <p:spPr>
          <a:xfrm>
            <a:off x="4961037" y="1653034"/>
            <a:ext cx="19219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Distributes penalty across all weights</a:t>
            </a:r>
            <a:endParaRPr lang="en-US" sz="840" dirty="0"/>
          </a:p>
        </p:txBody>
      </p:sp>
      <p:sp>
        <p:nvSpPr>
          <p:cNvPr id="26" name="Text 19"/>
          <p:cNvSpPr/>
          <p:nvPr/>
        </p:nvSpPr>
        <p:spPr>
          <a:xfrm>
            <a:off x="4961037" y="1845320"/>
            <a:ext cx="146586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Shrinks weights toward zero </a:t>
            </a:r>
            <a:r>
              <a:rPr lang="en-US" sz="84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exactly)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4961037" y="2037606"/>
            <a:ext cx="8472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Stable gradients</a:t>
            </a:r>
            <a:endParaRPr lang="en-US" sz="840" dirty="0"/>
          </a:p>
        </p:txBody>
      </p:sp>
      <p:sp>
        <p:nvSpPr>
          <p:cNvPr id="28" name="Text 21"/>
          <p:cNvSpPr/>
          <p:nvPr/>
        </p:nvSpPr>
        <p:spPr>
          <a:xfrm>
            <a:off x="4961037" y="2229892"/>
            <a:ext cx="13029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Circular constraint region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4811316" y="2448223"/>
            <a:ext cx="4104084" cy="393656"/>
          </a:xfrm>
          <a:prstGeom prst="roundRect">
            <a:avLst>
              <a:gd name="adj" fmla="val 10969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lIns="86360" tIns="49530" rIns="86360" bIns="4953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62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features, dense models</a:t>
            </a:r>
            <a:endParaRPr lang="en-US" sz="62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7061" y="3452366"/>
            <a:ext cx="1232446" cy="9533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86750" y="4286250"/>
            <a:ext cx="857250" cy="85725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0" y="4286250"/>
            <a:ext cx="857250" cy="857250"/>
          </a:xfrm>
          <a:prstGeom prst="rect">
            <a:avLst/>
          </a:prstGeom>
          <a:gradFill rotWithShape="1">
            <a:gsLst>
              <a:gs pos="0">
                <a:srgbClr val="FF8C42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4561136" y="564356"/>
            <a:ext cx="21580" cy="457914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00D4FF"/>
              </a:gs>
              <a:gs pos="85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536356" y="2818433"/>
            <a:ext cx="70991" cy="70991"/>
          </a:xfrm>
          <a:prstGeom prst="ellipse">
            <a:avLst/>
          </a:prstGeom>
          <a:solidFill>
            <a:srgbClr val="00D4FF"/>
          </a:solidFill>
          <a:ln/>
          <a:effectLst>
            <a:outerShdw blurRad="57150" dist="50800" dir="16200000" algn="bl" rotWithShape="0">
              <a:srgbClr val="00D4FF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745" y="1092845"/>
            <a:ext cx="1944738" cy="21580"/>
          </a:xfrm>
          <a:custGeom>
            <a:avLst/>
            <a:gdLst/>
            <a:ahLst/>
            <a:cxnLst/>
            <a:rect l="l" t="t" r="r" b="b"/>
            <a:pathLst>
              <a:path w="1944738" h="21580">
                <a:moveTo>
                  <a:pt x="100330" y="0"/>
                </a:moveTo>
                <a:lnTo>
                  <a:pt x="1844409" y="0"/>
                </a:lnTo>
                <a:lnTo>
                  <a:pt x="1867517" y="2698"/>
                </a:lnTo>
                <a:lnTo>
                  <a:pt x="1876866" y="5395"/>
                </a:lnTo>
                <a:lnTo>
                  <a:pt x="1883885" y="8093"/>
                </a:lnTo>
                <a:lnTo>
                  <a:pt x="1889671" y="10790"/>
                </a:lnTo>
                <a:lnTo>
                  <a:pt x="1894653" y="13488"/>
                </a:lnTo>
                <a:lnTo>
                  <a:pt x="1899050" y="16185"/>
                </a:lnTo>
                <a:lnTo>
                  <a:pt x="1902995" y="18883"/>
                </a:lnTo>
                <a:lnTo>
                  <a:pt x="190657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46003" y="1092845"/>
            <a:ext cx="1944738" cy="21580"/>
          </a:xfrm>
          <a:custGeom>
            <a:avLst/>
            <a:gdLst/>
            <a:ahLst/>
            <a:cxnLst/>
            <a:rect l="l" t="t" r="r" b="b"/>
            <a:pathLst>
              <a:path w="1944738" h="21580">
                <a:moveTo>
                  <a:pt x="100330" y="0"/>
                </a:moveTo>
                <a:lnTo>
                  <a:pt x="1844409" y="0"/>
                </a:lnTo>
                <a:lnTo>
                  <a:pt x="1867517" y="2698"/>
                </a:lnTo>
                <a:lnTo>
                  <a:pt x="1876866" y="5395"/>
                </a:lnTo>
                <a:lnTo>
                  <a:pt x="1883885" y="8093"/>
                </a:lnTo>
                <a:lnTo>
                  <a:pt x="1889671" y="10790"/>
                </a:lnTo>
                <a:lnTo>
                  <a:pt x="1894653" y="13488"/>
                </a:lnTo>
                <a:lnTo>
                  <a:pt x="1899050" y="16185"/>
                </a:lnTo>
                <a:lnTo>
                  <a:pt x="1902995" y="18883"/>
                </a:lnTo>
                <a:lnTo>
                  <a:pt x="190657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53260" y="1092845"/>
            <a:ext cx="1944738" cy="21580"/>
          </a:xfrm>
          <a:custGeom>
            <a:avLst/>
            <a:gdLst/>
            <a:ahLst/>
            <a:cxnLst/>
            <a:rect l="l" t="t" r="r" b="b"/>
            <a:pathLst>
              <a:path w="1944738" h="21580">
                <a:moveTo>
                  <a:pt x="100330" y="0"/>
                </a:moveTo>
                <a:lnTo>
                  <a:pt x="1844409" y="0"/>
                </a:lnTo>
                <a:lnTo>
                  <a:pt x="1867517" y="2698"/>
                </a:lnTo>
                <a:lnTo>
                  <a:pt x="1876866" y="5395"/>
                </a:lnTo>
                <a:lnTo>
                  <a:pt x="1883885" y="8093"/>
                </a:lnTo>
                <a:lnTo>
                  <a:pt x="1889671" y="10790"/>
                </a:lnTo>
                <a:lnTo>
                  <a:pt x="1894653" y="13488"/>
                </a:lnTo>
                <a:lnTo>
                  <a:pt x="1899050" y="16185"/>
                </a:lnTo>
                <a:lnTo>
                  <a:pt x="1902995" y="18883"/>
                </a:lnTo>
                <a:lnTo>
                  <a:pt x="190657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60518" y="1092845"/>
            <a:ext cx="1944738" cy="21580"/>
          </a:xfrm>
          <a:custGeom>
            <a:avLst/>
            <a:gdLst/>
            <a:ahLst/>
            <a:cxnLst/>
            <a:rect l="l" t="t" r="r" b="b"/>
            <a:pathLst>
              <a:path w="1944738" h="21580">
                <a:moveTo>
                  <a:pt x="100330" y="0"/>
                </a:moveTo>
                <a:lnTo>
                  <a:pt x="1844409" y="0"/>
                </a:lnTo>
                <a:lnTo>
                  <a:pt x="1867517" y="2698"/>
                </a:lnTo>
                <a:lnTo>
                  <a:pt x="1876866" y="5395"/>
                </a:lnTo>
                <a:lnTo>
                  <a:pt x="1883885" y="8093"/>
                </a:lnTo>
                <a:lnTo>
                  <a:pt x="1889671" y="10790"/>
                </a:lnTo>
                <a:lnTo>
                  <a:pt x="1894653" y="13488"/>
                </a:lnTo>
                <a:lnTo>
                  <a:pt x="1899050" y="16185"/>
                </a:lnTo>
                <a:lnTo>
                  <a:pt x="1902995" y="18883"/>
                </a:lnTo>
                <a:lnTo>
                  <a:pt x="190657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9220" y="314920"/>
            <a:ext cx="400050" cy="29170"/>
          </a:xfrm>
          <a:prstGeom prst="roundRect">
            <a:avLst>
              <a:gd name="adj" fmla="val 47892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20" y="387251"/>
            <a:ext cx="8865549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b="1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Structural Regularization Techniques</a:t>
            </a: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429220" y="699939"/>
            <a:ext cx="911411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&amp; Batch Normalization — preventing overfitting through architecture and training constraints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29220" y="1083320"/>
            <a:ext cx="1963787" cy="3425428"/>
          </a:xfrm>
          <a:prstGeom prst="roundRect">
            <a:avLst>
              <a:gd name="adj" fmla="val 5109"/>
            </a:avLst>
          </a:prstGeom>
          <a:solidFill>
            <a:srgbClr val="161B22"/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6205" y="1264295"/>
            <a:ext cx="400050" cy="400050"/>
          </a:xfrm>
          <a:prstGeom prst="roundRect">
            <a:avLst>
              <a:gd name="adj" fmla="val 17778"/>
            </a:avLst>
          </a:prstGeom>
          <a:solidFill>
            <a:srgbClr val="00D4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074" y="1357164"/>
            <a:ext cx="214313" cy="2143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6205" y="1750665"/>
            <a:ext cx="778910" cy="164753"/>
          </a:xfrm>
          <a:prstGeom prst="roundRect">
            <a:avLst>
              <a:gd name="adj" fmla="val 17730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620" kern="0" spc="19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0.1 – 0.5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596205" y="2001738"/>
            <a:ext cx="179279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Dropout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596205" y="2291804"/>
            <a:ext cx="1662413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zeros activations during training. Forces redundant representations and acts as an ensemble of subnetworks — each forward pass uses a different sub-architecture.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2536478" y="1083320"/>
            <a:ext cx="1963787" cy="3425428"/>
          </a:xfrm>
          <a:prstGeom prst="roundRect">
            <a:avLst>
              <a:gd name="adj" fmla="val 5109"/>
            </a:avLst>
          </a:prstGeom>
          <a:solidFill>
            <a:srgbClr val="161B22"/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03463" y="1264295"/>
            <a:ext cx="400050" cy="400050"/>
          </a:xfrm>
          <a:prstGeom prst="roundRect">
            <a:avLst>
              <a:gd name="adj" fmla="val 17778"/>
            </a:avLst>
          </a:prstGeom>
          <a:solidFill>
            <a:srgbClr val="00D4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6332" y="1357164"/>
            <a:ext cx="214313" cy="2143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03463" y="1750665"/>
            <a:ext cx="576251" cy="164753"/>
          </a:xfrm>
          <a:prstGeom prst="roundRect">
            <a:avLst>
              <a:gd name="adj" fmla="val 17730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620" kern="0" spc="19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μ=0, σ²=1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2703463" y="2001738"/>
            <a:ext cx="179279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 Normalization</a:t>
            </a:r>
            <a:endParaRPr lang="en-US" sz="1070" dirty="0"/>
          </a:p>
        </p:txBody>
      </p:sp>
      <p:sp>
        <p:nvSpPr>
          <p:cNvPr id="21" name="Text 17"/>
          <p:cNvSpPr/>
          <p:nvPr/>
        </p:nvSpPr>
        <p:spPr>
          <a:xfrm>
            <a:off x="2703463" y="2291804"/>
            <a:ext cx="1662413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layer inputs per mini-batch. Enables higher learning rates, acts as a regularizer, and reduces internal covariate shift — stabilizing training dramatically.</a:t>
            </a:r>
            <a:endParaRPr lang="en-US" sz="790" dirty="0"/>
          </a:p>
        </p:txBody>
      </p:sp>
      <p:sp>
        <p:nvSpPr>
          <p:cNvPr id="22" name="Text 18"/>
          <p:cNvSpPr/>
          <p:nvPr/>
        </p:nvSpPr>
        <p:spPr>
          <a:xfrm>
            <a:off x="4643735" y="1083320"/>
            <a:ext cx="1963787" cy="3425428"/>
          </a:xfrm>
          <a:prstGeom prst="roundRect">
            <a:avLst>
              <a:gd name="adj" fmla="val 5109"/>
            </a:avLst>
          </a:prstGeom>
          <a:solidFill>
            <a:srgbClr val="161B22"/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10720" y="1264295"/>
            <a:ext cx="400050" cy="400050"/>
          </a:xfrm>
          <a:prstGeom prst="roundRect">
            <a:avLst>
              <a:gd name="adj" fmla="val 17778"/>
            </a:avLst>
          </a:prstGeom>
          <a:solidFill>
            <a:srgbClr val="00D4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3589" y="1357164"/>
            <a:ext cx="214313" cy="21431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10720" y="1750665"/>
            <a:ext cx="576251" cy="164753"/>
          </a:xfrm>
          <a:prstGeom prst="roundRect">
            <a:avLst>
              <a:gd name="adj" fmla="val 17730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620" kern="0" spc="19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+ λΣwᵢ²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4810720" y="2001738"/>
            <a:ext cx="179279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 Decay (L2)</a:t>
            </a:r>
            <a:endParaRPr lang="en-US" sz="1070" dirty="0"/>
          </a:p>
        </p:txBody>
      </p:sp>
      <p:sp>
        <p:nvSpPr>
          <p:cNvPr id="27" name="Text 22"/>
          <p:cNvSpPr/>
          <p:nvPr/>
        </p:nvSpPr>
        <p:spPr>
          <a:xfrm>
            <a:off x="4810720" y="2291804"/>
            <a:ext cx="1662413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L2 penalty added directly to the loss. Equivalent to a Gaussian prior on weights. Decoupled from gradient updates in AdamW — the standard for modern transformer training.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6750993" y="1083320"/>
            <a:ext cx="1963787" cy="3425428"/>
          </a:xfrm>
          <a:prstGeom prst="roundRect">
            <a:avLst>
              <a:gd name="adj" fmla="val 5109"/>
            </a:avLst>
          </a:prstGeom>
          <a:solidFill>
            <a:srgbClr val="161B22"/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917978" y="1264295"/>
            <a:ext cx="400050" cy="400050"/>
          </a:xfrm>
          <a:prstGeom prst="roundRect">
            <a:avLst>
              <a:gd name="adj" fmla="val 17778"/>
            </a:avLst>
          </a:prstGeom>
          <a:solidFill>
            <a:srgbClr val="00D4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846" y="1357164"/>
            <a:ext cx="214313" cy="21431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17978" y="1750665"/>
            <a:ext cx="931018" cy="164753"/>
          </a:xfrm>
          <a:prstGeom prst="roundRect">
            <a:avLst>
              <a:gd name="adj" fmla="val 17730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620" kern="0" spc="19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val_loss plateau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6917978" y="2001738"/>
            <a:ext cx="1792798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kern="0" spc="1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Stopping</a:t>
            </a:r>
            <a:endParaRPr lang="en-US" sz="1070" dirty="0"/>
          </a:p>
        </p:txBody>
      </p:sp>
      <p:sp>
        <p:nvSpPr>
          <p:cNvPr id="33" name="Text 27"/>
          <p:cNvSpPr/>
          <p:nvPr/>
        </p:nvSpPr>
        <p:spPr>
          <a:xfrm>
            <a:off x="6917978" y="2291804"/>
            <a:ext cx="1662413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training when validation loss stops improving. Zero additional parameters, zero computation cost. The simplest and most universally effective regularization strategy.</a:t>
            </a:r>
            <a:endParaRPr lang="en-US" sz="790" dirty="0"/>
          </a:p>
        </p:txBody>
      </p:sp>
      <p:sp>
        <p:nvSpPr>
          <p:cNvPr id="34" name="Text 28"/>
          <p:cNvSpPr/>
          <p:nvPr/>
        </p:nvSpPr>
        <p:spPr>
          <a:xfrm>
            <a:off x="429220" y="4636889"/>
            <a:ext cx="8285559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29220" y="4746724"/>
            <a:ext cx="9511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TYPE</a:t>
            </a:r>
            <a:endParaRPr lang="en-US" sz="730" dirty="0"/>
          </a:p>
        </p:txBody>
      </p:sp>
      <p:sp>
        <p:nvSpPr>
          <p:cNvPr id="36" name="Text 30"/>
          <p:cNvSpPr/>
          <p:nvPr/>
        </p:nvSpPr>
        <p:spPr>
          <a:xfrm>
            <a:off x="1494532" y="4780657"/>
            <a:ext cx="70991" cy="70991"/>
          </a:xfrm>
          <a:prstGeom prst="ellipse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1614934" y="4746724"/>
            <a:ext cx="4698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730" dirty="0"/>
          </a:p>
        </p:txBody>
      </p:sp>
      <p:sp>
        <p:nvSpPr>
          <p:cNvPr id="38" name="Text 32"/>
          <p:cNvSpPr/>
          <p:nvPr/>
        </p:nvSpPr>
        <p:spPr>
          <a:xfrm>
            <a:off x="2242691" y="4780657"/>
            <a:ext cx="70991" cy="70991"/>
          </a:xfrm>
          <a:prstGeom prst="ellipse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2363093" y="4746724"/>
            <a:ext cx="62259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730" dirty="0"/>
          </a:p>
        </p:txBody>
      </p:sp>
      <p:sp>
        <p:nvSpPr>
          <p:cNvPr id="40" name="Text 34"/>
          <p:cNvSpPr/>
          <p:nvPr/>
        </p:nvSpPr>
        <p:spPr>
          <a:xfrm>
            <a:off x="3129707" y="4780657"/>
            <a:ext cx="70991" cy="7099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250109" y="4746724"/>
            <a:ext cx="6905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Penalty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4078486" y="4780657"/>
            <a:ext cx="70991" cy="70991"/>
          </a:xfrm>
          <a:prstGeom prst="ellipse">
            <a:avLst/>
          </a:prstGeom>
          <a:solidFill>
            <a:srgbClr val="FF4D6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198888" y="4746724"/>
            <a:ext cx="7206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Control</a:t>
            </a:r>
            <a:endParaRPr lang="en-US" sz="730" dirty="0"/>
          </a:p>
        </p:txBody>
      </p:sp>
      <p:sp>
        <p:nvSpPr>
          <p:cNvPr id="44" name="Text 38"/>
          <p:cNvSpPr/>
          <p:nvPr/>
        </p:nvSpPr>
        <p:spPr>
          <a:xfrm>
            <a:off x="7439918" y="4809232"/>
            <a:ext cx="2006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697688" y="4751487"/>
            <a:ext cx="111880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Fundamentals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1" y="0"/>
            <a:ext cx="4358639" cy="33579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2111"/>
            <a:ext cx="4358639" cy="35013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1025" y="948630"/>
            <a:ext cx="21580" cy="1080192"/>
          </a:xfrm>
          <a:custGeom>
            <a:avLst/>
            <a:gdLst/>
            <a:ahLst/>
            <a:cxnLst/>
            <a:rect l="l" t="t" r="r" b="b"/>
            <a:pathLst>
              <a:path w="21580" h="1080192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774"/>
                </a:lnTo>
                <a:lnTo>
                  <a:pt x="18883" y="1065489"/>
                </a:lnTo>
                <a:lnTo>
                  <a:pt x="16185" y="1062892"/>
                </a:lnTo>
                <a:lnTo>
                  <a:pt x="13488" y="1059916"/>
                </a:lnTo>
                <a:lnTo>
                  <a:pt x="10790" y="1056462"/>
                </a:lnTo>
                <a:lnTo>
                  <a:pt x="8093" y="1052359"/>
                </a:lnTo>
                <a:lnTo>
                  <a:pt x="5395" y="1047281"/>
                </a:lnTo>
                <a:lnTo>
                  <a:pt x="2698" y="1040393"/>
                </a:lnTo>
                <a:lnTo>
                  <a:pt x="0" y="1023042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716661" y="948630"/>
            <a:ext cx="21580" cy="1080192"/>
          </a:xfrm>
          <a:custGeom>
            <a:avLst/>
            <a:gdLst/>
            <a:ahLst/>
            <a:cxnLst/>
            <a:rect l="l" t="t" r="r" b="b"/>
            <a:pathLst>
              <a:path w="21580" h="1080192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774"/>
                </a:lnTo>
                <a:lnTo>
                  <a:pt x="18883" y="1065489"/>
                </a:lnTo>
                <a:lnTo>
                  <a:pt x="16185" y="1062892"/>
                </a:lnTo>
                <a:lnTo>
                  <a:pt x="13488" y="1059916"/>
                </a:lnTo>
                <a:lnTo>
                  <a:pt x="10790" y="1056462"/>
                </a:lnTo>
                <a:lnTo>
                  <a:pt x="8093" y="1052359"/>
                </a:lnTo>
                <a:lnTo>
                  <a:pt x="5395" y="1047281"/>
                </a:lnTo>
                <a:lnTo>
                  <a:pt x="2698" y="1040393"/>
                </a:lnTo>
                <a:lnTo>
                  <a:pt x="0" y="1023042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81025" y="2118866"/>
            <a:ext cx="21580" cy="1080345"/>
          </a:xfrm>
          <a:custGeom>
            <a:avLst/>
            <a:gdLst/>
            <a:ahLst/>
            <a:cxnLst/>
            <a:rect l="l" t="t" r="r" b="b"/>
            <a:pathLst>
              <a:path w="21580" h="1080345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926"/>
                </a:lnTo>
                <a:lnTo>
                  <a:pt x="18883" y="1065641"/>
                </a:lnTo>
                <a:lnTo>
                  <a:pt x="16185" y="1063044"/>
                </a:lnTo>
                <a:lnTo>
                  <a:pt x="13488" y="1060069"/>
                </a:lnTo>
                <a:lnTo>
                  <a:pt x="10790" y="1056614"/>
                </a:lnTo>
                <a:lnTo>
                  <a:pt x="8093" y="1052512"/>
                </a:lnTo>
                <a:lnTo>
                  <a:pt x="5395" y="1047434"/>
                </a:lnTo>
                <a:lnTo>
                  <a:pt x="2698" y="1040545"/>
                </a:lnTo>
                <a:lnTo>
                  <a:pt x="0" y="1023195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16661" y="2118866"/>
            <a:ext cx="21580" cy="1080345"/>
          </a:xfrm>
          <a:custGeom>
            <a:avLst/>
            <a:gdLst/>
            <a:ahLst/>
            <a:cxnLst/>
            <a:rect l="l" t="t" r="r" b="b"/>
            <a:pathLst>
              <a:path w="21580" h="1080345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926"/>
                </a:lnTo>
                <a:lnTo>
                  <a:pt x="18883" y="1065641"/>
                </a:lnTo>
                <a:lnTo>
                  <a:pt x="16185" y="1063044"/>
                </a:lnTo>
                <a:lnTo>
                  <a:pt x="13488" y="1060069"/>
                </a:lnTo>
                <a:lnTo>
                  <a:pt x="10790" y="1056614"/>
                </a:lnTo>
                <a:lnTo>
                  <a:pt x="8093" y="1052512"/>
                </a:lnTo>
                <a:lnTo>
                  <a:pt x="5395" y="1047434"/>
                </a:lnTo>
                <a:lnTo>
                  <a:pt x="2698" y="1040545"/>
                </a:lnTo>
                <a:lnTo>
                  <a:pt x="0" y="1023195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81025" y="3289250"/>
            <a:ext cx="21580" cy="1080192"/>
          </a:xfrm>
          <a:custGeom>
            <a:avLst/>
            <a:gdLst/>
            <a:ahLst/>
            <a:cxnLst/>
            <a:rect l="l" t="t" r="r" b="b"/>
            <a:pathLst>
              <a:path w="21580" h="1080192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774"/>
                </a:lnTo>
                <a:lnTo>
                  <a:pt x="18883" y="1065489"/>
                </a:lnTo>
                <a:lnTo>
                  <a:pt x="16185" y="1062892"/>
                </a:lnTo>
                <a:lnTo>
                  <a:pt x="13488" y="1059916"/>
                </a:lnTo>
                <a:lnTo>
                  <a:pt x="10790" y="1056462"/>
                </a:lnTo>
                <a:lnTo>
                  <a:pt x="8093" y="1052359"/>
                </a:lnTo>
                <a:lnTo>
                  <a:pt x="5395" y="1047281"/>
                </a:lnTo>
                <a:lnTo>
                  <a:pt x="2698" y="1040393"/>
                </a:lnTo>
                <a:lnTo>
                  <a:pt x="0" y="1023042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16661" y="3289250"/>
            <a:ext cx="21580" cy="1080192"/>
          </a:xfrm>
          <a:custGeom>
            <a:avLst/>
            <a:gdLst/>
            <a:ahLst/>
            <a:cxnLst/>
            <a:rect l="l" t="t" r="r" b="b"/>
            <a:pathLst>
              <a:path w="21580" h="1080192">
                <a:moveTo>
                  <a:pt x="0" y="57150"/>
                </a:moveTo>
                <a:lnTo>
                  <a:pt x="2698" y="39799"/>
                </a:lnTo>
                <a:lnTo>
                  <a:pt x="5395" y="32911"/>
                </a:lnTo>
                <a:lnTo>
                  <a:pt x="8093" y="27833"/>
                </a:lnTo>
                <a:lnTo>
                  <a:pt x="10790" y="23730"/>
                </a:lnTo>
                <a:lnTo>
                  <a:pt x="13488" y="20276"/>
                </a:lnTo>
                <a:lnTo>
                  <a:pt x="16185" y="17300"/>
                </a:lnTo>
                <a:lnTo>
                  <a:pt x="18883" y="14703"/>
                </a:lnTo>
                <a:lnTo>
                  <a:pt x="21580" y="12419"/>
                </a:lnTo>
                <a:lnTo>
                  <a:pt x="21580" y="1067774"/>
                </a:lnTo>
                <a:lnTo>
                  <a:pt x="18883" y="1065489"/>
                </a:lnTo>
                <a:lnTo>
                  <a:pt x="16185" y="1062892"/>
                </a:lnTo>
                <a:lnTo>
                  <a:pt x="13488" y="1059916"/>
                </a:lnTo>
                <a:lnTo>
                  <a:pt x="10790" y="1056462"/>
                </a:lnTo>
                <a:lnTo>
                  <a:pt x="8093" y="1052359"/>
                </a:lnTo>
                <a:lnTo>
                  <a:pt x="5395" y="1047281"/>
                </a:lnTo>
                <a:lnTo>
                  <a:pt x="2698" y="1040393"/>
                </a:lnTo>
                <a:lnTo>
                  <a:pt x="0" y="1023042"/>
                </a:lnTo>
                <a:close/>
              </a:path>
            </a:pathLst>
          </a:custGeom>
          <a:solidFill>
            <a:srgbClr val="00D4FF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00050" y="0"/>
            <a:ext cx="13841" cy="51435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35138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270" y="257770"/>
            <a:ext cx="229346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96"/>
              </a:lnSpc>
              <a:spcAft>
                <a:spcPts val="230"/>
              </a:spcAft>
              <a:buNone/>
            </a:pPr>
            <a:r>
              <a:rPr lang="en-US" sz="2360" b="1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360" dirty="0"/>
          </a:p>
        </p:txBody>
      </p:sp>
      <p:sp>
        <p:nvSpPr>
          <p:cNvPr id="15" name="Text 10"/>
          <p:cNvSpPr/>
          <p:nvPr/>
        </p:nvSpPr>
        <p:spPr>
          <a:xfrm>
            <a:off x="571500" y="659755"/>
            <a:ext cx="457200" cy="21580"/>
          </a:xfrm>
          <a:prstGeom prst="roundRect">
            <a:avLst>
              <a:gd name="adj" fmla="val 64736"/>
            </a:avLst>
          </a:prstGeom>
          <a:solidFill>
            <a:srgbClr val="00D4FF"/>
          </a:solidFill>
          <a:ln/>
          <a:effectLst>
            <a:outerShdw blurRad="5715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013377" y="286941"/>
            <a:ext cx="1735431" cy="234851"/>
          </a:xfrm>
          <a:prstGeom prst="roundRect">
            <a:avLst>
              <a:gd name="adj" fmla="val 18386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lIns="100330" tIns="43180" rIns="100330" bIns="43180" rtlCol="0" anchor="t"/>
          <a:lstStyle/>
          <a:p>
            <a:pPr marL="0" indent="0" algn="l">
              <a:buNone/>
            </a:pPr>
            <a:r>
              <a:rPr lang="en-US" sz="680" b="1" kern="0" spc="6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FUNDAMENTALS</a:t>
            </a:r>
            <a:endParaRPr lang="en-US" sz="680" dirty="0"/>
          </a:p>
        </p:txBody>
      </p:sp>
      <p:sp>
        <p:nvSpPr>
          <p:cNvPr id="17" name="Text 12"/>
          <p:cNvSpPr/>
          <p:nvPr/>
        </p:nvSpPr>
        <p:spPr>
          <a:xfrm>
            <a:off x="571500" y="939105"/>
            <a:ext cx="4007495" cy="1099245"/>
          </a:xfrm>
          <a:prstGeom prst="roundRect">
            <a:avLst>
              <a:gd name="adj" fmla="val 5199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67345" y="1042541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10" dirty="0"/>
          </a:p>
        </p:txBody>
      </p:sp>
      <p:sp>
        <p:nvSpPr>
          <p:cNvPr id="19" name="Text 14"/>
          <p:cNvSpPr/>
          <p:nvPr/>
        </p:nvSpPr>
        <p:spPr>
          <a:xfrm>
            <a:off x="1025426" y="1034951"/>
            <a:ext cx="344169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is King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1025426" y="1216521"/>
            <a:ext cx="3191390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warmup + cosine annealing for most deep learning tasks. Cyclical schedules can escape local minima.</a:t>
            </a:r>
            <a:endParaRPr lang="en-US" sz="73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4550" y="1064121"/>
            <a:ext cx="200620" cy="200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07136" y="939105"/>
            <a:ext cx="4007644" cy="1099245"/>
          </a:xfrm>
          <a:prstGeom prst="roundRect">
            <a:avLst>
              <a:gd name="adj" fmla="val 5199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802981" y="1042541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010" dirty="0"/>
          </a:p>
        </p:txBody>
      </p:sp>
      <p:sp>
        <p:nvSpPr>
          <p:cNvPr id="24" name="Text 18"/>
          <p:cNvSpPr/>
          <p:nvPr/>
        </p:nvSpPr>
        <p:spPr>
          <a:xfrm>
            <a:off x="5161062" y="1034951"/>
            <a:ext cx="34418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/ AdamW as Default</a:t>
            </a:r>
            <a:endParaRPr lang="en-US" sz="840" dirty="0"/>
          </a:p>
        </p:txBody>
      </p:sp>
      <p:sp>
        <p:nvSpPr>
          <p:cNvPr id="25" name="Text 19"/>
          <p:cNvSpPr/>
          <p:nvPr/>
        </p:nvSpPr>
        <p:spPr>
          <a:xfrm>
            <a:off x="5161062" y="1216521"/>
            <a:ext cx="319154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AdamW (lr=1e-3). Switch to SGD+Momentum for final fine-tuning if generalization matters.</a:t>
            </a:r>
            <a:endParaRPr lang="en-US" sz="73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0334" y="1064121"/>
            <a:ext cx="200620" cy="200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" y="2109341"/>
            <a:ext cx="4007495" cy="1099393"/>
          </a:xfrm>
          <a:prstGeom prst="roundRect">
            <a:avLst>
              <a:gd name="adj" fmla="val 5198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67345" y="2212777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010" dirty="0"/>
          </a:p>
        </p:txBody>
      </p:sp>
      <p:sp>
        <p:nvSpPr>
          <p:cNvPr id="29" name="Text 22"/>
          <p:cNvSpPr/>
          <p:nvPr/>
        </p:nvSpPr>
        <p:spPr>
          <a:xfrm>
            <a:off x="1025426" y="2205186"/>
            <a:ext cx="344169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Always Beats Fixed LR</a:t>
            </a:r>
            <a:endParaRPr lang="en-US" sz="840" dirty="0"/>
          </a:p>
        </p:txBody>
      </p:sp>
      <p:sp>
        <p:nvSpPr>
          <p:cNvPr id="30" name="Text 23"/>
          <p:cNvSpPr/>
          <p:nvPr/>
        </p:nvSpPr>
        <p:spPr>
          <a:xfrm>
            <a:off x="1025426" y="2386757"/>
            <a:ext cx="3191390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simple step decay can reduce final error by 5–15% vs. a constant learning rate.</a:t>
            </a:r>
            <a:endParaRPr lang="en-US" sz="73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54550" y="2234357"/>
            <a:ext cx="200620" cy="2006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07136" y="2109341"/>
            <a:ext cx="4007644" cy="1099393"/>
          </a:xfrm>
          <a:prstGeom prst="roundRect">
            <a:avLst>
              <a:gd name="adj" fmla="val 5198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4802981" y="2212777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010" dirty="0"/>
          </a:p>
        </p:txBody>
      </p:sp>
      <p:sp>
        <p:nvSpPr>
          <p:cNvPr id="34" name="Text 26"/>
          <p:cNvSpPr/>
          <p:nvPr/>
        </p:nvSpPr>
        <p:spPr>
          <a:xfrm>
            <a:off x="5161062" y="2205186"/>
            <a:ext cx="34418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for Dense, L1 for Sparse</a:t>
            </a:r>
            <a:endParaRPr lang="en-US" sz="840" dirty="0"/>
          </a:p>
        </p:txBody>
      </p:sp>
      <p:sp>
        <p:nvSpPr>
          <p:cNvPr id="35" name="Text 27"/>
          <p:cNvSpPr/>
          <p:nvPr/>
        </p:nvSpPr>
        <p:spPr>
          <a:xfrm>
            <a:off x="5161062" y="2386757"/>
            <a:ext cx="319154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L2 (weight decay) by default. Reserve L1 for high-dimensional sparse feature problems.</a:t>
            </a:r>
            <a:endParaRPr lang="en-US" sz="73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0334" y="2234357"/>
            <a:ext cx="200620" cy="2006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71500" y="3279725"/>
            <a:ext cx="4007495" cy="1099245"/>
          </a:xfrm>
          <a:prstGeom prst="roundRect">
            <a:avLst>
              <a:gd name="adj" fmla="val 5199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667345" y="3383161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010" dirty="0"/>
          </a:p>
        </p:txBody>
      </p:sp>
      <p:sp>
        <p:nvSpPr>
          <p:cNvPr id="39" name="Text 30"/>
          <p:cNvSpPr/>
          <p:nvPr/>
        </p:nvSpPr>
        <p:spPr>
          <a:xfrm>
            <a:off x="1025426" y="3375571"/>
            <a:ext cx="344169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After Large Layers</a:t>
            </a:r>
            <a:endParaRPr lang="en-US" sz="840" dirty="0"/>
          </a:p>
        </p:txBody>
      </p:sp>
      <p:sp>
        <p:nvSpPr>
          <p:cNvPr id="40" name="Text 31"/>
          <p:cNvSpPr/>
          <p:nvPr/>
        </p:nvSpPr>
        <p:spPr>
          <a:xfrm>
            <a:off x="1025426" y="3557141"/>
            <a:ext cx="3191390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dropout (p=0.3–0.5) after FC layers. Use lower rates near inputs and outputs.</a:t>
            </a:r>
            <a:endParaRPr lang="en-US" sz="73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54550" y="3404741"/>
            <a:ext cx="200620" cy="2006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707136" y="3279725"/>
            <a:ext cx="4007644" cy="1099245"/>
          </a:xfrm>
          <a:prstGeom prst="roundRect">
            <a:avLst>
              <a:gd name="adj" fmla="val 5199"/>
            </a:avLst>
          </a:prstGeom>
          <a:solidFill>
            <a:srgbClr val="0D1117"/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4802981" y="3383161"/>
            <a:ext cx="257770" cy="283547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40000"/>
              </a:srgbClr>
            </a:solidFill>
          </a:ln>
          <a:effectLst>
            <a:outerShdw blurRad="71120" dist="50800" dir="16200000" algn="bl" rotWithShape="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010" dirty="0"/>
          </a:p>
        </p:txBody>
      </p:sp>
      <p:sp>
        <p:nvSpPr>
          <p:cNvPr id="44" name="Text 34"/>
          <p:cNvSpPr/>
          <p:nvPr/>
        </p:nvSpPr>
        <p:spPr>
          <a:xfrm>
            <a:off x="5161062" y="3375571"/>
            <a:ext cx="344185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70"/>
              </a:spcAft>
              <a:buNone/>
            </a:pPr>
            <a:r>
              <a:rPr lang="en-US" sz="840" b="1" kern="0" spc="1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Lower LR Penalty</a:t>
            </a:r>
            <a:endParaRPr lang="en-US" sz="840" dirty="0"/>
          </a:p>
        </p:txBody>
      </p:sp>
      <p:sp>
        <p:nvSpPr>
          <p:cNvPr id="45" name="Text 35"/>
          <p:cNvSpPr/>
          <p:nvPr/>
        </p:nvSpPr>
        <p:spPr>
          <a:xfrm>
            <a:off x="5161062" y="3557141"/>
            <a:ext cx="3191542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reduces need for aggressive regularization. You can often use smaller λ when BN is present.</a:t>
            </a:r>
            <a:endParaRPr lang="en-US" sz="73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90334" y="3404741"/>
            <a:ext cx="200620" cy="2006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71500" y="4465439"/>
            <a:ext cx="8143280" cy="449461"/>
          </a:xfrm>
          <a:prstGeom prst="roundRect">
            <a:avLst>
              <a:gd name="adj" fmla="val 12715"/>
            </a:avLst>
          </a:prstGeom>
          <a:gradFill rotWithShape="1">
            <a:gsLst>
              <a:gs pos="0">
                <a:srgbClr val="00D4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475" y="4604445"/>
            <a:ext cx="171450" cy="17145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24235" y="4561284"/>
            <a:ext cx="29170" cy="257770"/>
          </a:xfrm>
          <a:prstGeom prst="roundRect">
            <a:avLst>
              <a:gd name="adj" fmla="val 47892"/>
            </a:avLst>
          </a:prstGeom>
          <a:solidFill>
            <a:srgbClr val="00D4FF"/>
          </a:solidFill>
          <a:ln/>
          <a:effectLst>
            <a:outerShdw blurRad="71120" dist="50800" dir="16200000" algn="bl" rotWithShape="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1153716" y="4588222"/>
            <a:ext cx="4300031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Master these </a:t>
            </a:r>
            <a:r>
              <a:rPr lang="en-US" sz="1070" b="1" kern="0" spc="1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pillars</a:t>
            </a:r>
            <a:r>
              <a:rPr lang="en-US" sz="1070" kern="0" spc="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and you control the training loop.</a:t>
            </a:r>
            <a:endParaRPr lang="en-US" sz="1070" dirty="0"/>
          </a:p>
        </p:txBody>
      </p:sp>
      <p:sp>
        <p:nvSpPr>
          <p:cNvPr id="51" name="Text 39"/>
          <p:cNvSpPr/>
          <p:nvPr/>
        </p:nvSpPr>
        <p:spPr>
          <a:xfrm>
            <a:off x="6230541" y="4586734"/>
            <a:ext cx="766316" cy="227558"/>
          </a:xfrm>
          <a:prstGeom prst="roundRect">
            <a:avLst>
              <a:gd name="adj" fmla="val 6306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680" dirty="0"/>
          </a:p>
        </p:txBody>
      </p:sp>
      <p:sp>
        <p:nvSpPr>
          <p:cNvPr id="52" name="Text 40"/>
          <p:cNvSpPr/>
          <p:nvPr/>
        </p:nvSpPr>
        <p:spPr>
          <a:xfrm>
            <a:off x="7054007" y="4586734"/>
            <a:ext cx="637133" cy="227558"/>
          </a:xfrm>
          <a:prstGeom prst="roundRect">
            <a:avLst>
              <a:gd name="adj" fmla="val 6306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680" dirty="0"/>
          </a:p>
        </p:txBody>
      </p:sp>
      <p:sp>
        <p:nvSpPr>
          <p:cNvPr id="53" name="Text 41"/>
          <p:cNvSpPr/>
          <p:nvPr/>
        </p:nvSpPr>
        <p:spPr>
          <a:xfrm>
            <a:off x="7748290" y="4586734"/>
            <a:ext cx="785515" cy="227558"/>
          </a:xfrm>
          <a:prstGeom prst="roundRect">
            <a:avLst>
              <a:gd name="adj" fmla="val 6306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3040</Words>
  <Application>Microsoft Office PowerPoint</Application>
  <PresentationFormat>On-screen Show (16:9)</PresentationFormat>
  <Paragraphs>366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Gregory Block</cp:lastModifiedBy>
  <cp:revision>2</cp:revision>
  <dcterms:created xsi:type="dcterms:W3CDTF">2026-06-16T13:37:35Z</dcterms:created>
  <dcterms:modified xsi:type="dcterms:W3CDTF">2026-06-16T22:21:20Z</dcterms:modified>
</cp:coreProperties>
</file>