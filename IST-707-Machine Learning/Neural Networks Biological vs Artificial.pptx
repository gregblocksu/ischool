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0" y="714375"/>
            <a:ext cx="3714750" cy="3714750"/>
          </a:xfrm>
          <a:prstGeom prst="ellipse">
            <a:avLst/>
          </a:prstGeom>
          <a:gradFill rotWithShape="1">
            <a:gsLst>
              <a:gs pos="0">
                <a:srgbClr val="185096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951161"/>
            <a:ext cx="2000250" cy="13841"/>
          </a:xfrm>
          <a:prstGeom prst="rect">
            <a:avLst/>
          </a:prstGeom>
          <a:gradFill rotWithShape="1">
            <a:gsLst>
              <a:gs pos="0">
                <a:srgbClr val="4FC3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1138684"/>
            <a:ext cx="121850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B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Dendritic Computation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178719" y="1122462"/>
            <a:ext cx="4698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10" dirty="0"/>
          </a:p>
        </p:txBody>
      </p:sp>
      <p:sp>
        <p:nvSpPr>
          <p:cNvPr id="7" name="Text 4"/>
          <p:cNvSpPr/>
          <p:nvPr/>
        </p:nvSpPr>
        <p:spPr>
          <a:xfrm>
            <a:off x="1292423" y="1138684"/>
            <a:ext cx="96622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B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Coding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2241798" y="1122462"/>
            <a:ext cx="4698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2355503" y="1138684"/>
            <a:ext cx="122750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B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Error Neurons</a:t>
            </a:r>
            <a:endParaRPr lang="en-US" sz="84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27" y="4671203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5103" y="4603403"/>
            <a:ext cx="2473375" cy="295171"/>
          </a:xfrm>
          <a:prstGeom prst="roundRect">
            <a:avLst>
              <a:gd name="adj" fmla="val 9896"/>
            </a:avLst>
          </a:prstGeom>
          <a:solidFill>
            <a:srgbClr val="4FC3F7">
              <a:alpha val="12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Guide to Modern Neuroscience &amp; AI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9134475" y="4286250"/>
            <a:ext cx="9525" cy="857250"/>
          </a:xfrm>
          <a:prstGeom prst="rect">
            <a:avLst/>
          </a:prstGeom>
          <a:solidFill>
            <a:srgbClr val="4FC3F7">
              <a:alpha val="2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6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85000" t="50000" r="15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9E0B">
                  <a:alpha val="5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15000" t="50000" r="85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01F33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271760"/>
            <a:ext cx="89878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72" kern="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Kinds of Neural Networks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2070" y="657820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C3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2070" y="807541"/>
            <a:ext cx="3935909" cy="2967186"/>
          </a:xfrm>
          <a:prstGeom prst="roundRect">
            <a:avLst>
              <a:gd name="adj" fmla="val 3381"/>
            </a:avLst>
          </a:prstGeom>
          <a:solidFill>
            <a:srgbClr val="F7FAFD"/>
          </a:solidFill>
          <a:ln/>
          <a:effectLst>
            <a:outerShdw sx="100000" sy="100000" kx="0" ky="0" algn="bl" rotWithShape="0" blurRad="228600" dist="29210" dir="5400000">
              <a:srgbClr val="000000">
                <a:alpha val="2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2070" y="807541"/>
            <a:ext cx="3935909" cy="28575"/>
          </a:xfrm>
          <a:custGeom>
            <a:avLst/>
            <a:gdLst/>
            <a:ahLst/>
            <a:cxnLst/>
            <a:rect l="l" t="t" r="r" b="b"/>
            <a:pathLst>
              <a:path w="3935909" h="28575">
                <a:moveTo>
                  <a:pt x="100330" y="0"/>
                </a:moveTo>
                <a:lnTo>
                  <a:pt x="73797" y="3572"/>
                </a:lnTo>
                <a:lnTo>
                  <a:pt x="63149" y="7144"/>
                </a:lnTo>
                <a:lnTo>
                  <a:pt x="55215" y="10716"/>
                </a:lnTo>
                <a:lnTo>
                  <a:pt x="48727" y="14288"/>
                </a:lnTo>
                <a:lnTo>
                  <a:pt x="43192" y="17859"/>
                </a:lnTo>
                <a:lnTo>
                  <a:pt x="38353" y="21431"/>
                </a:lnTo>
                <a:lnTo>
                  <a:pt x="34058" y="25003"/>
                </a:lnTo>
                <a:lnTo>
                  <a:pt x="30206" y="28575"/>
                </a:lnTo>
                <a:lnTo>
                  <a:pt x="3905702" y="28575"/>
                </a:lnTo>
                <a:lnTo>
                  <a:pt x="3901851" y="25003"/>
                </a:lnTo>
                <a:lnTo>
                  <a:pt x="3897555" y="21431"/>
                </a:lnTo>
                <a:lnTo>
                  <a:pt x="3892716" y="17859"/>
                </a:lnTo>
                <a:lnTo>
                  <a:pt x="3887181" y="14288"/>
                </a:lnTo>
                <a:lnTo>
                  <a:pt x="3880694" y="10716"/>
                </a:lnTo>
                <a:lnTo>
                  <a:pt x="3872760" y="7144"/>
                </a:lnTo>
                <a:lnTo>
                  <a:pt x="3862111" y="3572"/>
                </a:lnTo>
                <a:lnTo>
                  <a:pt x="3835579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9530" y="1030039"/>
            <a:ext cx="228600" cy="228600"/>
          </a:xfrm>
          <a:prstGeom prst="ellipse">
            <a:avLst/>
          </a:prstGeom>
          <a:gradFill rotWithShape="1"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536" y="1078045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9121" y="993577"/>
            <a:ext cx="131951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34" kern="0" dirty="0">
                <a:solidFill>
                  <a:srgbClr val="B453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Biological (BNN)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3728591" y="1077069"/>
            <a:ext cx="430366" cy="134392"/>
          </a:xfrm>
          <a:prstGeom prst="roundRect">
            <a:avLst>
              <a:gd name="adj" fmla="val 32130"/>
            </a:avLst>
          </a:prstGeom>
          <a:solidFill>
            <a:srgbClr val="FEF3C7"/>
          </a:solidFill>
          <a:ln/>
        </p:spPr>
        <p:txBody>
          <a:bodyPr wrap="none" lIns="57150" tIns="13970" rIns="57150" bIns="13970" rtlCol="0" anchor="t"/>
          <a:lstStyle/>
          <a:p>
            <a:pPr algn="l" indent="0" marL="0">
              <a:buNone/>
            </a:pPr>
            <a:r>
              <a:rPr lang="en-US" sz="560" b="1" spc="22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643682" y="1381423"/>
            <a:ext cx="244813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billion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neurons connected by trillions of synapses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529530" y="1416844"/>
            <a:ext cx="49411" cy="4941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3682" y="1565225"/>
            <a:ext cx="2768188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electrochemical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neurons fire action potentials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529530" y="1600646"/>
            <a:ext cx="49411" cy="4941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43682" y="1749028"/>
            <a:ext cx="281304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compute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are not just passive wires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529530" y="1784449"/>
            <a:ext cx="49411" cy="4941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3682" y="1932831"/>
            <a:ext cx="2269688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via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synaptic plasticity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(Hebbian, STDP)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529530" y="1968252"/>
            <a:ext cx="49411" cy="4941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43682" y="2116634"/>
            <a:ext cx="18818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parallel, low-power </a:t>
            </a:r>
            <a:pPr algn="l" indent="0" marL="0">
              <a:lnSpc>
                <a:spcPts val="1058"/>
              </a:lnSpc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(~20 watts)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529530" y="2152055"/>
            <a:ext cx="49411" cy="4941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29530" y="2337346"/>
            <a:ext cx="3620988" cy="1309241"/>
          </a:xfrm>
          <a:prstGeom prst="roundRect">
            <a:avLst>
              <a:gd name="adj" fmla="val 5432"/>
            </a:avLst>
          </a:prstGeom>
          <a:solidFill>
            <a:srgbClr val="F0F6F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95957" y="2394496"/>
            <a:ext cx="38881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b="1" spc="25" kern="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BIOLOGICAL NEURON</a:t>
            </a:r>
            <a:endParaRPr lang="en-US" sz="62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691" y="2555677"/>
            <a:ext cx="3534668" cy="104775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436120" y="1008162"/>
            <a:ext cx="271760" cy="298936"/>
          </a:xfrm>
          <a:prstGeom prst="ellipse">
            <a:avLst/>
          </a:prstGeom>
          <a:gradFill rotWithShape="1">
            <a:gsLst>
              <a:gs pos="0">
                <a:srgbClr val="1A2F45"/>
              </a:gs>
              <a:gs pos="100000">
                <a:srgbClr val="0D1B2A"/>
              </a:gs>
            </a:gsLst>
            <a:lin ang="2700000" scaled="1"/>
          </a:gradFill>
          <a:ln w="9525">
            <a:solidFill>
              <a:srgbClr val="4FC3F7">
                <a:alpha val="40000"/>
              </a:srgbClr>
            </a:solidFill>
          </a:ln>
          <a:effectLst>
            <a:outerShdw sx="100000" sy="100000" kx="0" ky="0" algn="bl" rotWithShape="0" blurRad="114300" dist="50800" dir="16200000">
              <a:srgbClr val="4fc3f7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spc="22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4568130" y="1337072"/>
            <a:ext cx="7590" cy="571500"/>
          </a:xfrm>
          <a:prstGeom prst="rect">
            <a:avLst/>
          </a:prstGeom>
          <a:gradFill rotWithShape="1">
            <a:gsLst>
              <a:gs pos="0">
                <a:srgbClr val="4FC3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36021" y="807541"/>
            <a:ext cx="3935909" cy="2967186"/>
          </a:xfrm>
          <a:prstGeom prst="roundRect">
            <a:avLst>
              <a:gd name="adj" fmla="val 3381"/>
            </a:avLst>
          </a:prstGeom>
          <a:solidFill>
            <a:srgbClr val="F7FAFD"/>
          </a:solidFill>
          <a:ln/>
          <a:effectLst>
            <a:outerShdw sx="100000" sy="100000" kx="0" ky="0" algn="bl" rotWithShape="0" blurRad="228600" dist="29210" dir="5400000">
              <a:srgbClr val="000000">
                <a:alpha val="2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836021" y="807541"/>
            <a:ext cx="3935909" cy="28575"/>
          </a:xfrm>
          <a:custGeom>
            <a:avLst/>
            <a:gdLst/>
            <a:ahLst/>
            <a:cxnLst/>
            <a:rect l="l" t="t" r="r" b="b"/>
            <a:pathLst>
              <a:path w="3935909" h="28575">
                <a:moveTo>
                  <a:pt x="100330" y="0"/>
                </a:moveTo>
                <a:lnTo>
                  <a:pt x="73797" y="3572"/>
                </a:lnTo>
                <a:lnTo>
                  <a:pt x="63149" y="7144"/>
                </a:lnTo>
                <a:lnTo>
                  <a:pt x="55215" y="10716"/>
                </a:lnTo>
                <a:lnTo>
                  <a:pt x="48727" y="14288"/>
                </a:lnTo>
                <a:lnTo>
                  <a:pt x="43192" y="17859"/>
                </a:lnTo>
                <a:lnTo>
                  <a:pt x="38353" y="21431"/>
                </a:lnTo>
                <a:lnTo>
                  <a:pt x="34058" y="25003"/>
                </a:lnTo>
                <a:lnTo>
                  <a:pt x="30206" y="28575"/>
                </a:lnTo>
                <a:lnTo>
                  <a:pt x="3905702" y="28575"/>
                </a:lnTo>
                <a:lnTo>
                  <a:pt x="3901851" y="25003"/>
                </a:lnTo>
                <a:lnTo>
                  <a:pt x="3897555" y="21431"/>
                </a:lnTo>
                <a:lnTo>
                  <a:pt x="3892716" y="17859"/>
                </a:lnTo>
                <a:lnTo>
                  <a:pt x="3887181" y="14288"/>
                </a:lnTo>
                <a:lnTo>
                  <a:pt x="3880694" y="10716"/>
                </a:lnTo>
                <a:lnTo>
                  <a:pt x="3872760" y="7144"/>
                </a:lnTo>
                <a:lnTo>
                  <a:pt x="3862111" y="3572"/>
                </a:lnTo>
                <a:lnTo>
                  <a:pt x="3835579" y="0"/>
                </a:lnTo>
                <a:close/>
              </a:path>
            </a:pathLst>
          </a:cu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93481" y="1030039"/>
            <a:ext cx="228600" cy="228600"/>
          </a:xfrm>
          <a:prstGeom prst="ellipse">
            <a:avLst/>
          </a:prstGeom>
          <a:gradFill rotWithShape="1">
            <a:gsLst>
              <a:gs pos="0">
                <a:srgbClr val="E0F7FA"/>
              </a:gs>
              <a:gs pos="100000">
                <a:srgbClr val="B2EBF2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1487" y="1078045"/>
            <a:ext cx="132588" cy="1325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93072" y="993577"/>
            <a:ext cx="119705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34" kern="0" dirty="0">
                <a:solidFill>
                  <a:srgbClr val="028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Artificial (ANN)</a:t>
            </a:r>
            <a:endParaRPr lang="en-US" sz="1130" dirty="0"/>
          </a:p>
        </p:txBody>
      </p:sp>
      <p:sp>
        <p:nvSpPr>
          <p:cNvPr id="33" name="Text 28"/>
          <p:cNvSpPr/>
          <p:nvPr/>
        </p:nvSpPr>
        <p:spPr>
          <a:xfrm>
            <a:off x="8192244" y="1077069"/>
            <a:ext cx="430670" cy="134392"/>
          </a:xfrm>
          <a:prstGeom prst="roundRect">
            <a:avLst>
              <a:gd name="adj" fmla="val 32130"/>
            </a:avLst>
          </a:prstGeom>
          <a:solidFill>
            <a:srgbClr val="E0F7FA"/>
          </a:solidFill>
          <a:ln/>
        </p:spPr>
        <p:txBody>
          <a:bodyPr wrap="none" lIns="57150" tIns="13970" rIns="57150" bIns="13970" rtlCol="0" anchor="t"/>
          <a:lstStyle/>
          <a:p>
            <a:pPr algn="l" indent="0" marL="0">
              <a:buNone/>
            </a:pPr>
            <a:r>
              <a:rPr lang="en-US" sz="560" b="1" spc="22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560" dirty="0"/>
          </a:p>
        </p:txBody>
      </p:sp>
      <p:sp>
        <p:nvSpPr>
          <p:cNvPr id="34" name="Text 29"/>
          <p:cNvSpPr/>
          <p:nvPr/>
        </p:nvSpPr>
        <p:spPr>
          <a:xfrm>
            <a:off x="5107632" y="1381423"/>
            <a:ext cx="181047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to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simulated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'nodes'</a:t>
            </a:r>
            <a:endParaRPr lang="en-US" sz="730" dirty="0"/>
          </a:p>
        </p:txBody>
      </p:sp>
      <p:sp>
        <p:nvSpPr>
          <p:cNvPr id="35" name="Text 30"/>
          <p:cNvSpPr/>
          <p:nvPr/>
        </p:nvSpPr>
        <p:spPr>
          <a:xfrm>
            <a:off x="4993481" y="1416844"/>
            <a:ext cx="49411" cy="49411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107632" y="1565225"/>
            <a:ext cx="261446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numbers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multiplied by weights</a:t>
            </a:r>
            <a:endParaRPr lang="en-US" sz="730" dirty="0"/>
          </a:p>
        </p:txBody>
      </p:sp>
      <p:sp>
        <p:nvSpPr>
          <p:cNvPr id="37" name="Text 32"/>
          <p:cNvSpPr/>
          <p:nvPr/>
        </p:nvSpPr>
        <p:spPr>
          <a:xfrm>
            <a:off x="4993481" y="1600646"/>
            <a:ext cx="49411" cy="49411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107632" y="1749028"/>
            <a:ext cx="322674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linearly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passed through an activation function</a:t>
            </a:r>
            <a:endParaRPr lang="en-US" sz="730" dirty="0"/>
          </a:p>
        </p:txBody>
      </p:sp>
      <p:sp>
        <p:nvSpPr>
          <p:cNvPr id="39" name="Text 34"/>
          <p:cNvSpPr/>
          <p:nvPr/>
        </p:nvSpPr>
        <p:spPr>
          <a:xfrm>
            <a:off x="4993481" y="1784449"/>
            <a:ext cx="49411" cy="49411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5107632" y="1932831"/>
            <a:ext cx="238314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via 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pPr algn="l" indent="0" marL="0">
              <a:lnSpc>
                <a:spcPts val="1058"/>
              </a:lnSpc>
              <a:spcAft>
                <a:spcPts val="390"/>
              </a:spcAft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gradient descent</a:t>
            </a:r>
            <a:endParaRPr lang="en-US" sz="730" dirty="0"/>
          </a:p>
        </p:txBody>
      </p:sp>
      <p:sp>
        <p:nvSpPr>
          <p:cNvPr id="41" name="Text 36"/>
          <p:cNvSpPr/>
          <p:nvPr/>
        </p:nvSpPr>
        <p:spPr>
          <a:xfrm>
            <a:off x="4993481" y="1968252"/>
            <a:ext cx="49411" cy="49411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5107632" y="2116634"/>
            <a:ext cx="2954328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enormous compute &amp; energy </a:t>
            </a:r>
            <a:pPr algn="l" indent="0" marL="0">
              <a:lnSpc>
                <a:spcPts val="1058"/>
              </a:lnSpc>
              <a:buNone/>
            </a:pPr>
            <a:r>
              <a:rPr lang="en-US" sz="73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(kilowatts to megawatts)</a:t>
            </a:r>
            <a:endParaRPr lang="en-US" sz="730" dirty="0"/>
          </a:p>
        </p:txBody>
      </p:sp>
      <p:sp>
        <p:nvSpPr>
          <p:cNvPr id="43" name="Text 38"/>
          <p:cNvSpPr/>
          <p:nvPr/>
        </p:nvSpPr>
        <p:spPr>
          <a:xfrm>
            <a:off x="4993481" y="2152055"/>
            <a:ext cx="49411" cy="49411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4993481" y="2337346"/>
            <a:ext cx="3620988" cy="1309241"/>
          </a:xfrm>
          <a:prstGeom prst="roundRect">
            <a:avLst>
              <a:gd name="adj" fmla="val 5432"/>
            </a:avLst>
          </a:prstGeom>
          <a:solidFill>
            <a:srgbClr val="F0F6F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4859908" y="2394496"/>
            <a:ext cx="38881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b="1" spc="25" kern="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ARTIFICIAL NODE</a:t>
            </a:r>
            <a:endParaRPr lang="en-US" sz="62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6641" y="2555677"/>
            <a:ext cx="3534668" cy="104775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372070" y="4888260"/>
            <a:ext cx="251087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4FC3F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3098155" y="4812060"/>
            <a:ext cx="169653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i="1" spc="17" kern="0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ANNs borrow the metaphor —</a:t>
            </a:r>
            <a:endParaRPr lang="en-US" sz="84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45838" y="4825761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260902" y="4888260"/>
            <a:ext cx="2511028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4FC3F7">
                  <a:alpha val="3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4FC3F7"/>
              </a:gs>
              <a:gs pos="50000">
                <a:srgbClr val="0288D1"/>
              </a:gs>
              <a:gs pos="100000">
                <a:srgbClr val="0D1B2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6060" y="1014710"/>
            <a:ext cx="3256955" cy="18999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1E3F0"/>
            </a:solidFill>
          </a:ln>
          <a:effectLst>
            <a:outerShdw sx="100000" sy="100000" kx="0" ky="0" algn="bl" rotWithShape="0" blurRad="86360" dist="1397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3045" y="11677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4FC3F7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003" y="1255663"/>
            <a:ext cx="139005" cy="139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4286" y="1167705"/>
            <a:ext cx="277391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2F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Active Dendrites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4286" y="1333946"/>
            <a:ext cx="2006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4FC3F7"/>
              </a:gs>
              <a:gs pos="100000">
                <a:srgbClr val="0288D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54286" y="1390948"/>
            <a:ext cx="2572179" cy="4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Voltage-gated ion channels in dendrites generate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spikes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enabling nonlinear integration of inputs far from the soma.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553045" y="1896368"/>
            <a:ext cx="463153" cy="161092"/>
          </a:xfrm>
          <a:prstGeom prst="roundRect">
            <a:avLst>
              <a:gd name="adj" fmla="val 18133"/>
            </a:avLst>
          </a:prstGeom>
          <a:solidFill>
            <a:srgbClr val="4FC3F7">
              <a:alpha val="10000"/>
            </a:srgbClr>
          </a:solidFill>
          <a:ln w="9525">
            <a:solidFill>
              <a:srgbClr val="4FC3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</a:t>
            </a:r>
            <a:endParaRPr lang="en-US" sz="590" dirty="0"/>
          </a:p>
        </p:txBody>
      </p:sp>
      <p:sp>
        <p:nvSpPr>
          <p:cNvPr id="11" name="Text 8"/>
          <p:cNvSpPr/>
          <p:nvPr/>
        </p:nvSpPr>
        <p:spPr>
          <a:xfrm>
            <a:off x="1045369" y="1896368"/>
            <a:ext cx="575667" cy="161092"/>
          </a:xfrm>
          <a:prstGeom prst="roundRect">
            <a:avLst>
              <a:gd name="adj" fmla="val 18133"/>
            </a:avLst>
          </a:prstGeom>
          <a:solidFill>
            <a:srgbClr val="4FC3F7">
              <a:alpha val="10000"/>
            </a:srgbClr>
          </a:solidFill>
          <a:ln w="9525">
            <a:solidFill>
              <a:srgbClr val="4FC3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Spikes</a:t>
            </a:r>
            <a:endParaRPr lang="en-US" sz="590" dirty="0"/>
          </a:p>
        </p:txBody>
      </p:sp>
      <p:sp>
        <p:nvSpPr>
          <p:cNvPr id="12" name="Text 9"/>
          <p:cNvSpPr/>
          <p:nvPr/>
        </p:nvSpPr>
        <p:spPr>
          <a:xfrm>
            <a:off x="3743325" y="1014710"/>
            <a:ext cx="3256955" cy="18999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1E3F0"/>
            </a:solidFill>
          </a:ln>
          <a:effectLst>
            <a:outerShdw sx="100000" sy="100000" kx="0" ky="0" algn="bl" rotWithShape="0" blurRad="86360" dist="1397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10310" y="11677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8268" y="1255663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11551" y="1167705"/>
            <a:ext cx="277391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2F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Coincidence Detection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11551" y="1333946"/>
            <a:ext cx="2006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311551" y="1390948"/>
            <a:ext cx="2572179" cy="4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detect when multiple inputs arrive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performing logical AND-like operations at the subcellular level.</a:t>
            </a:r>
            <a:endParaRPr lang="en-US" sz="760" dirty="0"/>
          </a:p>
        </p:txBody>
      </p:sp>
      <p:sp>
        <p:nvSpPr>
          <p:cNvPr id="18" name="Text 14"/>
          <p:cNvSpPr/>
          <p:nvPr/>
        </p:nvSpPr>
        <p:spPr>
          <a:xfrm>
            <a:off x="3910310" y="1896368"/>
            <a:ext cx="449312" cy="161092"/>
          </a:xfrm>
          <a:prstGeom prst="roundRect">
            <a:avLst>
              <a:gd name="adj" fmla="val 18133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590" dirty="0"/>
          </a:p>
        </p:txBody>
      </p:sp>
      <p:sp>
        <p:nvSpPr>
          <p:cNvPr id="19" name="Text 15"/>
          <p:cNvSpPr/>
          <p:nvPr/>
        </p:nvSpPr>
        <p:spPr>
          <a:xfrm>
            <a:off x="4388793" y="1896368"/>
            <a:ext cx="679400" cy="161092"/>
          </a:xfrm>
          <a:prstGeom prst="roundRect">
            <a:avLst>
              <a:gd name="adj" fmla="val 18133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AND-gate Logic</a:t>
            </a:r>
            <a:endParaRPr lang="en-US" sz="590" dirty="0"/>
          </a:p>
        </p:txBody>
      </p:sp>
      <p:sp>
        <p:nvSpPr>
          <p:cNvPr id="20" name="Text 16"/>
          <p:cNvSpPr/>
          <p:nvPr/>
        </p:nvSpPr>
        <p:spPr>
          <a:xfrm>
            <a:off x="386060" y="3014960"/>
            <a:ext cx="3256955" cy="18999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1E3F0"/>
            </a:solidFill>
          </a:ln>
          <a:effectLst>
            <a:outerShdw sx="100000" sy="100000" kx="0" ky="0" algn="bl" rotWithShape="0" blurRad="86360" dist="1397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53045" y="316795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003" y="3255913"/>
            <a:ext cx="139005" cy="1390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4286" y="3167955"/>
            <a:ext cx="277391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2F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Compartmentalization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54286" y="3334196"/>
            <a:ext cx="2006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954286" y="3391198"/>
            <a:ext cx="2572179" cy="4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neuron can compute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in dozens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dendritic branches — acting like a mini neural network within one cell.</a:t>
            </a:r>
            <a:endParaRPr lang="en-US" sz="760" dirty="0"/>
          </a:p>
        </p:txBody>
      </p:sp>
      <p:sp>
        <p:nvSpPr>
          <p:cNvPr id="26" name="Text 21"/>
          <p:cNvSpPr/>
          <p:nvPr/>
        </p:nvSpPr>
        <p:spPr>
          <a:xfrm>
            <a:off x="553045" y="3896618"/>
            <a:ext cx="384274" cy="161092"/>
          </a:xfrm>
          <a:prstGeom prst="roundRect">
            <a:avLst>
              <a:gd name="adj" fmla="val 1813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590" dirty="0"/>
          </a:p>
        </p:txBody>
      </p:sp>
      <p:sp>
        <p:nvSpPr>
          <p:cNvPr id="27" name="Text 22"/>
          <p:cNvSpPr/>
          <p:nvPr/>
        </p:nvSpPr>
        <p:spPr>
          <a:xfrm>
            <a:off x="966490" y="3896618"/>
            <a:ext cx="546348" cy="161092"/>
          </a:xfrm>
          <a:prstGeom prst="roundRect">
            <a:avLst>
              <a:gd name="adj" fmla="val 1813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Sub-cellular</a:t>
            </a:r>
            <a:endParaRPr lang="en-US" sz="590" dirty="0"/>
          </a:p>
        </p:txBody>
      </p:sp>
      <p:sp>
        <p:nvSpPr>
          <p:cNvPr id="28" name="Text 23"/>
          <p:cNvSpPr/>
          <p:nvPr/>
        </p:nvSpPr>
        <p:spPr>
          <a:xfrm>
            <a:off x="3743325" y="3014960"/>
            <a:ext cx="3256955" cy="18999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1E3F0"/>
            </a:solidFill>
          </a:ln>
          <a:effectLst>
            <a:outerShdw sx="100000" sy="100000" kx="0" ky="0" algn="bl" rotWithShape="0" blurRad="86360" dist="1397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910310" y="316795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8268" y="3255913"/>
            <a:ext cx="139005" cy="13900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11551" y="3167955"/>
            <a:ext cx="277391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2F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 vs. Reality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311551" y="3334196"/>
            <a:ext cx="2006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311551" y="3391198"/>
            <a:ext cx="2572179" cy="4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ANNs model neurons as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integrators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Dendritic models (Poirazi 2003) show a neuron can be equivalent to a 2-layer network.</a:t>
            </a:r>
            <a:endParaRPr lang="en-US" sz="760" dirty="0"/>
          </a:p>
        </p:txBody>
      </p:sp>
      <p:sp>
        <p:nvSpPr>
          <p:cNvPr id="34" name="Text 28"/>
          <p:cNvSpPr/>
          <p:nvPr/>
        </p:nvSpPr>
        <p:spPr>
          <a:xfrm>
            <a:off x="3910310" y="3896618"/>
            <a:ext cx="550664" cy="161092"/>
          </a:xfrm>
          <a:prstGeom prst="roundRect">
            <a:avLst>
              <a:gd name="adj" fmla="val 18133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Poirazi 2003</a:t>
            </a:r>
            <a:endParaRPr lang="en-US" sz="590" dirty="0"/>
          </a:p>
        </p:txBody>
      </p:sp>
      <p:sp>
        <p:nvSpPr>
          <p:cNvPr id="35" name="Text 29"/>
          <p:cNvSpPr/>
          <p:nvPr/>
        </p:nvSpPr>
        <p:spPr>
          <a:xfrm>
            <a:off x="4490145" y="3896618"/>
            <a:ext cx="624185" cy="161092"/>
          </a:xfrm>
          <a:prstGeom prst="roundRect">
            <a:avLst>
              <a:gd name="adj" fmla="val 18133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Equiv.</a:t>
            </a:r>
            <a:endParaRPr lang="en-US" sz="590" dirty="0"/>
          </a:p>
        </p:txBody>
      </p:sp>
      <p:sp>
        <p:nvSpPr>
          <p:cNvPr id="36" name="Text 30"/>
          <p:cNvSpPr/>
          <p:nvPr/>
        </p:nvSpPr>
        <p:spPr>
          <a:xfrm>
            <a:off x="7128570" y="928241"/>
            <a:ext cx="1700510" cy="4043809"/>
          </a:xfrm>
          <a:prstGeom prst="roundRect">
            <a:avLst>
              <a:gd name="adj" fmla="val 5900"/>
            </a:avLst>
          </a:prstGeom>
          <a:solidFill>
            <a:srgbClr val="FFFFFF"/>
          </a:solidFill>
          <a:ln w="9525">
            <a:solidFill>
              <a:srgbClr val="D1E3F0"/>
            </a:solidFill>
          </a:ln>
          <a:effectLst>
            <a:outerShdw sx="100000" sy="100000" kx="0" ky="0" algn="bl" rotWithShape="0" blurRad="143510" dist="29210" dir="5400000">
              <a:srgbClr val="0d1b2a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7219370" y="1052066"/>
            <a:ext cx="151891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spc="54" kern="0" dirty="0">
                <a:solidFill>
                  <a:srgbClr val="4A7F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PYRAMIDAL NEURON ZONES</a:t>
            </a:r>
            <a:endParaRPr lang="en-US" sz="68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6403" y="1238696"/>
            <a:ext cx="1124843" cy="36375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3160" y="4942880"/>
            <a:ext cx="9100840" cy="200620"/>
          </a:xfrm>
          <a:prstGeom prst="rect">
            <a:avLst/>
          </a:prstGeom>
          <a:solidFill>
            <a:srgbClr val="E2ECF5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43160" y="4942880"/>
            <a:ext cx="9100840" cy="9525"/>
          </a:xfrm>
          <a:prstGeom prst="rect">
            <a:avLst/>
          </a:prstGeom>
          <a:solidFill>
            <a:srgbClr val="D1E3F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86060" y="4988868"/>
            <a:ext cx="351438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Poirazi et al. (2003) — a single pyramidal neuron with active dendrites ≈ a 2-layer ANN  ·</a:t>
            </a:r>
            <a:endParaRPr lang="en-US" sz="620" dirty="0"/>
          </a:p>
        </p:txBody>
      </p:sp>
      <p:sp>
        <p:nvSpPr>
          <p:cNvPr id="42" name="Text 35"/>
          <p:cNvSpPr/>
          <p:nvPr/>
        </p:nvSpPr>
        <p:spPr>
          <a:xfrm>
            <a:off x="3580954" y="4988868"/>
            <a:ext cx="32956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Dendritic spikes first documented in pyramidal cells via in vitro patch-clamp recordings</a:t>
            </a:r>
            <a:endParaRPr lang="en-US" sz="620" dirty="0"/>
          </a:p>
        </p:txBody>
      </p:sp>
      <p:sp>
        <p:nvSpPr>
          <p:cNvPr id="43" name="Text 36"/>
          <p:cNvSpPr/>
          <p:nvPr/>
        </p:nvSpPr>
        <p:spPr>
          <a:xfrm>
            <a:off x="395585" y="1024235"/>
            <a:ext cx="3237909" cy="21580"/>
          </a:xfrm>
          <a:custGeom>
            <a:avLst/>
            <a:gdLst/>
            <a:ahLst/>
            <a:cxnLst/>
            <a:rect l="l" t="t" r="r" b="b"/>
            <a:pathLst>
              <a:path w="3237909" h="21580">
                <a:moveTo>
                  <a:pt x="86360" y="0"/>
                </a:moveTo>
                <a:lnTo>
                  <a:pt x="3151549" y="0"/>
                </a:lnTo>
                <a:lnTo>
                  <a:pt x="3172965" y="2698"/>
                </a:lnTo>
                <a:lnTo>
                  <a:pt x="3181595" y="5395"/>
                </a:lnTo>
                <a:lnTo>
                  <a:pt x="3188049" y="8093"/>
                </a:lnTo>
                <a:lnTo>
                  <a:pt x="3193349" y="10790"/>
                </a:lnTo>
                <a:lnTo>
                  <a:pt x="3197892" y="13488"/>
                </a:lnTo>
                <a:lnTo>
                  <a:pt x="3201884" y="16185"/>
                </a:lnTo>
                <a:lnTo>
                  <a:pt x="3205446" y="18883"/>
                </a:lnTo>
                <a:lnTo>
                  <a:pt x="320866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4FC3F7"/>
              </a:gs>
              <a:gs pos="100000">
                <a:srgbClr val="0288D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3752850" y="1024235"/>
            <a:ext cx="3237909" cy="21580"/>
          </a:xfrm>
          <a:custGeom>
            <a:avLst/>
            <a:gdLst/>
            <a:ahLst/>
            <a:cxnLst/>
            <a:rect l="l" t="t" r="r" b="b"/>
            <a:pathLst>
              <a:path w="3237909" h="21580">
                <a:moveTo>
                  <a:pt x="86360" y="0"/>
                </a:moveTo>
                <a:lnTo>
                  <a:pt x="3151549" y="0"/>
                </a:lnTo>
                <a:lnTo>
                  <a:pt x="3172965" y="2698"/>
                </a:lnTo>
                <a:lnTo>
                  <a:pt x="3181595" y="5395"/>
                </a:lnTo>
                <a:lnTo>
                  <a:pt x="3188049" y="8093"/>
                </a:lnTo>
                <a:lnTo>
                  <a:pt x="3193349" y="10790"/>
                </a:lnTo>
                <a:lnTo>
                  <a:pt x="3197892" y="13488"/>
                </a:lnTo>
                <a:lnTo>
                  <a:pt x="3201884" y="16185"/>
                </a:lnTo>
                <a:lnTo>
                  <a:pt x="3205446" y="18883"/>
                </a:lnTo>
                <a:lnTo>
                  <a:pt x="320866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395585" y="3024485"/>
            <a:ext cx="3237909" cy="21580"/>
          </a:xfrm>
          <a:custGeom>
            <a:avLst/>
            <a:gdLst/>
            <a:ahLst/>
            <a:cxnLst/>
            <a:rect l="l" t="t" r="r" b="b"/>
            <a:pathLst>
              <a:path w="3237909" h="21580">
                <a:moveTo>
                  <a:pt x="86360" y="0"/>
                </a:moveTo>
                <a:lnTo>
                  <a:pt x="3151549" y="0"/>
                </a:lnTo>
                <a:lnTo>
                  <a:pt x="3172965" y="2698"/>
                </a:lnTo>
                <a:lnTo>
                  <a:pt x="3181595" y="5395"/>
                </a:lnTo>
                <a:lnTo>
                  <a:pt x="3188049" y="8093"/>
                </a:lnTo>
                <a:lnTo>
                  <a:pt x="3193349" y="10790"/>
                </a:lnTo>
                <a:lnTo>
                  <a:pt x="3197892" y="13488"/>
                </a:lnTo>
                <a:lnTo>
                  <a:pt x="3201884" y="16185"/>
                </a:lnTo>
                <a:lnTo>
                  <a:pt x="3205446" y="18883"/>
                </a:lnTo>
                <a:lnTo>
                  <a:pt x="320866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3752850" y="3024485"/>
            <a:ext cx="3237909" cy="21580"/>
          </a:xfrm>
          <a:custGeom>
            <a:avLst/>
            <a:gdLst/>
            <a:ahLst/>
            <a:cxnLst/>
            <a:rect l="l" t="t" r="r" b="b"/>
            <a:pathLst>
              <a:path w="3237909" h="21580">
                <a:moveTo>
                  <a:pt x="86360" y="0"/>
                </a:moveTo>
                <a:lnTo>
                  <a:pt x="3151549" y="0"/>
                </a:lnTo>
                <a:lnTo>
                  <a:pt x="3172965" y="2698"/>
                </a:lnTo>
                <a:lnTo>
                  <a:pt x="3181595" y="5395"/>
                </a:lnTo>
                <a:lnTo>
                  <a:pt x="3188049" y="8093"/>
                </a:lnTo>
                <a:lnTo>
                  <a:pt x="3193349" y="10790"/>
                </a:lnTo>
                <a:lnTo>
                  <a:pt x="3197892" y="13488"/>
                </a:lnTo>
                <a:lnTo>
                  <a:pt x="3201884" y="16185"/>
                </a:lnTo>
                <a:lnTo>
                  <a:pt x="3205446" y="18883"/>
                </a:lnTo>
                <a:lnTo>
                  <a:pt x="320866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3160" y="0"/>
            <a:ext cx="9100840" cy="8001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60000">
                <a:srgbClr val="1A2F45"/>
              </a:gs>
              <a:gs pos="100000">
                <a:srgbClr val="0D3A5C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386060" y="167580"/>
            <a:ext cx="4734864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690" spc="-17" kern="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Dendritic Computation: </a:t>
            </a:r>
            <a:pPr algn="l" indent="0" marL="0">
              <a:lnSpc>
                <a:spcPts val="1859"/>
              </a:lnSpc>
              <a:buNone/>
            </a:pPr>
            <a:r>
              <a:rPr lang="en-US" sz="1690" b="1" spc="-17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Hidden Processor</a:t>
            </a:r>
            <a:endParaRPr lang="en-US" sz="1690" dirty="0"/>
          </a:p>
        </p:txBody>
      </p:sp>
      <p:sp>
        <p:nvSpPr>
          <p:cNvPr id="49" name="Text 42"/>
          <p:cNvSpPr/>
          <p:nvPr/>
        </p:nvSpPr>
        <p:spPr>
          <a:xfrm>
            <a:off x="386060" y="446782"/>
            <a:ext cx="3196679" cy="185738"/>
          </a:xfrm>
          <a:prstGeom prst="roundRect">
            <a:avLst>
              <a:gd name="adj" fmla="val 77265"/>
            </a:avLst>
          </a:prstGeom>
          <a:solidFill>
            <a:srgbClr val="4FC3F7">
              <a:alpha val="15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2652" y="473282"/>
            <a:ext cx="132588" cy="13258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74477" y="470148"/>
            <a:ext cx="322052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are not just input cables — they are powerful local computers</a:t>
            </a:r>
            <a:endParaRPr lang="en-US" sz="730" dirty="0"/>
          </a:p>
        </p:txBody>
      </p:sp>
      <p:sp>
        <p:nvSpPr>
          <p:cNvPr id="52" name="Text 44"/>
          <p:cNvSpPr/>
          <p:nvPr/>
        </p:nvSpPr>
        <p:spPr>
          <a:xfrm>
            <a:off x="43160" y="786110"/>
            <a:ext cx="9100840" cy="21580"/>
          </a:xfrm>
          <a:prstGeom prst="rect">
            <a:avLst/>
          </a:prstGeom>
          <a:gradFill rotWithShape="1">
            <a:gsLst>
              <a:gs pos="0">
                <a:srgbClr val="4FC3F7"/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6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80000" r="10000" b="2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5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7770"/>
            <a:ext cx="6380991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5"/>
              </a:lnSpc>
              <a:spcAft>
                <a:spcPts val="230"/>
              </a:spcAft>
              <a:buNone/>
            </a:pPr>
            <a:r>
              <a:rPr lang="en-US" sz="2030" spc="-20" kern="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Predictive Coding: </a:t>
            </a:r>
            <a:pPr algn="l" indent="0" marL="0">
              <a:lnSpc>
                <a:spcPts val="2335"/>
              </a:lnSpc>
              <a:spcAft>
                <a:spcPts val="230"/>
              </a:spcAft>
              <a:buNone/>
            </a:pPr>
            <a:r>
              <a:rPr lang="en-US" sz="2030" spc="-20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Brain as a Prediction Machine</a:t>
            </a:r>
            <a:endParaRPr lang="en-US" sz="2030" dirty="0"/>
          </a:p>
        </p:txBody>
      </p:sp>
      <p:sp>
        <p:nvSpPr>
          <p:cNvPr id="6" name="Text 3"/>
          <p:cNvSpPr/>
          <p:nvPr/>
        </p:nvSpPr>
        <p:spPr>
          <a:xfrm>
            <a:off x="457200" y="583257"/>
            <a:ext cx="65598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cortex doesn't just react to the world — it constantly predicts it.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825698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C3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79085" y="286941"/>
            <a:ext cx="1007715" cy="207913"/>
          </a:xfrm>
          <a:prstGeom prst="roundRect">
            <a:avLst>
              <a:gd name="adj" fmla="val 20768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3387" y="324603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87593" y="331887"/>
            <a:ext cx="77369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 &amp; Ballard, 1999</a:t>
            </a:r>
            <a:endParaRPr lang="en-US" sz="620" dirty="0"/>
          </a:p>
        </p:txBody>
      </p:sp>
      <p:sp>
        <p:nvSpPr>
          <p:cNvPr id="11" name="Text 7"/>
          <p:cNvSpPr/>
          <p:nvPr/>
        </p:nvSpPr>
        <p:spPr>
          <a:xfrm>
            <a:off x="928241" y="1254919"/>
            <a:ext cx="7287518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4FC3F7">
                  <a:alpha val="30000"/>
                </a:srgbClr>
              </a:gs>
              <a:gs pos="30000">
                <a:srgbClr val="4FC3F7">
                  <a:alpha val="50000"/>
                </a:srgbClr>
              </a:gs>
              <a:gs pos="70000">
                <a:srgbClr val="4FC3F7">
                  <a:alpha val="50000"/>
                </a:srgbClr>
              </a:gs>
              <a:gs pos="90000">
                <a:srgbClr val="4FC3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7200" y="2597795"/>
            <a:ext cx="8229600" cy="1290191"/>
          </a:xfrm>
          <a:prstGeom prst="roundRect">
            <a:avLst>
              <a:gd name="adj" fmla="val 6694"/>
            </a:avLst>
          </a:prstGeom>
          <a:solidFill>
            <a:srgbClr val="1A2F45"/>
          </a:solidFill>
          <a:ln w="9525">
            <a:solidFill>
              <a:srgbClr val="4FC3F7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95325" y="2707630"/>
            <a:ext cx="85286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spc="70" kern="0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BIDIRECTIONAL CORTICAL HIERARCHY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686043" y="2922389"/>
            <a:ext cx="946806" cy="363587"/>
          </a:xfrm>
          <a:prstGeom prst="roundRect">
            <a:avLst>
              <a:gd name="adj" fmla="val 13623"/>
            </a:avLst>
          </a:prstGeom>
          <a:solidFill>
            <a:srgbClr val="4FC3F7">
              <a:alpha val="1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  <p:txBody>
          <a:bodyPr wrap="none" lIns="71120" tIns="49530" rIns="71120" bIns="49530" rtlCol="0" anchor="t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Cortex</a:t>
            </a:r>
            <a:pPr algn="ctr" indent="0" marL="0">
              <a:buNone/>
            </a:pPr>
            <a:endParaRPr lang="en-US" sz="730" dirty="0"/>
          </a:p>
          <a:p>
            <a:pPr algn="ctr" indent="0" marL="0">
              <a:buNone/>
            </a:pPr>
            <a:r>
              <a:rPr lang="en-US" sz="56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IT · PFC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686043" y="3400276"/>
            <a:ext cx="946806" cy="363587"/>
          </a:xfrm>
          <a:prstGeom prst="roundRect">
            <a:avLst>
              <a:gd name="adj" fmla="val 13623"/>
            </a:avLst>
          </a:prstGeom>
          <a:solidFill>
            <a:srgbClr val="4FC3F7">
              <a:alpha val="7000"/>
            </a:srgbClr>
          </a:solidFill>
          <a:ln w="9525">
            <a:solidFill>
              <a:srgbClr val="4FC3F7">
                <a:alpha val="20000"/>
              </a:srgbClr>
            </a:solidFill>
          </a:ln>
        </p:spPr>
        <p:txBody>
          <a:bodyPr wrap="none" lIns="71120" tIns="49530" rIns="71120" bIns="49530" rtlCol="0" anchor="t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Lower Cortex</a:t>
            </a:r>
            <a:pPr algn="ctr" indent="0" marL="0">
              <a:buNone/>
            </a:pPr>
            <a:endParaRPr lang="en-US" sz="730" dirty="0"/>
          </a:p>
          <a:p>
            <a:pPr algn="ctr" indent="0" marL="0">
              <a:buNone/>
            </a:pPr>
            <a:r>
              <a:rPr lang="en-US" sz="56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V2 · LGN</a:t>
            </a:r>
            <a:endParaRPr lang="en-US" sz="730" dirty="0"/>
          </a:p>
        </p:txBody>
      </p:sp>
      <p:sp>
        <p:nvSpPr>
          <p:cNvPr id="16" name="Text 12"/>
          <p:cNvSpPr/>
          <p:nvPr/>
        </p:nvSpPr>
        <p:spPr>
          <a:xfrm>
            <a:off x="2480965" y="3046214"/>
            <a:ext cx="5610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2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3045" y="3178076"/>
            <a:ext cx="85725" cy="1504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77319" y="3046214"/>
            <a:ext cx="5610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2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9399" y="3178076"/>
            <a:ext cx="85725" cy="1504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73673" y="3046214"/>
            <a:ext cx="5610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2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85754" y="3178076"/>
            <a:ext cx="85725" cy="1504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70028" y="3046214"/>
            <a:ext cx="5610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2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2108" y="3178076"/>
            <a:ext cx="85725" cy="15046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66382" y="3046214"/>
            <a:ext cx="5610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2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78462" y="3178076"/>
            <a:ext cx="85725" cy="15046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19884" y="3357711"/>
            <a:ext cx="85725" cy="15046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014514" y="3522018"/>
            <a:ext cx="3262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2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02819" y="3357711"/>
            <a:ext cx="85725" cy="15046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397448" y="3522018"/>
            <a:ext cx="3262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2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85754" y="3357711"/>
            <a:ext cx="85725" cy="15046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780383" y="3522018"/>
            <a:ext cx="3262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2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68688" y="3357711"/>
            <a:ext cx="85725" cy="150465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163318" y="3522018"/>
            <a:ext cx="3262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2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51623" y="3357711"/>
            <a:ext cx="85725" cy="150465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4546253" y="3522018"/>
            <a:ext cx="3262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20" dirty="0"/>
          </a:p>
        </p:txBody>
      </p:sp>
      <p:sp>
        <p:nvSpPr>
          <p:cNvPr id="36" name="Text 22"/>
          <p:cNvSpPr/>
          <p:nvPr/>
        </p:nvSpPr>
        <p:spPr>
          <a:xfrm>
            <a:off x="6233815" y="2994422"/>
            <a:ext cx="86320" cy="8632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3"/>
          <p:cNvSpPr/>
          <p:nvPr/>
        </p:nvSpPr>
        <p:spPr>
          <a:xfrm>
            <a:off x="6377285" y="2908102"/>
            <a:ext cx="82703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Prediction</a:t>
            </a:r>
            <a:endParaRPr lang="en-US" sz="680" dirty="0"/>
          </a:p>
        </p:txBody>
      </p:sp>
      <p:sp>
        <p:nvSpPr>
          <p:cNvPr id="38" name="Text 24"/>
          <p:cNvSpPr/>
          <p:nvPr/>
        </p:nvSpPr>
        <p:spPr>
          <a:xfrm>
            <a:off x="7245251" y="2919561"/>
            <a:ext cx="1227493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prior beliefs propagate downward</a:t>
            </a:r>
            <a:endParaRPr lang="en-US" sz="620" dirty="0"/>
          </a:p>
        </p:txBody>
      </p:sp>
      <p:sp>
        <p:nvSpPr>
          <p:cNvPr id="39" name="Text 25"/>
          <p:cNvSpPr/>
          <p:nvPr/>
        </p:nvSpPr>
        <p:spPr>
          <a:xfrm>
            <a:off x="6233815" y="3245793"/>
            <a:ext cx="86320" cy="86320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6"/>
          <p:cNvSpPr/>
          <p:nvPr/>
        </p:nvSpPr>
        <p:spPr>
          <a:xfrm>
            <a:off x="6377285" y="3224213"/>
            <a:ext cx="721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680" dirty="0"/>
          </a:p>
        </p:txBody>
      </p:sp>
      <p:sp>
        <p:nvSpPr>
          <p:cNvPr id="41" name="Text 27"/>
          <p:cNvSpPr/>
          <p:nvPr/>
        </p:nvSpPr>
        <p:spPr>
          <a:xfrm>
            <a:off x="7090470" y="3229868"/>
            <a:ext cx="13164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mismatch signals travel upward</a:t>
            </a:r>
            <a:endParaRPr lang="en-US" sz="620" dirty="0"/>
          </a:p>
        </p:txBody>
      </p:sp>
      <p:sp>
        <p:nvSpPr>
          <p:cNvPr id="42" name="Text 28"/>
          <p:cNvSpPr/>
          <p:nvPr/>
        </p:nvSpPr>
        <p:spPr>
          <a:xfrm>
            <a:off x="6233815" y="3440013"/>
            <a:ext cx="2214860" cy="348282"/>
          </a:xfrm>
          <a:prstGeom prst="rect">
            <a:avLst/>
          </a:prstGeom>
          <a:solidFill>
            <a:srgbClr val="4FC3F7">
              <a:alpha val="7000"/>
            </a:srgbClr>
          </a:solidFill>
          <a:ln/>
        </p:spPr>
        <p:txBody>
          <a:bodyPr wrap="none" lIns="71120" tIns="49530" rIns="71120" bIns="4953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errors are transmitted — efficient encoding that minimizes redundant signaling.</a:t>
            </a:r>
            <a:endParaRPr lang="en-US" sz="650" dirty="0"/>
          </a:p>
        </p:txBody>
      </p:sp>
      <p:sp>
        <p:nvSpPr>
          <p:cNvPr id="43" name="Text 29"/>
          <p:cNvSpPr/>
          <p:nvPr/>
        </p:nvSpPr>
        <p:spPr>
          <a:xfrm>
            <a:off x="6233815" y="3440013"/>
            <a:ext cx="19050" cy="338138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0"/>
          <p:cNvSpPr/>
          <p:nvPr/>
        </p:nvSpPr>
        <p:spPr>
          <a:xfrm>
            <a:off x="6891784" y="4911179"/>
            <a:ext cx="197451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90CAF9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 &amp; Ballard (1999) · Friston (2010) · Clark (2013)</a:t>
            </a:r>
            <a:endParaRPr lang="en-US" sz="620" dirty="0"/>
          </a:p>
        </p:txBody>
      </p:sp>
      <p:sp>
        <p:nvSpPr>
          <p:cNvPr id="45" name="Text 31"/>
          <p:cNvSpPr/>
          <p:nvPr/>
        </p:nvSpPr>
        <p:spPr>
          <a:xfrm>
            <a:off x="466725" y="2607320"/>
            <a:ext cx="8210550" cy="1271140"/>
          </a:xfrm>
          <a:prstGeom prst="roundRect">
            <a:avLst>
              <a:gd name="adj" fmla="val 6794"/>
            </a:avLst>
          </a:prstGeom>
          <a:gradFill rotWithShape="1">
            <a:gsLst>
              <a:gs pos="0">
                <a:srgbClr val="4FC3F7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2"/>
          <p:cNvSpPr/>
          <p:nvPr/>
        </p:nvSpPr>
        <p:spPr>
          <a:xfrm>
            <a:off x="1124843" y="1004739"/>
            <a:ext cx="400050" cy="400050"/>
          </a:xfrm>
          <a:prstGeom prst="ellipse">
            <a:avLst/>
          </a:prstGeom>
          <a:solidFill>
            <a:srgbClr val="1A2F45"/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114300" dist="50800" dir="16200000">
              <a:srgbClr val="4fc3f7">
                <a:alpha val="3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3"/>
          <p:cNvSpPr/>
          <p:nvPr/>
        </p:nvSpPr>
        <p:spPr>
          <a:xfrm>
            <a:off x="1454646" y="947589"/>
            <a:ext cx="128141" cy="140955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55365" y="1135261"/>
            <a:ext cx="139005" cy="139005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41176" y="1491109"/>
            <a:ext cx="156753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CORTEX PREDICTS</a:t>
            </a:r>
            <a:endParaRPr lang="en-US" sz="790" dirty="0"/>
          </a:p>
        </p:txBody>
      </p:sp>
      <p:sp>
        <p:nvSpPr>
          <p:cNvPr id="50" name="Text 35"/>
          <p:cNvSpPr/>
          <p:nvPr/>
        </p:nvSpPr>
        <p:spPr>
          <a:xfrm>
            <a:off x="400050" y="1698724"/>
            <a:ext cx="1849785" cy="794058"/>
          </a:xfrm>
          <a:prstGeom prst="roundRect">
            <a:avLst>
              <a:gd name="adj" fmla="val 8957"/>
            </a:avLst>
          </a:prstGeom>
          <a:solidFill>
            <a:srgbClr val="1A2F45"/>
          </a:solidFill>
          <a:ln w="9525">
            <a:solidFill>
              <a:srgbClr val="4FC3F7">
                <a:alpha val="18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connections send a prediction of what sensory input should look like, based on prior beliefs and context.</a:t>
            </a:r>
            <a:endParaRPr lang="en-US" sz="760" dirty="0"/>
          </a:p>
        </p:txBody>
      </p:sp>
      <p:sp>
        <p:nvSpPr>
          <p:cNvPr id="51" name="Text 36"/>
          <p:cNvSpPr/>
          <p:nvPr/>
        </p:nvSpPr>
        <p:spPr>
          <a:xfrm>
            <a:off x="3289548" y="1004739"/>
            <a:ext cx="400050" cy="400050"/>
          </a:xfrm>
          <a:prstGeom prst="ellipse">
            <a:avLst/>
          </a:prstGeom>
          <a:solidFill>
            <a:srgbClr val="1A2F45"/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114300" dist="50800" dir="16200000">
              <a:srgbClr val="4fc3f7">
                <a:alpha val="3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7"/>
          <p:cNvSpPr/>
          <p:nvPr/>
        </p:nvSpPr>
        <p:spPr>
          <a:xfrm>
            <a:off x="3619351" y="947589"/>
            <a:ext cx="128141" cy="140955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420070" y="1135261"/>
            <a:ext cx="139005" cy="139005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2755166" y="1491109"/>
            <a:ext cx="146881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SENSORY INPUT ARRIVES</a:t>
            </a:r>
            <a:endParaRPr lang="en-US" sz="790" dirty="0"/>
          </a:p>
        </p:txBody>
      </p:sp>
      <p:sp>
        <p:nvSpPr>
          <p:cNvPr id="55" name="Text 39"/>
          <p:cNvSpPr/>
          <p:nvPr/>
        </p:nvSpPr>
        <p:spPr>
          <a:xfrm>
            <a:off x="2564755" y="1698724"/>
            <a:ext cx="1849785" cy="644904"/>
          </a:xfrm>
          <a:prstGeom prst="roundRect">
            <a:avLst>
              <a:gd name="adj" fmla="val 11028"/>
            </a:avLst>
          </a:prstGeom>
          <a:solidFill>
            <a:srgbClr val="1A2F45"/>
          </a:solidFill>
          <a:ln w="9525">
            <a:solidFill>
              <a:srgbClr val="4FC3F7">
                <a:alpha val="18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signals carry actual sensory data from the environment upward through cortical layers.</a:t>
            </a:r>
            <a:endParaRPr lang="en-US" sz="760" dirty="0"/>
          </a:p>
        </p:txBody>
      </p:sp>
      <p:sp>
        <p:nvSpPr>
          <p:cNvPr id="56" name="Text 40"/>
          <p:cNvSpPr/>
          <p:nvPr/>
        </p:nvSpPr>
        <p:spPr>
          <a:xfrm>
            <a:off x="5454253" y="1004739"/>
            <a:ext cx="400050" cy="400050"/>
          </a:xfrm>
          <a:prstGeom prst="ellipse">
            <a:avLst/>
          </a:prstGeom>
          <a:solidFill>
            <a:srgbClr val="1A2F45"/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114300" dist="50800" dir="16200000">
              <a:srgbClr val="4fc3f7">
                <a:alpha val="3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1"/>
          <p:cNvSpPr/>
          <p:nvPr/>
        </p:nvSpPr>
        <p:spPr>
          <a:xfrm>
            <a:off x="5784056" y="947589"/>
            <a:ext cx="128141" cy="140955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584775" y="1135261"/>
            <a:ext cx="139005" cy="139005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5033650" y="1491109"/>
            <a:ext cx="124125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IS COMPUTED</a:t>
            </a:r>
            <a:endParaRPr lang="en-US" sz="790" dirty="0"/>
          </a:p>
        </p:txBody>
      </p:sp>
      <p:sp>
        <p:nvSpPr>
          <p:cNvPr id="60" name="Text 43"/>
          <p:cNvSpPr/>
          <p:nvPr/>
        </p:nvSpPr>
        <p:spPr>
          <a:xfrm>
            <a:off x="4729460" y="1698724"/>
            <a:ext cx="1849785" cy="794058"/>
          </a:xfrm>
          <a:prstGeom prst="roundRect">
            <a:avLst>
              <a:gd name="adj" fmla="val 8957"/>
            </a:avLst>
          </a:prstGeom>
          <a:solidFill>
            <a:srgbClr val="1A2F45"/>
          </a:solidFill>
          <a:ln w="9525">
            <a:solidFill>
              <a:srgbClr val="4FC3F7">
                <a:alpha val="18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neurons compare prediction vs. reality. Only the prediction error — the mismatch — is propagated further.</a:t>
            </a:r>
            <a:endParaRPr lang="en-US" sz="760" dirty="0"/>
          </a:p>
        </p:txBody>
      </p:sp>
      <p:sp>
        <p:nvSpPr>
          <p:cNvPr id="61" name="Text 44"/>
          <p:cNvSpPr/>
          <p:nvPr/>
        </p:nvSpPr>
        <p:spPr>
          <a:xfrm>
            <a:off x="7618958" y="1004739"/>
            <a:ext cx="400050" cy="400050"/>
          </a:xfrm>
          <a:prstGeom prst="ellipse">
            <a:avLst/>
          </a:prstGeom>
          <a:solidFill>
            <a:srgbClr val="1A2F45"/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114300" dist="50800" dir="16200000">
              <a:srgbClr val="4fc3f7">
                <a:alpha val="3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45"/>
          <p:cNvSpPr/>
          <p:nvPr/>
        </p:nvSpPr>
        <p:spPr>
          <a:xfrm>
            <a:off x="7948761" y="947589"/>
            <a:ext cx="128141" cy="140955"/>
          </a:xfrm>
          <a:prstGeom prst="ellipse">
            <a:avLst/>
          </a:prstGeom>
          <a:solidFill>
            <a:srgbClr val="4FC3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749480" y="1135261"/>
            <a:ext cx="139005" cy="139005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7253853" y="1491109"/>
            <a:ext cx="11302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spc="20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IS UPDATED</a:t>
            </a:r>
            <a:endParaRPr lang="en-US" sz="790" dirty="0"/>
          </a:p>
        </p:txBody>
      </p:sp>
      <p:sp>
        <p:nvSpPr>
          <p:cNvPr id="65" name="Text 47"/>
          <p:cNvSpPr/>
          <p:nvPr/>
        </p:nvSpPr>
        <p:spPr>
          <a:xfrm>
            <a:off x="6894165" y="1698724"/>
            <a:ext cx="1849785" cy="794058"/>
          </a:xfrm>
          <a:prstGeom prst="roundRect">
            <a:avLst>
              <a:gd name="adj" fmla="val 8957"/>
            </a:avLst>
          </a:prstGeom>
          <a:solidFill>
            <a:srgbClr val="1A2F45"/>
          </a:solidFill>
          <a:ln w="9525">
            <a:solidFill>
              <a:srgbClr val="4FC3F7">
                <a:alpha val="18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updates its internal model to minimize future errors, implementing a form of Bayesian inference.</a:t>
            </a:r>
            <a:endParaRPr lang="en-US" sz="760" dirty="0"/>
          </a:p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33">
            <a:alphaModFix amt="60000"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340927" y="1092556"/>
            <a:ext cx="132588" cy="132588"/>
          </a:xfrm>
          <a:prstGeom prst="rect">
            <a:avLst/>
          </a:prstGeom>
        </p:spPr>
      </p:pic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35">
            <a:alphaModFix amt="60000"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505632" y="1092556"/>
            <a:ext cx="132588" cy="132588"/>
          </a:xfrm>
          <a:prstGeom prst="rect">
            <a:avLst/>
          </a:prstGeom>
        </p:spPr>
      </p:pic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37">
            <a:alphaModFix amt="60000"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670337" y="109255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7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80000" r="10000" b="2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5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2070" y="285750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C3F7"/>
              </a:gs>
              <a:gs pos="100000">
                <a:srgbClr val="4FC3F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378321"/>
            <a:ext cx="464743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Cortical Error Neurons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2070" y="641152"/>
            <a:ext cx="477774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110"/>
              </a:spcAft>
              <a:buNone/>
            </a:pPr>
            <a:r>
              <a:rPr lang="en-US" sz="96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Messengers of Mismatch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372070" y="859334"/>
            <a:ext cx="477774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70"/>
              </a:spcBef>
              <a:spcAft>
                <a:spcPts val="900"/>
              </a:spcAft>
              <a:buNone/>
            </a:pPr>
            <a:r>
              <a:rPr lang="en-US" sz="84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cell types are dedicated to signaling prediction errors.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72070" y="1133624"/>
            <a:ext cx="4343400" cy="598289"/>
          </a:xfrm>
          <a:prstGeom prst="roundRect">
            <a:avLst>
              <a:gd name="adj" fmla="val 11887"/>
            </a:avLst>
          </a:prstGeom>
          <a:solidFill>
            <a:srgbClr val="1A2F45">
              <a:alpha val="5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2070" y="1133624"/>
            <a:ext cx="19050" cy="598289"/>
          </a:xfrm>
          <a:custGeom>
            <a:avLst/>
            <a:gdLst/>
            <a:ahLst/>
            <a:cxnLst/>
            <a:rect l="l" t="t" r="r" b="b"/>
            <a:pathLst>
              <a:path w="19050" h="59828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75613"/>
                </a:lnTo>
                <a:lnTo>
                  <a:pt x="16669" y="572920"/>
                </a:lnTo>
                <a:lnTo>
                  <a:pt x="14288" y="569926"/>
                </a:lnTo>
                <a:lnTo>
                  <a:pt x="11906" y="566562"/>
                </a:lnTo>
                <a:lnTo>
                  <a:pt x="9525" y="562723"/>
                </a:lnTo>
                <a:lnTo>
                  <a:pt x="7144" y="558235"/>
                </a:lnTo>
                <a:lnTo>
                  <a:pt x="4763" y="552757"/>
                </a:lnTo>
                <a:lnTo>
                  <a:pt x="2381" y="545418"/>
                </a:lnTo>
                <a:lnTo>
                  <a:pt x="0" y="527169"/>
                </a:lnTo>
                <a:close/>
              </a:path>
            </a:pathLst>
          </a:custGeom>
          <a:solidFill>
            <a:srgbClr val="4FC3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430" y="1205954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4FC3F7">
              <a:alpha val="18000"/>
            </a:srgbClr>
          </a:solidFill>
          <a:ln w="9525">
            <a:solidFill>
              <a:srgbClr val="4FC3F7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357" y="1260881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4182" y="1198364"/>
            <a:ext cx="3842328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2/3 pyramidal neurons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visual cortex are thought to function as prediction error neurons, active when sensory input diverges from top-down expectation.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72070" y="1781324"/>
            <a:ext cx="4343400" cy="442020"/>
          </a:xfrm>
          <a:prstGeom prst="roundRect">
            <a:avLst>
              <a:gd name="adj" fmla="val 16090"/>
            </a:avLst>
          </a:prstGeom>
          <a:solidFill>
            <a:srgbClr val="1A2F45">
              <a:alpha val="5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72070" y="1781324"/>
            <a:ext cx="19050" cy="442020"/>
          </a:xfrm>
          <a:custGeom>
            <a:avLst/>
            <a:gdLst/>
            <a:ahLst/>
            <a:cxnLst/>
            <a:rect l="l" t="t" r="r" b="b"/>
            <a:pathLst>
              <a:path w="19050" h="44202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19343"/>
                </a:lnTo>
                <a:lnTo>
                  <a:pt x="16669" y="416650"/>
                </a:lnTo>
                <a:lnTo>
                  <a:pt x="14288" y="413656"/>
                </a:lnTo>
                <a:lnTo>
                  <a:pt x="11906" y="410292"/>
                </a:lnTo>
                <a:lnTo>
                  <a:pt x="9525" y="406454"/>
                </a:lnTo>
                <a:lnTo>
                  <a:pt x="7144" y="401965"/>
                </a:lnTo>
                <a:lnTo>
                  <a:pt x="4763" y="396487"/>
                </a:lnTo>
                <a:lnTo>
                  <a:pt x="2381" y="389149"/>
                </a:lnTo>
                <a:lnTo>
                  <a:pt x="0" y="370899"/>
                </a:lnTo>
                <a:close/>
              </a:path>
            </a:pathLst>
          </a:custGeom>
          <a:solidFill>
            <a:srgbClr val="4FC3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430" y="1853654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4FC3F7">
              <a:alpha val="18000"/>
            </a:srgbClr>
          </a:solidFill>
          <a:ln w="9525">
            <a:solidFill>
              <a:srgbClr val="4FC3F7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357" y="1908581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4182" y="1846064"/>
            <a:ext cx="3842328" cy="32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signals </a:t>
            </a:r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upward (feedforward)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update higher-level representations — analogous to the loss gradient in backpropagation.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372070" y="2272754"/>
            <a:ext cx="4343400" cy="442020"/>
          </a:xfrm>
          <a:prstGeom prst="roundRect">
            <a:avLst>
              <a:gd name="adj" fmla="val 16090"/>
            </a:avLst>
          </a:prstGeom>
          <a:solidFill>
            <a:srgbClr val="1A2F45">
              <a:alpha val="5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72070" y="2272754"/>
            <a:ext cx="19050" cy="442020"/>
          </a:xfrm>
          <a:custGeom>
            <a:avLst/>
            <a:gdLst/>
            <a:ahLst/>
            <a:cxnLst/>
            <a:rect l="l" t="t" r="r" b="b"/>
            <a:pathLst>
              <a:path w="19050" h="44202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19343"/>
                </a:lnTo>
                <a:lnTo>
                  <a:pt x="16669" y="416650"/>
                </a:lnTo>
                <a:lnTo>
                  <a:pt x="14288" y="413656"/>
                </a:lnTo>
                <a:lnTo>
                  <a:pt x="11906" y="410292"/>
                </a:lnTo>
                <a:lnTo>
                  <a:pt x="9525" y="406454"/>
                </a:lnTo>
                <a:lnTo>
                  <a:pt x="7144" y="401965"/>
                </a:lnTo>
                <a:lnTo>
                  <a:pt x="4763" y="396487"/>
                </a:lnTo>
                <a:lnTo>
                  <a:pt x="2381" y="389149"/>
                </a:lnTo>
                <a:lnTo>
                  <a:pt x="0" y="370899"/>
                </a:lnTo>
                <a:close/>
              </a:path>
            </a:pathLst>
          </a:custGeom>
          <a:solidFill>
            <a:srgbClr val="4FC3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91430" y="234508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4FC3F7">
              <a:alpha val="18000"/>
            </a:srgbClr>
          </a:solidFill>
          <a:ln w="9525">
            <a:solidFill>
              <a:srgbClr val="4FC3F7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357" y="2400011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4182" y="2337495"/>
            <a:ext cx="3842328" cy="32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ANN backprop, the brain </a:t>
            </a:r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send exact gradients backwards.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neurons provide a biologically plausible local signal instead.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372070" y="2764185"/>
            <a:ext cx="4343400" cy="598289"/>
          </a:xfrm>
          <a:prstGeom prst="roundRect">
            <a:avLst>
              <a:gd name="adj" fmla="val 11887"/>
            </a:avLst>
          </a:prstGeom>
          <a:solidFill>
            <a:srgbClr val="1A2F45">
              <a:alpha val="5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72070" y="2764185"/>
            <a:ext cx="19050" cy="598289"/>
          </a:xfrm>
          <a:custGeom>
            <a:avLst/>
            <a:gdLst/>
            <a:ahLst/>
            <a:cxnLst/>
            <a:rect l="l" t="t" r="r" b="b"/>
            <a:pathLst>
              <a:path w="19050" h="59828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75613"/>
                </a:lnTo>
                <a:lnTo>
                  <a:pt x="16669" y="572920"/>
                </a:lnTo>
                <a:lnTo>
                  <a:pt x="14288" y="569926"/>
                </a:lnTo>
                <a:lnTo>
                  <a:pt x="11906" y="566562"/>
                </a:lnTo>
                <a:lnTo>
                  <a:pt x="9525" y="562723"/>
                </a:lnTo>
                <a:lnTo>
                  <a:pt x="7144" y="558235"/>
                </a:lnTo>
                <a:lnTo>
                  <a:pt x="4763" y="552757"/>
                </a:lnTo>
                <a:lnTo>
                  <a:pt x="2381" y="545418"/>
                </a:lnTo>
                <a:lnTo>
                  <a:pt x="0" y="527169"/>
                </a:lnTo>
                <a:close/>
              </a:path>
            </a:pathLst>
          </a:custGeom>
          <a:solidFill>
            <a:srgbClr val="4FC3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91430" y="283651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4FC3F7">
              <a:alpha val="18000"/>
            </a:srgbClr>
          </a:solidFill>
          <a:ln w="9525">
            <a:solidFill>
              <a:srgbClr val="4FC3F7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357" y="2891442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4182" y="2828925"/>
            <a:ext cx="3842328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play a key role: </a:t>
            </a:r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apical dendrites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 top-down predictions; </a:t>
            </a:r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dendrites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 bottom-up data — the cell body computes the difference.</a:t>
            </a:r>
            <a:endParaRPr lang="en-US" sz="820" dirty="0"/>
          </a:p>
        </p:txBody>
      </p:sp>
      <p:sp>
        <p:nvSpPr>
          <p:cNvPr id="28" name="Text 22"/>
          <p:cNvSpPr/>
          <p:nvPr/>
        </p:nvSpPr>
        <p:spPr>
          <a:xfrm>
            <a:off x="372070" y="3411885"/>
            <a:ext cx="4343400" cy="442020"/>
          </a:xfrm>
          <a:prstGeom prst="roundRect">
            <a:avLst>
              <a:gd name="adj" fmla="val 16090"/>
            </a:avLst>
          </a:prstGeom>
          <a:solidFill>
            <a:srgbClr val="1A2F45">
              <a:alpha val="5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72070" y="3411885"/>
            <a:ext cx="19050" cy="442020"/>
          </a:xfrm>
          <a:custGeom>
            <a:avLst/>
            <a:gdLst/>
            <a:ahLst/>
            <a:cxnLst/>
            <a:rect l="l" t="t" r="r" b="b"/>
            <a:pathLst>
              <a:path w="19050" h="44202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19343"/>
                </a:lnTo>
                <a:lnTo>
                  <a:pt x="16669" y="416650"/>
                </a:lnTo>
                <a:lnTo>
                  <a:pt x="14288" y="413656"/>
                </a:lnTo>
                <a:lnTo>
                  <a:pt x="11906" y="410292"/>
                </a:lnTo>
                <a:lnTo>
                  <a:pt x="9525" y="406454"/>
                </a:lnTo>
                <a:lnTo>
                  <a:pt x="7144" y="401965"/>
                </a:lnTo>
                <a:lnTo>
                  <a:pt x="4763" y="396487"/>
                </a:lnTo>
                <a:lnTo>
                  <a:pt x="2381" y="389149"/>
                </a:lnTo>
                <a:lnTo>
                  <a:pt x="0" y="370899"/>
                </a:lnTo>
                <a:close/>
              </a:path>
            </a:pathLst>
          </a:custGeom>
          <a:solidFill>
            <a:srgbClr val="4FC3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91430" y="348421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4FC3F7">
              <a:alpha val="18000"/>
            </a:srgbClr>
          </a:solidFill>
          <a:ln w="9525">
            <a:solidFill>
              <a:srgbClr val="4FC3F7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6357" y="3539142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34182" y="3476625"/>
            <a:ext cx="3842328" cy="32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in the brain may be more like real-time predictive error correction than batch gradient descent in ANNs.</a:t>
            </a:r>
            <a:endParaRPr lang="en-US" sz="820" dirty="0"/>
          </a:p>
        </p:txBody>
      </p:sp>
      <p:sp>
        <p:nvSpPr>
          <p:cNvPr id="33" name="Text 26"/>
          <p:cNvSpPr/>
          <p:nvPr/>
        </p:nvSpPr>
        <p:spPr>
          <a:xfrm>
            <a:off x="372070" y="4724549"/>
            <a:ext cx="4777740" cy="161181"/>
          </a:xfrm>
          <a:prstGeom prst="rect">
            <a:avLst/>
          </a:prstGeom>
          <a:noFill/>
          <a:ln/>
        </p:spPr>
        <p:txBody>
          <a:bodyPr wrap="none" lIns="0" tIns="43180" rIns="0" bIns="0" rtlCol="0" anchor="t"/>
          <a:lstStyle/>
          <a:p>
            <a:pPr algn="l" indent="0" marL="0">
              <a:lnSpc>
                <a:spcPts val="930"/>
              </a:lnSpc>
              <a:spcBef>
                <a:spcPts val="6466"/>
              </a:spcBef>
              <a:buNone/>
            </a:pPr>
            <a:r>
              <a:rPr lang="en-US" sz="620" dirty="0">
                <a:solidFill>
                  <a:srgbClr val="90CAF9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 &amp; Ballard (1999) · Keller &amp; Mrsic-Flogel (2018)</a:t>
            </a:r>
            <a:endParaRPr lang="en-US" sz="620" dirty="0"/>
          </a:p>
        </p:txBody>
      </p:sp>
      <p:sp>
        <p:nvSpPr>
          <p:cNvPr id="34" name="Text 27"/>
          <p:cNvSpPr/>
          <p:nvPr/>
        </p:nvSpPr>
        <p:spPr>
          <a:xfrm>
            <a:off x="5058370" y="929283"/>
            <a:ext cx="3771900" cy="3284934"/>
          </a:xfrm>
          <a:prstGeom prst="roundRect">
            <a:avLst>
              <a:gd name="adj" fmla="val 3480"/>
            </a:avLst>
          </a:prstGeom>
          <a:solidFill>
            <a:srgbClr val="1A2F45">
              <a:alpha val="85000"/>
            </a:srgbClr>
          </a:solidFill>
          <a:ln w="9525">
            <a:solidFill>
              <a:srgbClr val="4FC3F7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5053459" y="1082278"/>
            <a:ext cx="378172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680"/>
              </a:spcAft>
              <a:buNone/>
            </a:pPr>
            <a:r>
              <a:rPr lang="en-US" sz="840" b="1" spc="34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PYRAMIDAL NEURON · FUNCTIONAL ZONES</a:t>
            </a:r>
            <a:endParaRPr lang="en-US" sz="84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445" y="1328589"/>
            <a:ext cx="2571750" cy="2732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7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10000" t="90000" r="90000" b="1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C3F7">
                  <a:alpha val="5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95000" t="10000" r="5000" b="9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14530" y="0"/>
            <a:ext cx="2429470" cy="24294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2070" y="285750"/>
            <a:ext cx="398067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4"/>
              </a:lnSpc>
              <a:buNone/>
            </a:pPr>
            <a:r>
              <a:rPr lang="en-US" sz="2140" spc="86" kern="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140" dirty="0"/>
          </a:p>
        </p:txBody>
      </p:sp>
      <p:sp>
        <p:nvSpPr>
          <p:cNvPr id="6" name="Text 3"/>
          <p:cNvSpPr/>
          <p:nvPr/>
        </p:nvSpPr>
        <p:spPr>
          <a:xfrm>
            <a:off x="372070" y="627757"/>
            <a:ext cx="372070" cy="21580"/>
          </a:xfrm>
          <a:prstGeom prst="roundRect">
            <a:avLst>
              <a:gd name="adj" fmla="val 64736"/>
            </a:avLst>
          </a:prstGeom>
          <a:solidFill>
            <a:srgbClr val="4FC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2070" y="706487"/>
            <a:ext cx="40922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67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BIOLOGICAL VS. ARTIFICIAL — SUMMARY</a:t>
            </a:r>
            <a:endParaRPr lang="en-US" sz="84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alphaModFix amt="5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8441" y="735443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4747" y="736997"/>
            <a:ext cx="16579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TEACHING GUIDE · SLIDE 6 OF 6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372070" y="1023938"/>
            <a:ext cx="6228159" cy="525661"/>
          </a:xfrm>
          <a:prstGeom prst="roundRect">
            <a:avLst>
              <a:gd name="adj" fmla="val 13530"/>
            </a:avLst>
          </a:prstGeom>
          <a:solidFill>
            <a:srgbClr val="1A2F45"/>
          </a:solidFill>
          <a:ln w="9525">
            <a:solidFill>
              <a:srgbClr val="4FC3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81905" y="1112193"/>
            <a:ext cx="214610" cy="236071"/>
          </a:xfrm>
          <a:prstGeom prst="ellipse">
            <a:avLst/>
          </a:prstGeom>
          <a:solidFill>
            <a:srgbClr val="4FC3F7">
              <a:alpha val="12000"/>
            </a:srgbClr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71120" dist="50800" dir="16200000">
              <a:srgbClr val="4fc3f7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8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093" y="1129391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0407" y="1112193"/>
            <a:ext cx="5459200" cy="366608"/>
          </a:xfrm>
          <a:prstGeom prst="rect">
            <a:avLst/>
          </a:prstGeom>
          <a:noFill/>
          <a:ln/>
        </p:spPr>
        <p:txBody>
          <a:bodyPr wrap="square" lIns="0" tIns="2921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neurons are far richer than ANN nodes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dendrites perform local nonlinear computations, not just passive summation.</a:t>
            </a:r>
            <a:endParaRPr lang="en-US" sz="870" dirty="0"/>
          </a:p>
        </p:txBody>
      </p:sp>
      <p:sp>
        <p:nvSpPr>
          <p:cNvPr id="14" name="Text 9"/>
          <p:cNvSpPr/>
          <p:nvPr/>
        </p:nvSpPr>
        <p:spPr>
          <a:xfrm>
            <a:off x="372070" y="1614339"/>
            <a:ext cx="6228159" cy="391120"/>
          </a:xfrm>
          <a:prstGeom prst="roundRect">
            <a:avLst>
              <a:gd name="adj" fmla="val 18184"/>
            </a:avLst>
          </a:prstGeom>
          <a:solidFill>
            <a:srgbClr val="1A2F45"/>
          </a:solidFill>
          <a:ln w="9525">
            <a:solidFill>
              <a:srgbClr val="4FC3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81905" y="1702594"/>
            <a:ext cx="214610" cy="236071"/>
          </a:xfrm>
          <a:prstGeom prst="ellipse">
            <a:avLst/>
          </a:prstGeom>
          <a:solidFill>
            <a:srgbClr val="4FC3F7">
              <a:alpha val="12000"/>
            </a:srgbClr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71120" dist="50800" dir="16200000">
              <a:srgbClr val="4fc3f7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84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093" y="1719792"/>
            <a:ext cx="132588" cy="132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10407" y="1702594"/>
            <a:ext cx="5144944" cy="189161"/>
          </a:xfrm>
          <a:prstGeom prst="rect">
            <a:avLst/>
          </a:prstGeom>
          <a:noFill/>
          <a:ln/>
        </p:spPr>
        <p:txBody>
          <a:bodyPr wrap="none" lIns="0" tIns="2921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pyramidal neuron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be computationally equivalent to a small 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network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18" name="Text 12"/>
          <p:cNvSpPr/>
          <p:nvPr/>
        </p:nvSpPr>
        <p:spPr>
          <a:xfrm>
            <a:off x="372070" y="2070199"/>
            <a:ext cx="6228159" cy="525661"/>
          </a:xfrm>
          <a:prstGeom prst="roundRect">
            <a:avLst>
              <a:gd name="adj" fmla="val 13530"/>
            </a:avLst>
          </a:prstGeom>
          <a:solidFill>
            <a:srgbClr val="1A2F45"/>
          </a:solidFill>
          <a:ln w="9525">
            <a:solidFill>
              <a:srgbClr val="4FC3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81905" y="2158454"/>
            <a:ext cx="214610" cy="236071"/>
          </a:xfrm>
          <a:prstGeom prst="ellipse">
            <a:avLst/>
          </a:prstGeom>
          <a:solidFill>
            <a:srgbClr val="4FC3F7">
              <a:alpha val="12000"/>
            </a:srgbClr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71120" dist="50800" dir="16200000">
              <a:srgbClr val="4fc3f7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4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alphaModFix amt="7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093" y="2175653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10407" y="2158454"/>
            <a:ext cx="5459200" cy="366608"/>
          </a:xfrm>
          <a:prstGeom prst="rect">
            <a:avLst/>
          </a:prstGeom>
          <a:noFill/>
          <a:ln/>
        </p:spPr>
        <p:txBody>
          <a:bodyPr wrap="square" lIns="0" tIns="2921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operates as a 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prediction machine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constantly comparing expectations to sensory reality.</a:t>
            </a:r>
            <a:endParaRPr lang="en-US" sz="870" dirty="0"/>
          </a:p>
        </p:txBody>
      </p:sp>
      <p:sp>
        <p:nvSpPr>
          <p:cNvPr id="22" name="Text 15"/>
          <p:cNvSpPr/>
          <p:nvPr/>
        </p:nvSpPr>
        <p:spPr>
          <a:xfrm>
            <a:off x="372070" y="2660600"/>
            <a:ext cx="6228159" cy="525661"/>
          </a:xfrm>
          <a:prstGeom prst="roundRect">
            <a:avLst>
              <a:gd name="adj" fmla="val 13530"/>
            </a:avLst>
          </a:prstGeom>
          <a:solidFill>
            <a:srgbClr val="1A2F45"/>
          </a:solidFill>
          <a:ln w="9525">
            <a:solidFill>
              <a:srgbClr val="4FC3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481905" y="2748855"/>
            <a:ext cx="214610" cy="236071"/>
          </a:xfrm>
          <a:prstGeom prst="ellipse">
            <a:avLst/>
          </a:prstGeom>
          <a:solidFill>
            <a:srgbClr val="4FC3F7">
              <a:alpha val="12000"/>
            </a:srgbClr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71120" dist="50800" dir="16200000">
              <a:srgbClr val="4fc3f7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84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alphaModFix amt="7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093" y="2766054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10407" y="2748855"/>
            <a:ext cx="5459200" cy="366608"/>
          </a:xfrm>
          <a:prstGeom prst="rect">
            <a:avLst/>
          </a:prstGeom>
          <a:noFill/>
          <a:ln/>
        </p:spPr>
        <p:txBody>
          <a:bodyPr wrap="square" lIns="0" tIns="2921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error neurons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propagate mismatch signals upward, enabling biologically plausible 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assignment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26" name="Text 18"/>
          <p:cNvSpPr/>
          <p:nvPr/>
        </p:nvSpPr>
        <p:spPr>
          <a:xfrm>
            <a:off x="372070" y="3251002"/>
            <a:ext cx="6228159" cy="525661"/>
          </a:xfrm>
          <a:prstGeom prst="roundRect">
            <a:avLst>
              <a:gd name="adj" fmla="val 13530"/>
            </a:avLst>
          </a:prstGeom>
          <a:gradFill rotWithShape="1">
            <a:gsLst>
              <a:gs pos="0">
                <a:srgbClr val="4FC3F7">
                  <a:alpha val="7000"/>
                </a:srgbClr>
              </a:gs>
              <a:gs pos="100000">
                <a:srgbClr val="1A2F45"/>
              </a:gs>
            </a:gsLst>
            <a:lin ang="0" scaled="1"/>
          </a:gradFill>
          <a:ln w="9525">
            <a:solidFill>
              <a:srgbClr val="4FC3F7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481905" y="3339257"/>
            <a:ext cx="214610" cy="236071"/>
          </a:xfrm>
          <a:prstGeom prst="ellipse">
            <a:avLst/>
          </a:prstGeom>
          <a:solidFill>
            <a:srgbClr val="4FC3F7">
              <a:alpha val="20000"/>
            </a:srgbClr>
          </a:solidFill>
          <a:ln w="9525">
            <a:solidFill>
              <a:srgbClr val="4FC3F7"/>
            </a:solidFill>
          </a:ln>
          <a:effectLst>
            <a:outerShdw sx="100000" sy="100000" kx="0" ky="0" algn="bl" rotWithShape="0" blurRad="100330" dist="50800" dir="16200000">
              <a:srgbClr val="4fc3f7">
                <a:alpha val="3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4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7093" y="3356455"/>
            <a:ext cx="132588" cy="132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10407" y="3339257"/>
            <a:ext cx="5459200" cy="366608"/>
          </a:xfrm>
          <a:prstGeom prst="rect">
            <a:avLst/>
          </a:prstGeom>
          <a:noFill/>
          <a:ln/>
        </p:spPr>
        <p:txBody>
          <a:bodyPr wrap="square" lIns="0" tIns="2921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may bridge this gap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neuromorphic chips, dendritic ANNs, and predictive coding networks are 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research frontiers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30" name="Text 21"/>
          <p:cNvSpPr/>
          <p:nvPr/>
        </p:nvSpPr>
        <p:spPr>
          <a:xfrm>
            <a:off x="6771680" y="1023938"/>
            <a:ext cx="2000250" cy="683993"/>
          </a:xfrm>
          <a:prstGeom prst="roundRect">
            <a:avLst>
              <a:gd name="adj" fmla="val 10398"/>
            </a:avLst>
          </a:prstGeom>
          <a:solidFill>
            <a:srgbClr val="162538"/>
          </a:solidFill>
          <a:ln w="9525">
            <a:solidFill>
              <a:srgbClr val="4FC3F7">
                <a:alpha val="13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algn="ctr" indent="0" marL="0">
              <a:buNone/>
            </a:pPr>
            <a:r>
              <a:rPr lang="en-US" sz="1580" spc="-16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~86B</a:t>
            </a:r>
            <a:endParaRPr lang="en-US" sz="1580" dirty="0"/>
          </a:p>
          <a:p>
            <a:pPr algn="ctr" indent="0" marL="0">
              <a:buNone/>
            </a:pPr>
            <a:r>
              <a:rPr lang="en-US" sz="650" spc="46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IN</a:t>
            </a:r>
            <a:br/>
            <a:pPr algn="ctr" indent="0" marL="0">
              <a:buNone/>
            </a:pPr>
            <a:r>
              <a:rPr lang="en-US" sz="650" spc="46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BRAIN</a:t>
            </a:r>
            <a:endParaRPr lang="en-US" sz="1580" dirty="0"/>
          </a:p>
        </p:txBody>
      </p:sp>
      <p:sp>
        <p:nvSpPr>
          <p:cNvPr id="31" name="Text 22"/>
          <p:cNvSpPr/>
          <p:nvPr/>
        </p:nvSpPr>
        <p:spPr>
          <a:xfrm>
            <a:off x="6771680" y="1802309"/>
            <a:ext cx="2000250" cy="683993"/>
          </a:xfrm>
          <a:prstGeom prst="roundRect">
            <a:avLst>
              <a:gd name="adj" fmla="val 10398"/>
            </a:avLst>
          </a:prstGeom>
          <a:solidFill>
            <a:srgbClr val="162538"/>
          </a:solidFill>
          <a:ln w="9525">
            <a:solidFill>
              <a:srgbClr val="4FC3F7">
                <a:alpha val="13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algn="ctr" indent="0" marL="0">
              <a:buNone/>
            </a:pPr>
            <a:r>
              <a:rPr lang="en-US" sz="1580" spc="-16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~20W</a:t>
            </a:r>
            <a:endParaRPr lang="en-US" sz="1580" dirty="0"/>
          </a:p>
          <a:p>
            <a:pPr algn="ctr" indent="0" marL="0">
              <a:buNone/>
            </a:pPr>
            <a:r>
              <a:rPr lang="en-US" sz="650" spc="46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POWER</a:t>
            </a:r>
            <a:br/>
            <a:pPr algn="ctr" indent="0" marL="0">
              <a:buNone/>
            </a:pPr>
            <a:r>
              <a:rPr lang="en-US" sz="650" spc="46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580" dirty="0"/>
          </a:p>
        </p:txBody>
      </p:sp>
      <p:sp>
        <p:nvSpPr>
          <p:cNvPr id="32" name="Text 23"/>
          <p:cNvSpPr/>
          <p:nvPr/>
        </p:nvSpPr>
        <p:spPr>
          <a:xfrm>
            <a:off x="6771680" y="2580680"/>
            <a:ext cx="2000250" cy="2190750"/>
          </a:xfrm>
          <a:prstGeom prst="roundRect">
            <a:avLst>
              <a:gd name="adj" fmla="val 3556"/>
            </a:avLst>
          </a:prstGeom>
          <a:solidFill>
            <a:srgbClr val="162538"/>
          </a:solidFill>
          <a:ln w="9525">
            <a:solidFill>
              <a:srgbClr val="4FC3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55507" y="3217366"/>
            <a:ext cx="1232446" cy="7771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89949" y="4037707"/>
            <a:ext cx="136371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65"/>
              </a:lnSpc>
              <a:buNone/>
            </a:pPr>
            <a:r>
              <a:rPr lang="en-US" sz="510" spc="51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CODING HIERARCHY</a:t>
            </a:r>
            <a:endParaRPr lang="en-US" sz="510" dirty="0"/>
          </a:p>
        </p:txBody>
      </p:sp>
      <p:sp>
        <p:nvSpPr>
          <p:cNvPr id="35" name="Text 25"/>
          <p:cNvSpPr/>
          <p:nvPr/>
        </p:nvSpPr>
        <p:spPr>
          <a:xfrm>
            <a:off x="0" y="4828580"/>
            <a:ext cx="9144000" cy="314920"/>
          </a:xfrm>
          <a:prstGeom prst="rect">
            <a:avLst/>
          </a:prstGeom>
          <a:gradFill rotWithShape="1">
            <a:gsLst>
              <a:gs pos="0">
                <a:srgbClr val="4FC3F7">
                  <a:alpha val="22000"/>
                </a:srgbClr>
              </a:gs>
              <a:gs pos="60000">
                <a:srgbClr val="4FC3F7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0" y="4828580"/>
            <a:ext cx="9144000" cy="9525"/>
          </a:xfrm>
          <a:prstGeom prst="rect">
            <a:avLst/>
          </a:prstGeom>
          <a:solidFill>
            <a:srgbClr val="4FC3F7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alphaModFix amt="85000"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1467" y="4924508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63761" y="4918323"/>
            <a:ext cx="5314712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i="1" spc="15" kern="0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gap between </a:t>
            </a:r>
            <a:pPr algn="l" indent="0" marL="0">
              <a:lnSpc>
                <a:spcPts val="1140"/>
              </a:lnSpc>
              <a:buNone/>
            </a:pPr>
            <a:r>
              <a:rPr lang="en-US" sz="760" b="1" i="1" spc="15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biological</a:t>
            </a:r>
            <a:pPr algn="l" indent="0" marL="0">
              <a:lnSpc>
                <a:spcPts val="1140"/>
              </a:lnSpc>
              <a:buNone/>
            </a:pPr>
            <a:r>
              <a:rPr lang="en-US" sz="760" i="1" spc="15" kern="0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and </a:t>
            </a:r>
            <a:pPr algn="l" indent="0" marL="0">
              <a:lnSpc>
                <a:spcPts val="1140"/>
              </a:lnSpc>
              <a:buNone/>
            </a:pPr>
            <a:r>
              <a:rPr lang="en-US" sz="760" b="1" i="1" spc="15" kern="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artificial intelligence</a:t>
            </a:r>
            <a:pPr algn="l" indent="0" marL="0">
              <a:lnSpc>
                <a:spcPts val="1140"/>
              </a:lnSpc>
              <a:buNone/>
            </a:pPr>
            <a:r>
              <a:rPr lang="en-US" sz="760" i="1" spc="15" kern="0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is a frontier — understanding it reshapes both fields.</a:t>
            </a:r>
            <a:endParaRPr lang="en-US" sz="760" dirty="0"/>
          </a:p>
        </p:txBody>
      </p:sp>
      <p:sp>
        <p:nvSpPr>
          <p:cNvPr id="39" name="Text 28"/>
          <p:cNvSpPr/>
          <p:nvPr/>
        </p:nvSpPr>
        <p:spPr>
          <a:xfrm>
            <a:off x="381595" y="1134815"/>
            <a:ext cx="21580" cy="303907"/>
          </a:xfrm>
          <a:custGeom>
            <a:avLst/>
            <a:gdLst/>
            <a:ahLst/>
            <a:cxnLst/>
            <a:rect l="l" t="t" r="r" b="b"/>
            <a:pathLst>
              <a:path w="21580" h="303907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289937"/>
                </a:lnTo>
                <a:lnTo>
                  <a:pt x="21580" y="289937"/>
                </a:lnTo>
                <a:lnTo>
                  <a:pt x="21312" y="292662"/>
                </a:lnTo>
                <a:lnTo>
                  <a:pt x="20517" y="295283"/>
                </a:lnTo>
                <a:lnTo>
                  <a:pt x="19226" y="297698"/>
                </a:lnTo>
                <a:lnTo>
                  <a:pt x="17488" y="299815"/>
                </a:lnTo>
                <a:lnTo>
                  <a:pt x="15371" y="301552"/>
                </a:lnTo>
                <a:lnTo>
                  <a:pt x="12956" y="302843"/>
                </a:lnTo>
                <a:lnTo>
                  <a:pt x="10335" y="303638"/>
                </a:lnTo>
                <a:lnTo>
                  <a:pt x="7610" y="303907"/>
                </a:lnTo>
                <a:lnTo>
                  <a:pt x="0" y="303907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381595" y="1698277"/>
            <a:ext cx="21580" cy="223242"/>
          </a:xfrm>
          <a:custGeom>
            <a:avLst/>
            <a:gdLst/>
            <a:ahLst/>
            <a:cxnLst/>
            <a:rect l="l" t="t" r="r" b="b"/>
            <a:pathLst>
              <a:path w="21580" h="223242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209272"/>
                </a:lnTo>
                <a:lnTo>
                  <a:pt x="21580" y="209272"/>
                </a:lnTo>
                <a:lnTo>
                  <a:pt x="21312" y="211998"/>
                </a:lnTo>
                <a:lnTo>
                  <a:pt x="20517" y="214618"/>
                </a:lnTo>
                <a:lnTo>
                  <a:pt x="19226" y="217033"/>
                </a:lnTo>
                <a:lnTo>
                  <a:pt x="17488" y="219150"/>
                </a:lnTo>
                <a:lnTo>
                  <a:pt x="15371" y="220888"/>
                </a:lnTo>
                <a:lnTo>
                  <a:pt x="12956" y="222179"/>
                </a:lnTo>
                <a:lnTo>
                  <a:pt x="10335" y="222974"/>
                </a:lnTo>
                <a:lnTo>
                  <a:pt x="7610" y="223242"/>
                </a:lnTo>
                <a:lnTo>
                  <a:pt x="0" y="223242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0"/>
          <p:cNvSpPr/>
          <p:nvPr/>
        </p:nvSpPr>
        <p:spPr>
          <a:xfrm>
            <a:off x="381595" y="2181077"/>
            <a:ext cx="21580" cy="303907"/>
          </a:xfrm>
          <a:custGeom>
            <a:avLst/>
            <a:gdLst/>
            <a:ahLst/>
            <a:cxnLst/>
            <a:rect l="l" t="t" r="r" b="b"/>
            <a:pathLst>
              <a:path w="21580" h="303907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289937"/>
                </a:lnTo>
                <a:lnTo>
                  <a:pt x="21580" y="289937"/>
                </a:lnTo>
                <a:lnTo>
                  <a:pt x="21312" y="292662"/>
                </a:lnTo>
                <a:lnTo>
                  <a:pt x="20517" y="295283"/>
                </a:lnTo>
                <a:lnTo>
                  <a:pt x="19226" y="297698"/>
                </a:lnTo>
                <a:lnTo>
                  <a:pt x="17488" y="299815"/>
                </a:lnTo>
                <a:lnTo>
                  <a:pt x="15371" y="301552"/>
                </a:lnTo>
                <a:lnTo>
                  <a:pt x="12956" y="302843"/>
                </a:lnTo>
                <a:lnTo>
                  <a:pt x="10335" y="303638"/>
                </a:lnTo>
                <a:lnTo>
                  <a:pt x="7610" y="303907"/>
                </a:lnTo>
                <a:lnTo>
                  <a:pt x="0" y="303907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381595" y="2771478"/>
            <a:ext cx="21580" cy="303907"/>
          </a:xfrm>
          <a:custGeom>
            <a:avLst/>
            <a:gdLst/>
            <a:ahLst/>
            <a:cxnLst/>
            <a:rect l="l" t="t" r="r" b="b"/>
            <a:pathLst>
              <a:path w="21580" h="303907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289937"/>
                </a:lnTo>
                <a:lnTo>
                  <a:pt x="21580" y="289937"/>
                </a:lnTo>
                <a:lnTo>
                  <a:pt x="21312" y="292662"/>
                </a:lnTo>
                <a:lnTo>
                  <a:pt x="20517" y="295283"/>
                </a:lnTo>
                <a:lnTo>
                  <a:pt x="19226" y="297698"/>
                </a:lnTo>
                <a:lnTo>
                  <a:pt x="17488" y="299815"/>
                </a:lnTo>
                <a:lnTo>
                  <a:pt x="15371" y="301552"/>
                </a:lnTo>
                <a:lnTo>
                  <a:pt x="12956" y="302843"/>
                </a:lnTo>
                <a:lnTo>
                  <a:pt x="10335" y="303638"/>
                </a:lnTo>
                <a:lnTo>
                  <a:pt x="7610" y="303907"/>
                </a:lnTo>
                <a:lnTo>
                  <a:pt x="0" y="303907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381595" y="3361879"/>
            <a:ext cx="21580" cy="303907"/>
          </a:xfrm>
          <a:custGeom>
            <a:avLst/>
            <a:gdLst/>
            <a:ahLst/>
            <a:cxnLst/>
            <a:rect l="l" t="t" r="r" b="b"/>
            <a:pathLst>
              <a:path w="21580" h="303907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289937"/>
                </a:lnTo>
                <a:lnTo>
                  <a:pt x="21580" y="289937"/>
                </a:lnTo>
                <a:lnTo>
                  <a:pt x="21312" y="292662"/>
                </a:lnTo>
                <a:lnTo>
                  <a:pt x="20517" y="295283"/>
                </a:lnTo>
                <a:lnTo>
                  <a:pt x="19226" y="297698"/>
                </a:lnTo>
                <a:lnTo>
                  <a:pt x="17488" y="299815"/>
                </a:lnTo>
                <a:lnTo>
                  <a:pt x="15371" y="301552"/>
                </a:lnTo>
                <a:lnTo>
                  <a:pt x="12956" y="302843"/>
                </a:lnTo>
                <a:lnTo>
                  <a:pt x="10335" y="303638"/>
                </a:lnTo>
                <a:lnTo>
                  <a:pt x="7610" y="303907"/>
                </a:lnTo>
                <a:lnTo>
                  <a:pt x="0" y="303907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2026-06-07T19:34:24Z</dcterms:created>
  <dcterms:modified xsi:type="dcterms:W3CDTF">2026-06-07T19:34:24Z</dcterms:modified>
</cp:coreProperties>
</file>